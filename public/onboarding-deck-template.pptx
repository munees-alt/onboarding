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16000" y="4525928"/>
            <a:ext cx="5110480" cy="12026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rgbClr val="092A3B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092A3B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D2E32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092A3B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092A3B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D2E32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092A3B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D2E32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092A3B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D2E32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D2E32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28700" y="700602"/>
            <a:ext cx="179705" cy="1083310"/>
          </a:xfrm>
          <a:custGeom>
            <a:avLst/>
            <a:gdLst/>
            <a:ahLst/>
            <a:cxnLst/>
            <a:rect l="l" t="t" r="r" b="b"/>
            <a:pathLst>
              <a:path w="179705" h="1083310">
                <a:moveTo>
                  <a:pt x="179550" y="1082912"/>
                </a:moveTo>
                <a:lnTo>
                  <a:pt x="0" y="1082912"/>
                </a:lnTo>
                <a:lnTo>
                  <a:pt x="0" y="0"/>
                </a:lnTo>
                <a:lnTo>
                  <a:pt x="179550" y="0"/>
                </a:lnTo>
                <a:lnTo>
                  <a:pt x="179550" y="1082912"/>
                </a:lnTo>
                <a:close/>
              </a:path>
            </a:pathLst>
          </a:custGeom>
          <a:solidFill>
            <a:srgbClr val="F1660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10357" y="840012"/>
            <a:ext cx="2647949" cy="35242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80563" y="1281625"/>
            <a:ext cx="1428749" cy="2285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6000" y="2403278"/>
            <a:ext cx="7396480" cy="711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rgbClr val="092A3B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55352" y="3476650"/>
            <a:ext cx="11344910" cy="26720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092A3B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7166077" y="9690726"/>
            <a:ext cx="291465" cy="2686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0D2E32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hyperlink" Target="https://www.finanshels.com/" TargetMode="Externa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lnkd.in/gE7eDcdw" TargetMode="External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hyperlink" Target="https://www.trustpilot.com/review/finanshels.com" TargetMode="External"/><Relationship Id="rId6" Type="http://schemas.openxmlformats.org/officeDocument/2006/relationships/image" Target="../media/image6.jp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3.png"/><Relationship Id="rId11" Type="http://schemas.openxmlformats.org/officeDocument/2006/relationships/hyperlink" Target="https://www.finanshels.com/" TargetMode="Externa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hyperlink" Target="https://www.finanshels.com/" TargetMode="Externa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hyperlink" Target="https://www.finanshels.com/" TargetMode="Externa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hyperlink" Target="https://www.finanshels.com/" TargetMode="Externa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2.png"/><Relationship Id="rId4" Type="http://schemas.openxmlformats.org/officeDocument/2006/relationships/hyperlink" Target="https://www.finanshels.com/" TargetMode="Externa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Relationship Id="rId10" Type="http://schemas.openxmlformats.org/officeDocument/2006/relationships/hyperlink" Target="https://www.finanshels.com/" TargetMode="Externa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hyperlink" Target="https://www.finanshels.com/" TargetMode="Externa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hyperlink" Target="https://www.finanshels.com/" TargetMode="Externa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0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Relationship Id="rId10" Type="http://schemas.openxmlformats.org/officeDocument/2006/relationships/image" Target="../media/image33.png"/><Relationship Id="rId11" Type="http://schemas.openxmlformats.org/officeDocument/2006/relationships/hyperlink" Target="https://www.finanshels.com/" TargetMode="Externa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hyperlink" Target="https://www.finanshels.com/" TargetMode="Externa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www.finanshels.com/" TargetMode="Externa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hyperlink" Target="https://www.finanshels.com/" TargetMode="Externa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Relationship Id="rId9" Type="http://schemas.openxmlformats.org/officeDocument/2006/relationships/image" Target="../media/image42.png"/><Relationship Id="rId10" Type="http://schemas.openxmlformats.org/officeDocument/2006/relationships/image" Target="../media/image43.png"/><Relationship Id="rId11" Type="http://schemas.openxmlformats.org/officeDocument/2006/relationships/image" Target="../media/image44.png"/><Relationship Id="rId12" Type="http://schemas.openxmlformats.org/officeDocument/2006/relationships/image" Target="../media/image45.png"/><Relationship Id="rId13" Type="http://schemas.openxmlformats.org/officeDocument/2006/relationships/image" Target="../media/image46.png"/><Relationship Id="rId14" Type="http://schemas.openxmlformats.org/officeDocument/2006/relationships/image" Target="../media/image47.png"/><Relationship Id="rId15" Type="http://schemas.openxmlformats.org/officeDocument/2006/relationships/image" Target="../media/image48.png"/><Relationship Id="rId16" Type="http://schemas.openxmlformats.org/officeDocument/2006/relationships/image" Target="../media/image49.jpg"/><Relationship Id="rId17" Type="http://schemas.openxmlformats.org/officeDocument/2006/relationships/image" Target="../media/image50.png"/><Relationship Id="rId18" Type="http://schemas.openxmlformats.org/officeDocument/2006/relationships/image" Target="../media/image51.jpg"/><Relationship Id="rId19" Type="http://schemas.openxmlformats.org/officeDocument/2006/relationships/image" Target="../media/image52.png"/><Relationship Id="rId20" Type="http://schemas.openxmlformats.org/officeDocument/2006/relationships/image" Target="../media/image53.png"/><Relationship Id="rId21" Type="http://schemas.openxmlformats.org/officeDocument/2006/relationships/image" Target="../media/image54.jpg"/><Relationship Id="rId22" Type="http://schemas.openxmlformats.org/officeDocument/2006/relationships/image" Target="../media/image55.png"/><Relationship Id="rId23" Type="http://schemas.openxmlformats.org/officeDocument/2006/relationships/image" Target="../media/image56.png"/><Relationship Id="rId24" Type="http://schemas.openxmlformats.org/officeDocument/2006/relationships/image" Target="../media/image57.jpg"/><Relationship Id="rId25" Type="http://schemas.openxmlformats.org/officeDocument/2006/relationships/image" Target="../media/image58.png"/><Relationship Id="rId26" Type="http://schemas.openxmlformats.org/officeDocument/2006/relationships/image" Target="../media/image59.png"/><Relationship Id="rId27" Type="http://schemas.openxmlformats.org/officeDocument/2006/relationships/image" Target="../media/image60.jpg"/><Relationship Id="rId28" Type="http://schemas.openxmlformats.org/officeDocument/2006/relationships/image" Target="../media/image61.jpg"/><Relationship Id="rId29" Type="http://schemas.openxmlformats.org/officeDocument/2006/relationships/image" Target="../media/image62.jpg"/><Relationship Id="rId30" Type="http://schemas.openxmlformats.org/officeDocument/2006/relationships/image" Target="../media/image63.jpg"/><Relationship Id="rId31" Type="http://schemas.openxmlformats.org/officeDocument/2006/relationships/image" Target="../media/image64.jpg"/><Relationship Id="rId32" Type="http://schemas.openxmlformats.org/officeDocument/2006/relationships/image" Target="../media/image65.jpg"/><Relationship Id="rId33" Type="http://schemas.openxmlformats.org/officeDocument/2006/relationships/image" Target="../media/image66.jpg"/><Relationship Id="rId34" Type="http://schemas.openxmlformats.org/officeDocument/2006/relationships/image" Target="../media/image67.jpg"/><Relationship Id="rId35" Type="http://schemas.openxmlformats.org/officeDocument/2006/relationships/image" Target="../media/image68.jpg"/><Relationship Id="rId36" Type="http://schemas.openxmlformats.org/officeDocument/2006/relationships/image" Target="../media/image69.png"/><Relationship Id="rId37" Type="http://schemas.openxmlformats.org/officeDocument/2006/relationships/image" Target="../media/image70.jpg"/><Relationship Id="rId38" Type="http://schemas.openxmlformats.org/officeDocument/2006/relationships/hyperlink" Target="https://www.finanshels.com/" TargetMode="Externa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1.png"/><Relationship Id="rId5" Type="http://schemas.openxmlformats.org/officeDocument/2006/relationships/hyperlink" Target="https://www.finanshels.com/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7657" y="1555000"/>
            <a:ext cx="1710055" cy="2209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 spc="-30" b="1">
                <a:latin typeface="Trebuchet MS"/>
                <a:cs typeface="Trebuchet MS"/>
              </a:rPr>
              <a:t>Trusted</a:t>
            </a:r>
            <a:r>
              <a:rPr dirty="0" sz="1250" spc="-229" b="1">
                <a:latin typeface="Trebuchet MS"/>
                <a:cs typeface="Trebuchet MS"/>
              </a:rPr>
              <a:t> </a:t>
            </a:r>
            <a:r>
              <a:rPr dirty="0" sz="1250" b="1">
                <a:latin typeface="Trebuchet MS"/>
                <a:cs typeface="Trebuchet MS"/>
              </a:rPr>
              <a:t>By</a:t>
            </a:r>
            <a:r>
              <a:rPr dirty="0" sz="1250" spc="-229" b="1">
                <a:latin typeface="Trebuchet MS"/>
                <a:cs typeface="Trebuchet MS"/>
              </a:rPr>
              <a:t> </a:t>
            </a:r>
            <a:r>
              <a:rPr dirty="0" sz="1250" spc="55" b="1">
                <a:latin typeface="Trebuchet MS"/>
                <a:cs typeface="Trebuchet MS"/>
              </a:rPr>
              <a:t>7000+SMEs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16000" y="3528675"/>
            <a:ext cx="11803380" cy="258572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5400" spc="35">
                <a:solidFill>
                  <a:srgbClr val="F1660F"/>
                </a:solidFill>
              </a:rPr>
              <a:t>Welcome,</a:t>
            </a:r>
            <a:endParaRPr sz="5400"/>
          </a:p>
          <a:p>
            <a:pPr marL="12700" marR="5080">
              <a:lnSpc>
                <a:spcPct val="105300"/>
              </a:lnSpc>
              <a:spcBef>
                <a:spcPts val="5"/>
              </a:spcBef>
            </a:pPr>
            <a:r>
              <a:rPr dirty="0" sz="5400" spc="125"/>
              <a:t>Novamed</a:t>
            </a:r>
            <a:r>
              <a:rPr dirty="0" sz="5400" spc="-680"/>
              <a:t> </a:t>
            </a:r>
            <a:r>
              <a:rPr dirty="0" sz="5400" spc="155"/>
              <a:t>Rescue</a:t>
            </a:r>
            <a:r>
              <a:rPr dirty="0" sz="5400" spc="-675"/>
              <a:t> </a:t>
            </a:r>
            <a:r>
              <a:rPr dirty="0" sz="5400" spc="110"/>
              <a:t>Medical</a:t>
            </a:r>
            <a:r>
              <a:rPr dirty="0" sz="5400" spc="-675"/>
              <a:t> </a:t>
            </a:r>
            <a:r>
              <a:rPr dirty="0" sz="5400" spc="-10"/>
              <a:t>Treatment </a:t>
            </a:r>
            <a:r>
              <a:rPr dirty="0" sz="5400" spc="-100"/>
              <a:t>Facilitation</a:t>
            </a:r>
            <a:r>
              <a:rPr dirty="0" sz="5400" spc="-595"/>
              <a:t> </a:t>
            </a:r>
            <a:r>
              <a:rPr dirty="0" sz="5400" spc="135"/>
              <a:t>Services</a:t>
            </a:r>
            <a:endParaRPr sz="5400"/>
          </a:p>
        </p:txBody>
      </p:sp>
      <p:sp>
        <p:nvSpPr>
          <p:cNvPr id="4" name="object 4"/>
          <p:cNvSpPr txBox="1"/>
          <p:nvPr/>
        </p:nvSpPr>
        <p:spPr>
          <a:xfrm>
            <a:off x="1016000" y="6530057"/>
            <a:ext cx="12554585" cy="13373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22100"/>
              </a:lnSpc>
              <a:spcBef>
                <a:spcPts val="95"/>
              </a:spcBef>
            </a:pPr>
            <a:r>
              <a:rPr dirty="0" sz="2350" spc="85">
                <a:solidFill>
                  <a:srgbClr val="092A3B"/>
                </a:solidFill>
                <a:latin typeface="Trebuchet MS"/>
                <a:cs typeface="Trebuchet MS"/>
              </a:rPr>
              <a:t>Welcome</a:t>
            </a:r>
            <a:r>
              <a:rPr dirty="0" sz="2350" spc="55">
                <a:solidFill>
                  <a:srgbClr val="092A3B"/>
                </a:solidFill>
                <a:latin typeface="Trebuchet MS"/>
                <a:cs typeface="Trebuchet MS"/>
              </a:rPr>
              <a:t>  </a:t>
            </a:r>
            <a:r>
              <a:rPr dirty="0" sz="2350">
                <a:solidFill>
                  <a:srgbClr val="092A3B"/>
                </a:solidFill>
                <a:latin typeface="Trebuchet MS"/>
                <a:cs typeface="Trebuchet MS"/>
              </a:rPr>
              <a:t>to</a:t>
            </a:r>
            <a:r>
              <a:rPr dirty="0" sz="2350" spc="55">
                <a:solidFill>
                  <a:srgbClr val="092A3B"/>
                </a:solidFill>
                <a:latin typeface="Trebuchet MS"/>
                <a:cs typeface="Trebuchet MS"/>
              </a:rPr>
              <a:t>  </a:t>
            </a:r>
            <a:r>
              <a:rPr dirty="0" sz="2350" spc="60">
                <a:solidFill>
                  <a:srgbClr val="092A3B"/>
                </a:solidFill>
                <a:latin typeface="Trebuchet MS"/>
                <a:cs typeface="Trebuchet MS"/>
              </a:rPr>
              <a:t>Finanshels,</a:t>
            </a:r>
            <a:r>
              <a:rPr dirty="0" sz="2350" spc="55">
                <a:solidFill>
                  <a:srgbClr val="092A3B"/>
                </a:solidFill>
                <a:latin typeface="Trebuchet MS"/>
                <a:cs typeface="Trebuchet MS"/>
              </a:rPr>
              <a:t>  </a:t>
            </a:r>
            <a:r>
              <a:rPr dirty="0" sz="2350" spc="135">
                <a:solidFill>
                  <a:srgbClr val="092A3B"/>
                </a:solidFill>
                <a:latin typeface="Trebuchet MS"/>
                <a:cs typeface="Trebuchet MS"/>
              </a:rPr>
              <a:t>Novamed</a:t>
            </a:r>
            <a:r>
              <a:rPr dirty="0" sz="2350" spc="55">
                <a:solidFill>
                  <a:srgbClr val="092A3B"/>
                </a:solidFill>
                <a:latin typeface="Trebuchet MS"/>
                <a:cs typeface="Trebuchet MS"/>
              </a:rPr>
              <a:t>  </a:t>
            </a:r>
            <a:r>
              <a:rPr dirty="0" sz="2350" spc="125">
                <a:solidFill>
                  <a:srgbClr val="092A3B"/>
                </a:solidFill>
                <a:latin typeface="Trebuchet MS"/>
                <a:cs typeface="Trebuchet MS"/>
              </a:rPr>
              <a:t>Rescue</a:t>
            </a:r>
            <a:r>
              <a:rPr dirty="0" sz="2350" spc="55">
                <a:solidFill>
                  <a:srgbClr val="092A3B"/>
                </a:solidFill>
                <a:latin typeface="Trebuchet MS"/>
                <a:cs typeface="Trebuchet MS"/>
              </a:rPr>
              <a:t>  </a:t>
            </a:r>
            <a:r>
              <a:rPr dirty="0" sz="2350" spc="95">
                <a:solidFill>
                  <a:srgbClr val="092A3B"/>
                </a:solidFill>
                <a:latin typeface="Trebuchet MS"/>
                <a:cs typeface="Trebuchet MS"/>
              </a:rPr>
              <a:t>Medical</a:t>
            </a:r>
            <a:r>
              <a:rPr dirty="0" sz="2350" spc="60">
                <a:solidFill>
                  <a:srgbClr val="092A3B"/>
                </a:solidFill>
                <a:latin typeface="Trebuchet MS"/>
                <a:cs typeface="Trebuchet MS"/>
              </a:rPr>
              <a:t>  </a:t>
            </a:r>
            <a:r>
              <a:rPr dirty="0" sz="2350">
                <a:solidFill>
                  <a:srgbClr val="092A3B"/>
                </a:solidFill>
                <a:latin typeface="Trebuchet MS"/>
                <a:cs typeface="Trebuchet MS"/>
              </a:rPr>
              <a:t>Treatment</a:t>
            </a:r>
            <a:r>
              <a:rPr dirty="0" sz="2350" spc="55">
                <a:solidFill>
                  <a:srgbClr val="092A3B"/>
                </a:solidFill>
                <a:latin typeface="Trebuchet MS"/>
                <a:cs typeface="Trebuchet MS"/>
              </a:rPr>
              <a:t>  </a:t>
            </a:r>
            <a:r>
              <a:rPr dirty="0" sz="2350">
                <a:solidFill>
                  <a:srgbClr val="092A3B"/>
                </a:solidFill>
                <a:latin typeface="Trebuchet MS"/>
                <a:cs typeface="Trebuchet MS"/>
              </a:rPr>
              <a:t>Facilitation</a:t>
            </a:r>
            <a:r>
              <a:rPr dirty="0" sz="2350" spc="55">
                <a:solidFill>
                  <a:srgbClr val="092A3B"/>
                </a:solidFill>
                <a:latin typeface="Trebuchet MS"/>
                <a:cs typeface="Trebuchet MS"/>
              </a:rPr>
              <a:t>  </a:t>
            </a:r>
            <a:r>
              <a:rPr dirty="0" sz="2350" spc="70">
                <a:solidFill>
                  <a:srgbClr val="092A3B"/>
                </a:solidFill>
                <a:latin typeface="Trebuchet MS"/>
                <a:cs typeface="Trebuchet MS"/>
              </a:rPr>
              <a:t>Services! </a:t>
            </a:r>
            <a:r>
              <a:rPr dirty="0" sz="2350" spc="100">
                <a:solidFill>
                  <a:srgbClr val="092A3B"/>
                </a:solidFill>
                <a:latin typeface="Trebuchet MS"/>
                <a:cs typeface="Trebuchet MS"/>
              </a:rPr>
              <a:t>We're</a:t>
            </a:r>
            <a:r>
              <a:rPr dirty="0" sz="2350" spc="39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2350" spc="45">
                <a:solidFill>
                  <a:srgbClr val="092A3B"/>
                </a:solidFill>
                <a:latin typeface="Trebuchet MS"/>
                <a:cs typeface="Trebuchet MS"/>
              </a:rPr>
              <a:t>excited</a:t>
            </a:r>
            <a:r>
              <a:rPr dirty="0" sz="2350" spc="38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2350">
                <a:solidFill>
                  <a:srgbClr val="092A3B"/>
                </a:solidFill>
                <a:latin typeface="Trebuchet MS"/>
                <a:cs typeface="Trebuchet MS"/>
              </a:rPr>
              <a:t>to</a:t>
            </a:r>
            <a:r>
              <a:rPr dirty="0" sz="2350" spc="39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2350">
                <a:solidFill>
                  <a:srgbClr val="092A3B"/>
                </a:solidFill>
                <a:latin typeface="Trebuchet MS"/>
                <a:cs typeface="Trebuchet MS"/>
              </a:rPr>
              <a:t>streamline</a:t>
            </a:r>
            <a:r>
              <a:rPr dirty="0" sz="2350" spc="39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2350" spc="85">
                <a:solidFill>
                  <a:srgbClr val="092A3B"/>
                </a:solidFill>
                <a:latin typeface="Trebuchet MS"/>
                <a:cs typeface="Trebuchet MS"/>
              </a:rPr>
              <a:t>your</a:t>
            </a:r>
            <a:r>
              <a:rPr dirty="0" sz="2350" spc="39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2350" spc="80">
                <a:solidFill>
                  <a:srgbClr val="092A3B"/>
                </a:solidFill>
                <a:latin typeface="Trebuchet MS"/>
                <a:cs typeface="Trebuchet MS"/>
              </a:rPr>
              <a:t>accounting</a:t>
            </a:r>
            <a:r>
              <a:rPr dirty="0" sz="2350" spc="38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2350" spc="100">
                <a:solidFill>
                  <a:srgbClr val="092A3B"/>
                </a:solidFill>
                <a:latin typeface="Trebuchet MS"/>
                <a:cs typeface="Trebuchet MS"/>
              </a:rPr>
              <a:t>and</a:t>
            </a:r>
            <a:r>
              <a:rPr dirty="0" sz="2350" spc="39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2350">
                <a:solidFill>
                  <a:srgbClr val="092A3B"/>
                </a:solidFill>
                <a:latin typeface="Trebuchet MS"/>
                <a:cs typeface="Trebuchet MS"/>
              </a:rPr>
              <a:t>tax</a:t>
            </a:r>
            <a:r>
              <a:rPr dirty="0" sz="2350" spc="39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2350" spc="114">
                <a:solidFill>
                  <a:srgbClr val="092A3B"/>
                </a:solidFill>
                <a:latin typeface="Trebuchet MS"/>
                <a:cs typeface="Trebuchet MS"/>
              </a:rPr>
              <a:t>processes,</a:t>
            </a:r>
            <a:r>
              <a:rPr dirty="0" sz="2350" spc="39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2350" spc="85">
                <a:solidFill>
                  <a:srgbClr val="092A3B"/>
                </a:solidFill>
                <a:latin typeface="Trebuchet MS"/>
                <a:cs typeface="Trebuchet MS"/>
              </a:rPr>
              <a:t>ensuring</a:t>
            </a:r>
            <a:r>
              <a:rPr dirty="0" sz="2350" spc="38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2350" spc="50">
                <a:solidFill>
                  <a:srgbClr val="092A3B"/>
                </a:solidFill>
                <a:latin typeface="Trebuchet MS"/>
                <a:cs typeface="Trebuchet MS"/>
              </a:rPr>
              <a:t>compliance </a:t>
            </a:r>
            <a:r>
              <a:rPr dirty="0" sz="2350" spc="100">
                <a:solidFill>
                  <a:srgbClr val="092A3B"/>
                </a:solidFill>
                <a:latin typeface="Trebuchet MS"/>
                <a:cs typeface="Trebuchet MS"/>
              </a:rPr>
              <a:t>and</a:t>
            </a:r>
            <a:r>
              <a:rPr dirty="0" sz="2350" spc="-3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2350" spc="-10">
                <a:solidFill>
                  <a:srgbClr val="092A3B"/>
                </a:solidFill>
                <a:latin typeface="Trebuchet MS"/>
                <a:cs typeface="Trebuchet MS"/>
              </a:rPr>
              <a:t>efficiency.</a:t>
            </a:r>
            <a:endParaRPr sz="23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16000" y="2418342"/>
            <a:ext cx="330581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20" b="1">
                <a:solidFill>
                  <a:srgbClr val="F1660F"/>
                </a:solidFill>
                <a:latin typeface="Trebuchet MS"/>
                <a:cs typeface="Trebuchet MS"/>
              </a:rPr>
              <a:t>WELCOME</a:t>
            </a:r>
            <a:r>
              <a:rPr dirty="0" sz="2000" spc="-245" b="1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2000" spc="90" b="1">
                <a:solidFill>
                  <a:srgbClr val="F1660F"/>
                </a:solidFill>
                <a:latin typeface="Trebuchet MS"/>
                <a:cs typeface="Trebuchet MS"/>
              </a:rPr>
              <a:t>TO</a:t>
            </a:r>
            <a:r>
              <a:rPr dirty="0" sz="2000" spc="-240" b="1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2000" spc="55" b="1">
                <a:solidFill>
                  <a:srgbClr val="F1660F"/>
                </a:solidFill>
                <a:latin typeface="Trebuchet MS"/>
                <a:cs typeface="Trebuchet MS"/>
              </a:rPr>
              <a:t>FINANSHELS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84659" y="9722024"/>
            <a:ext cx="225674" cy="225673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10951829" y="0"/>
            <a:ext cx="7336790" cy="3729990"/>
            <a:chOff x="10951829" y="0"/>
            <a:chExt cx="7336790" cy="3729990"/>
          </a:xfrm>
        </p:grpSpPr>
        <p:sp>
          <p:nvSpPr>
            <p:cNvPr id="8" name="object 8"/>
            <p:cNvSpPr/>
            <p:nvPr/>
          </p:nvSpPr>
          <p:spPr>
            <a:xfrm>
              <a:off x="10951829" y="1651878"/>
              <a:ext cx="4156075" cy="2078355"/>
            </a:xfrm>
            <a:custGeom>
              <a:avLst/>
              <a:gdLst/>
              <a:ahLst/>
              <a:cxnLst/>
              <a:rect l="l" t="t" r="r" b="b"/>
              <a:pathLst>
                <a:path w="4156075" h="2078354">
                  <a:moveTo>
                    <a:pt x="2078805" y="2077773"/>
                  </a:moveTo>
                  <a:lnTo>
                    <a:pt x="0" y="2077773"/>
                  </a:lnTo>
                  <a:lnTo>
                    <a:pt x="2078805" y="0"/>
                  </a:lnTo>
                  <a:lnTo>
                    <a:pt x="4156063" y="0"/>
                  </a:lnTo>
                  <a:lnTo>
                    <a:pt x="2078805" y="2077773"/>
                  </a:lnTo>
                  <a:close/>
                </a:path>
              </a:pathLst>
            </a:custGeom>
            <a:solidFill>
              <a:srgbClr val="092A3B">
                <a:alpha val="7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0952117" y="0"/>
              <a:ext cx="3730625" cy="1652270"/>
            </a:xfrm>
            <a:custGeom>
              <a:avLst/>
              <a:gdLst/>
              <a:ahLst/>
              <a:cxnLst/>
              <a:rect l="l" t="t" r="r" b="b"/>
              <a:pathLst>
                <a:path w="3730625" h="1652270">
                  <a:moveTo>
                    <a:pt x="2078584" y="1651907"/>
                  </a:moveTo>
                  <a:lnTo>
                    <a:pt x="0" y="1651907"/>
                  </a:lnTo>
                  <a:lnTo>
                    <a:pt x="1651850" y="0"/>
                  </a:lnTo>
                  <a:lnTo>
                    <a:pt x="3730282" y="0"/>
                  </a:lnTo>
                  <a:lnTo>
                    <a:pt x="2078584" y="1651907"/>
                  </a:lnTo>
                  <a:close/>
                </a:path>
              </a:pathLst>
            </a:custGeom>
            <a:solidFill>
              <a:srgbClr val="ECF0F2">
                <a:alpha val="7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5107783" y="1651877"/>
              <a:ext cx="3180715" cy="2078355"/>
            </a:xfrm>
            <a:custGeom>
              <a:avLst/>
              <a:gdLst/>
              <a:ahLst/>
              <a:cxnLst/>
              <a:rect l="l" t="t" r="r" b="b"/>
              <a:pathLst>
                <a:path w="3180715" h="2078354">
                  <a:moveTo>
                    <a:pt x="2078802" y="2077773"/>
                  </a:moveTo>
                  <a:lnTo>
                    <a:pt x="0" y="2077773"/>
                  </a:lnTo>
                  <a:lnTo>
                    <a:pt x="2077773" y="0"/>
                  </a:lnTo>
                  <a:lnTo>
                    <a:pt x="3180217" y="0"/>
                  </a:lnTo>
                  <a:lnTo>
                    <a:pt x="3180217" y="976354"/>
                  </a:lnTo>
                  <a:lnTo>
                    <a:pt x="2078802" y="2077773"/>
                  </a:lnTo>
                  <a:close/>
                </a:path>
              </a:pathLst>
            </a:custGeom>
            <a:solidFill>
              <a:srgbClr val="092A3B">
                <a:alpha val="7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5107784" y="0"/>
              <a:ext cx="3180715" cy="1652270"/>
            </a:xfrm>
            <a:custGeom>
              <a:avLst/>
              <a:gdLst/>
              <a:ahLst/>
              <a:cxnLst/>
              <a:rect l="l" t="t" r="r" b="b"/>
              <a:pathLst>
                <a:path w="3180715" h="1652270">
                  <a:moveTo>
                    <a:pt x="2078582" y="1651907"/>
                  </a:moveTo>
                  <a:lnTo>
                    <a:pt x="0" y="1651907"/>
                  </a:lnTo>
                  <a:lnTo>
                    <a:pt x="1651848" y="0"/>
                  </a:lnTo>
                  <a:lnTo>
                    <a:pt x="3180217" y="0"/>
                  </a:lnTo>
                  <a:lnTo>
                    <a:pt x="3180217" y="549884"/>
                  </a:lnTo>
                  <a:lnTo>
                    <a:pt x="2078582" y="1651172"/>
                  </a:lnTo>
                  <a:lnTo>
                    <a:pt x="2078582" y="1651907"/>
                  </a:lnTo>
                  <a:close/>
                </a:path>
              </a:pathLst>
            </a:custGeom>
            <a:solidFill>
              <a:srgbClr val="FF741F">
                <a:alpha val="7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/>
          <p:nvPr/>
        </p:nvSpPr>
        <p:spPr>
          <a:xfrm>
            <a:off x="4676395" y="8999087"/>
            <a:ext cx="3366135" cy="1288415"/>
          </a:xfrm>
          <a:custGeom>
            <a:avLst/>
            <a:gdLst/>
            <a:ahLst/>
            <a:cxnLst/>
            <a:rect l="l" t="t" r="r" b="b"/>
            <a:pathLst>
              <a:path w="3366134" h="1288415">
                <a:moveTo>
                  <a:pt x="2078068" y="1287912"/>
                </a:moveTo>
                <a:lnTo>
                  <a:pt x="0" y="1287912"/>
                </a:lnTo>
                <a:lnTo>
                  <a:pt x="1287397" y="514"/>
                </a:lnTo>
                <a:lnTo>
                  <a:pt x="3365980" y="0"/>
                </a:lnTo>
                <a:lnTo>
                  <a:pt x="2078068" y="1287912"/>
                </a:lnTo>
                <a:close/>
              </a:path>
            </a:pathLst>
          </a:custGeom>
          <a:solidFill>
            <a:srgbClr val="FF741F">
              <a:alpha val="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832060" y="8999087"/>
            <a:ext cx="3366135" cy="1288415"/>
          </a:xfrm>
          <a:custGeom>
            <a:avLst/>
            <a:gdLst/>
            <a:ahLst/>
            <a:cxnLst/>
            <a:rect l="l" t="t" r="r" b="b"/>
            <a:pathLst>
              <a:path w="3366134" h="1288415">
                <a:moveTo>
                  <a:pt x="2078070" y="1287912"/>
                </a:moveTo>
                <a:lnTo>
                  <a:pt x="0" y="1287912"/>
                </a:lnTo>
                <a:lnTo>
                  <a:pt x="1287396" y="514"/>
                </a:lnTo>
                <a:lnTo>
                  <a:pt x="3365986" y="0"/>
                </a:lnTo>
                <a:lnTo>
                  <a:pt x="2078070" y="1287912"/>
                </a:lnTo>
                <a:close/>
              </a:path>
            </a:pathLst>
          </a:custGeom>
          <a:solidFill>
            <a:srgbClr val="ECF0F2">
              <a:alpha val="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016000" y="9647656"/>
            <a:ext cx="1519555" cy="208279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200" spc="-10">
                <a:solidFill>
                  <a:srgbClr val="092A3B"/>
                </a:solidFill>
                <a:latin typeface="Trebuchet MS"/>
                <a:cs typeface="Trebuchet MS"/>
                <a:hlinkClick r:id="rId3"/>
              </a:rPr>
              <a:t>www.finanshels.com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191347" y="9690726"/>
            <a:ext cx="227965" cy="268605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600" spc="-25">
                <a:solidFill>
                  <a:srgbClr val="0D2E32"/>
                </a:solidFill>
                <a:latin typeface="Trebuchet MS"/>
                <a:cs typeface="Trebuchet MS"/>
              </a:rPr>
              <a:t>01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335834" y="5077386"/>
            <a:ext cx="1800860" cy="0"/>
          </a:xfrm>
          <a:custGeom>
            <a:avLst/>
            <a:gdLst/>
            <a:ahLst/>
            <a:cxnLst/>
            <a:rect l="l" t="t" r="r" b="b"/>
            <a:pathLst>
              <a:path w="1800859" h="0">
                <a:moveTo>
                  <a:pt x="0" y="0"/>
                </a:moveTo>
                <a:lnTo>
                  <a:pt x="1800840" y="0"/>
                </a:lnTo>
              </a:path>
            </a:pathLst>
          </a:custGeom>
          <a:ln w="9524">
            <a:solidFill>
              <a:srgbClr val="F1660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5335834" y="6358154"/>
            <a:ext cx="1800860" cy="0"/>
          </a:xfrm>
          <a:custGeom>
            <a:avLst/>
            <a:gdLst/>
            <a:ahLst/>
            <a:cxnLst/>
            <a:rect l="l" t="t" r="r" b="b"/>
            <a:pathLst>
              <a:path w="1800859" h="0">
                <a:moveTo>
                  <a:pt x="0" y="0"/>
                </a:moveTo>
                <a:lnTo>
                  <a:pt x="1800840" y="0"/>
                </a:lnTo>
              </a:path>
            </a:pathLst>
          </a:custGeom>
          <a:ln w="9524">
            <a:solidFill>
              <a:srgbClr val="F1660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335834" y="7796400"/>
            <a:ext cx="1800860" cy="0"/>
          </a:xfrm>
          <a:custGeom>
            <a:avLst/>
            <a:gdLst/>
            <a:ahLst/>
            <a:cxnLst/>
            <a:rect l="l" t="t" r="r" b="b"/>
            <a:pathLst>
              <a:path w="1800859" h="0">
                <a:moveTo>
                  <a:pt x="0" y="0"/>
                </a:moveTo>
                <a:lnTo>
                  <a:pt x="1800840" y="0"/>
                </a:lnTo>
              </a:path>
            </a:pathLst>
          </a:custGeom>
          <a:ln w="9524">
            <a:solidFill>
              <a:srgbClr val="F1660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35834" y="9261288"/>
            <a:ext cx="1800860" cy="0"/>
          </a:xfrm>
          <a:custGeom>
            <a:avLst/>
            <a:gdLst/>
            <a:ahLst/>
            <a:cxnLst/>
            <a:rect l="l" t="t" r="r" b="b"/>
            <a:pathLst>
              <a:path w="1800859" h="0">
                <a:moveTo>
                  <a:pt x="0" y="0"/>
                </a:moveTo>
                <a:lnTo>
                  <a:pt x="1800840" y="0"/>
                </a:lnTo>
              </a:path>
            </a:pathLst>
          </a:custGeom>
          <a:ln w="9524">
            <a:solidFill>
              <a:srgbClr val="F1660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1039335" y="5876726"/>
            <a:ext cx="3561715" cy="3201035"/>
            <a:chOff x="1039335" y="5876726"/>
            <a:chExt cx="3561715" cy="3201035"/>
          </a:xfrm>
        </p:grpSpPr>
        <p:pic>
          <p:nvPicPr>
            <p:cNvPr id="7" name="object 7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0290" y="5897681"/>
              <a:ext cx="3519452" cy="3158688"/>
            </a:xfrm>
            <a:prstGeom prst="rect">
              <a:avLst/>
            </a:prstGeom>
          </p:spPr>
        </p:pic>
        <p:sp>
          <p:nvSpPr>
            <p:cNvPr id="8" name="object 8">
              <a:hlinkClick r:id="rId2"/>
            </p:cNvPr>
            <p:cNvSpPr/>
            <p:nvPr/>
          </p:nvSpPr>
          <p:spPr>
            <a:xfrm>
              <a:off x="1048860" y="5886251"/>
              <a:ext cx="3542665" cy="3181985"/>
            </a:xfrm>
            <a:custGeom>
              <a:avLst/>
              <a:gdLst/>
              <a:ahLst/>
              <a:cxnLst/>
              <a:rect l="l" t="t" r="r" b="b"/>
              <a:pathLst>
                <a:path w="3542665" h="3181984">
                  <a:moveTo>
                    <a:pt x="0" y="0"/>
                  </a:moveTo>
                  <a:lnTo>
                    <a:pt x="0" y="3181498"/>
                  </a:lnTo>
                  <a:lnTo>
                    <a:pt x="3542258" y="3181498"/>
                  </a:lnTo>
                  <a:lnTo>
                    <a:pt x="3542258" y="0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1043928" y="3509915"/>
            <a:ext cx="3552825" cy="2200275"/>
            <a:chOff x="1043928" y="3509915"/>
            <a:chExt cx="3552825" cy="220027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4883" y="3530870"/>
              <a:ext cx="3514860" cy="216297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053453" y="3519440"/>
              <a:ext cx="3533775" cy="2181225"/>
            </a:xfrm>
            <a:custGeom>
              <a:avLst/>
              <a:gdLst/>
              <a:ahLst/>
              <a:cxnLst/>
              <a:rect l="l" t="t" r="r" b="b"/>
              <a:pathLst>
                <a:path w="3533775" h="2181225">
                  <a:moveTo>
                    <a:pt x="3533774" y="0"/>
                  </a:moveTo>
                  <a:lnTo>
                    <a:pt x="0" y="0"/>
                  </a:lnTo>
                  <a:lnTo>
                    <a:pt x="0" y="2181224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1397657" y="1555000"/>
            <a:ext cx="1710055" cy="2209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 spc="-30" b="1">
                <a:latin typeface="Trebuchet MS"/>
                <a:cs typeface="Trebuchet MS"/>
              </a:rPr>
              <a:t>Trusted</a:t>
            </a:r>
            <a:r>
              <a:rPr dirty="0" sz="1250" spc="-229" b="1">
                <a:latin typeface="Trebuchet MS"/>
                <a:cs typeface="Trebuchet MS"/>
              </a:rPr>
              <a:t> </a:t>
            </a:r>
            <a:r>
              <a:rPr dirty="0" sz="1250" b="1">
                <a:latin typeface="Trebuchet MS"/>
                <a:cs typeface="Trebuchet MS"/>
              </a:rPr>
              <a:t>By</a:t>
            </a:r>
            <a:r>
              <a:rPr dirty="0" sz="1250" spc="-229" b="1">
                <a:latin typeface="Trebuchet MS"/>
                <a:cs typeface="Trebuchet MS"/>
              </a:rPr>
              <a:t> </a:t>
            </a:r>
            <a:r>
              <a:rPr dirty="0" sz="1250" spc="55" b="1">
                <a:latin typeface="Trebuchet MS"/>
                <a:cs typeface="Trebuchet MS"/>
              </a:rPr>
              <a:t>7000+SMEs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70"/>
              <a:t>Our</a:t>
            </a:r>
            <a:r>
              <a:rPr dirty="0" spc="-585"/>
              <a:t> </a:t>
            </a:r>
            <a:r>
              <a:rPr dirty="0" spc="80"/>
              <a:t>Story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5318402" y="3688672"/>
            <a:ext cx="1577975" cy="1127760"/>
          </a:xfrm>
          <a:prstGeom prst="rect">
            <a:avLst/>
          </a:prstGeom>
        </p:spPr>
        <p:txBody>
          <a:bodyPr wrap="square" lIns="0" tIns="2292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05"/>
              </a:spcBef>
            </a:pPr>
            <a:r>
              <a:rPr dirty="0" sz="3650" spc="365">
                <a:solidFill>
                  <a:srgbClr val="F1660F"/>
                </a:solidFill>
                <a:latin typeface="Arial MT"/>
                <a:cs typeface="Arial MT"/>
              </a:rPr>
              <a:t>7000+</a:t>
            </a:r>
            <a:endParaRPr sz="36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dirty="0" sz="1550" spc="75">
                <a:solidFill>
                  <a:srgbClr val="092A3B"/>
                </a:solidFill>
                <a:latin typeface="Trebuchet MS"/>
                <a:cs typeface="Trebuchet MS"/>
              </a:rPr>
              <a:t>Happy</a:t>
            </a:r>
            <a:r>
              <a:rPr dirty="0" sz="1550" spc="-6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550" spc="50">
                <a:solidFill>
                  <a:srgbClr val="092A3B"/>
                </a:solidFill>
                <a:latin typeface="Trebuchet MS"/>
                <a:cs typeface="Trebuchet MS"/>
              </a:rPr>
              <a:t>Founders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318402" y="4955617"/>
            <a:ext cx="1591310" cy="1161415"/>
          </a:xfrm>
          <a:prstGeom prst="rect">
            <a:avLst/>
          </a:prstGeom>
        </p:spPr>
        <p:txBody>
          <a:bodyPr wrap="square" lIns="0" tIns="2533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95"/>
              </a:spcBef>
            </a:pPr>
            <a:r>
              <a:rPr dirty="0" sz="3650" spc="310">
                <a:solidFill>
                  <a:srgbClr val="F1660F"/>
                </a:solidFill>
                <a:latin typeface="Arial MT"/>
                <a:cs typeface="Arial MT"/>
              </a:rPr>
              <a:t>4.9</a:t>
            </a:r>
            <a:endParaRPr sz="36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1550">
                <a:solidFill>
                  <a:srgbClr val="092A3B"/>
                </a:solidFill>
                <a:latin typeface="Trebuchet MS"/>
                <a:cs typeface="Trebuchet MS"/>
              </a:rPr>
              <a:t>T</a:t>
            </a:r>
            <a:r>
              <a:rPr dirty="0" sz="1550">
                <a:solidFill>
                  <a:srgbClr val="092A3B"/>
                </a:solidFill>
                <a:latin typeface="Trebuchet MS"/>
                <a:cs typeface="Trebuchet MS"/>
                <a:hlinkClick r:id="rId5"/>
              </a:rPr>
              <a:t>rust</a:t>
            </a:r>
            <a:r>
              <a:rPr dirty="0" sz="1550" spc="35">
                <a:solidFill>
                  <a:srgbClr val="092A3B"/>
                </a:solidFill>
                <a:latin typeface="Trebuchet MS"/>
                <a:cs typeface="Trebuchet MS"/>
                <a:hlinkClick r:id="rId5"/>
              </a:rPr>
              <a:t> </a:t>
            </a:r>
            <a:r>
              <a:rPr dirty="0" sz="1550" spc="-20">
                <a:solidFill>
                  <a:srgbClr val="092A3B"/>
                </a:solidFill>
                <a:latin typeface="Trebuchet MS"/>
                <a:cs typeface="Trebuchet MS"/>
                <a:hlinkClick r:id="rId5"/>
              </a:rPr>
              <a:t>Pilot</a:t>
            </a:r>
            <a:r>
              <a:rPr dirty="0" sz="1550" spc="35">
                <a:solidFill>
                  <a:srgbClr val="092A3B"/>
                </a:solidFill>
                <a:latin typeface="Trebuchet MS"/>
                <a:cs typeface="Trebuchet MS"/>
                <a:hlinkClick r:id="rId5"/>
              </a:rPr>
              <a:t> </a:t>
            </a:r>
            <a:r>
              <a:rPr dirty="0" sz="1550" spc="-10">
                <a:solidFill>
                  <a:srgbClr val="092A3B"/>
                </a:solidFill>
                <a:latin typeface="Trebuchet MS"/>
                <a:cs typeface="Trebuchet MS"/>
                <a:hlinkClick r:id="rId5"/>
              </a:rPr>
              <a:t>Rating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318402" y="6405974"/>
            <a:ext cx="2036445" cy="1127760"/>
          </a:xfrm>
          <a:prstGeom prst="rect">
            <a:avLst/>
          </a:prstGeom>
        </p:spPr>
        <p:txBody>
          <a:bodyPr wrap="square" lIns="0" tIns="2292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05"/>
              </a:spcBef>
            </a:pPr>
            <a:r>
              <a:rPr dirty="0" sz="3650" spc="350">
                <a:solidFill>
                  <a:srgbClr val="F1660F"/>
                </a:solidFill>
                <a:latin typeface="Arial MT"/>
                <a:cs typeface="Arial MT"/>
              </a:rPr>
              <a:t>136+</a:t>
            </a:r>
            <a:endParaRPr sz="36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dirty="0" sz="1550">
                <a:solidFill>
                  <a:srgbClr val="092A3B"/>
                </a:solidFill>
                <a:latin typeface="Trebuchet MS"/>
                <a:cs typeface="Trebuchet MS"/>
              </a:rPr>
              <a:t>Smart</a:t>
            </a:r>
            <a:r>
              <a:rPr dirty="0" sz="1550" spc="21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550">
                <a:solidFill>
                  <a:srgbClr val="092A3B"/>
                </a:solidFill>
                <a:latin typeface="Trebuchet MS"/>
                <a:cs typeface="Trebuchet MS"/>
              </a:rPr>
              <a:t>Solutions</a:t>
            </a:r>
            <a:r>
              <a:rPr dirty="0" sz="1550" spc="21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550" spc="30">
                <a:solidFill>
                  <a:srgbClr val="092A3B"/>
                </a:solidFill>
                <a:latin typeface="Trebuchet MS"/>
                <a:cs typeface="Trebuchet MS"/>
              </a:rPr>
              <a:t>Team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318402" y="7844220"/>
            <a:ext cx="1128395" cy="1127760"/>
          </a:xfrm>
          <a:prstGeom prst="rect">
            <a:avLst/>
          </a:prstGeom>
        </p:spPr>
        <p:txBody>
          <a:bodyPr wrap="square" lIns="0" tIns="2292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05"/>
              </a:spcBef>
            </a:pPr>
            <a:r>
              <a:rPr dirty="0" sz="3650" spc="310">
                <a:solidFill>
                  <a:srgbClr val="F1660F"/>
                </a:solidFill>
                <a:latin typeface="Arial MT"/>
                <a:cs typeface="Arial MT"/>
              </a:rPr>
              <a:t>9.4</a:t>
            </a:r>
            <a:endParaRPr sz="36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dirty="0" sz="1550" spc="165">
                <a:solidFill>
                  <a:srgbClr val="092A3B"/>
                </a:solidFill>
                <a:latin typeface="Trebuchet MS"/>
                <a:cs typeface="Trebuchet MS"/>
              </a:rPr>
              <a:t>NPS</a:t>
            </a:r>
            <a:r>
              <a:rPr dirty="0" sz="1550" spc="-7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550" spc="125">
                <a:solidFill>
                  <a:srgbClr val="092A3B"/>
                </a:solidFill>
                <a:latin typeface="Trebuchet MS"/>
                <a:cs typeface="Trebuchet MS"/>
              </a:rPr>
              <a:t>SCORE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157407" y="4087147"/>
            <a:ext cx="831088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092A3B"/>
                </a:solidFill>
                <a:latin typeface="Trebuchet MS"/>
                <a:cs typeface="Trebuchet MS"/>
              </a:rPr>
              <a:t>“From</a:t>
            </a:r>
            <a:r>
              <a:rPr dirty="0" sz="1700" spc="17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092A3B"/>
                </a:solidFill>
                <a:latin typeface="Trebuchet MS"/>
                <a:cs typeface="Trebuchet MS"/>
              </a:rPr>
              <a:t>starting</a:t>
            </a:r>
            <a:r>
              <a:rPr dirty="0" sz="1700" spc="18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092A3B"/>
                </a:solidFill>
                <a:latin typeface="Trebuchet MS"/>
                <a:cs typeface="Trebuchet MS"/>
              </a:rPr>
              <a:t>our</a:t>
            </a:r>
            <a:r>
              <a:rPr dirty="0" sz="1700" spc="17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 spc="85">
                <a:solidFill>
                  <a:srgbClr val="092A3B"/>
                </a:solidFill>
                <a:latin typeface="Trebuchet MS"/>
                <a:cs typeface="Trebuchet MS"/>
              </a:rPr>
              <a:t>own</a:t>
            </a:r>
            <a:r>
              <a:rPr dirty="0" sz="1700" spc="18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 spc="100">
                <a:solidFill>
                  <a:srgbClr val="092A3B"/>
                </a:solidFill>
                <a:latin typeface="Trebuchet MS"/>
                <a:cs typeface="Trebuchet MS"/>
              </a:rPr>
              <a:t>businesses</a:t>
            </a:r>
            <a:r>
              <a:rPr dirty="0" sz="1700" spc="18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092A3B"/>
                </a:solidFill>
                <a:latin typeface="Trebuchet MS"/>
                <a:cs typeface="Trebuchet MS"/>
              </a:rPr>
              <a:t>in</a:t>
            </a:r>
            <a:r>
              <a:rPr dirty="0" sz="1700" spc="17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092A3B"/>
                </a:solidFill>
                <a:latin typeface="Trebuchet MS"/>
                <a:cs typeface="Trebuchet MS"/>
              </a:rPr>
              <a:t>the</a:t>
            </a:r>
            <a:r>
              <a:rPr dirty="0" sz="1700" spc="18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092A3B"/>
                </a:solidFill>
                <a:latin typeface="Trebuchet MS"/>
                <a:cs typeface="Trebuchet MS"/>
              </a:rPr>
              <a:t>past,</a:t>
            </a:r>
            <a:r>
              <a:rPr dirty="0" sz="1700" spc="17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 spc="85">
                <a:solidFill>
                  <a:srgbClr val="092A3B"/>
                </a:solidFill>
                <a:latin typeface="Trebuchet MS"/>
                <a:cs typeface="Trebuchet MS"/>
              </a:rPr>
              <a:t>we</a:t>
            </a:r>
            <a:r>
              <a:rPr dirty="0" sz="1700" spc="18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 spc="80">
                <a:solidFill>
                  <a:srgbClr val="092A3B"/>
                </a:solidFill>
                <a:latin typeface="Trebuchet MS"/>
                <a:cs typeface="Trebuchet MS"/>
              </a:rPr>
              <a:t>know</a:t>
            </a:r>
            <a:r>
              <a:rPr dirty="0" sz="1700" spc="18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092A3B"/>
                </a:solidFill>
                <a:latin typeface="Trebuchet MS"/>
                <a:cs typeface="Trebuchet MS"/>
              </a:rPr>
              <a:t>that</a:t>
            </a:r>
            <a:r>
              <a:rPr dirty="0" sz="1700" spc="17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092A3B"/>
                </a:solidFill>
                <a:latin typeface="Trebuchet MS"/>
                <a:cs typeface="Trebuchet MS"/>
              </a:rPr>
              <a:t>running</a:t>
            </a:r>
            <a:r>
              <a:rPr dirty="0" sz="1700" spc="18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092A3B"/>
                </a:solidFill>
                <a:latin typeface="Trebuchet MS"/>
                <a:cs typeface="Trebuchet MS"/>
              </a:rPr>
              <a:t>the</a:t>
            </a:r>
            <a:r>
              <a:rPr dirty="0" sz="1700" spc="17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 spc="85">
                <a:solidFill>
                  <a:srgbClr val="092A3B"/>
                </a:solidFill>
                <a:latin typeface="Trebuchet MS"/>
                <a:cs typeface="Trebuchet MS"/>
              </a:rPr>
              <a:t>back-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157407" y="4346150"/>
            <a:ext cx="8310880" cy="1597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21300"/>
              </a:lnSpc>
              <a:spcBef>
                <a:spcPts val="100"/>
              </a:spcBef>
            </a:pPr>
            <a:r>
              <a:rPr dirty="0" sz="1700">
                <a:solidFill>
                  <a:srgbClr val="092A3B"/>
                </a:solidFill>
                <a:latin typeface="Trebuchet MS"/>
                <a:cs typeface="Trebuchet MS"/>
              </a:rPr>
              <a:t>office</a:t>
            </a:r>
            <a:r>
              <a:rPr dirty="0" sz="1700" spc="220">
                <a:solidFill>
                  <a:srgbClr val="092A3B"/>
                </a:solidFill>
                <a:latin typeface="Trebuchet MS"/>
                <a:cs typeface="Trebuchet MS"/>
              </a:rPr>
              <a:t>  </a:t>
            </a:r>
            <a:r>
              <a:rPr dirty="0" sz="1700" spc="120">
                <a:solidFill>
                  <a:srgbClr val="092A3B"/>
                </a:solidFill>
                <a:latin typeface="Trebuchet MS"/>
                <a:cs typeface="Trebuchet MS"/>
              </a:rPr>
              <a:t>was</a:t>
            </a:r>
            <a:r>
              <a:rPr dirty="0" sz="1700" spc="220">
                <a:solidFill>
                  <a:srgbClr val="092A3B"/>
                </a:solidFill>
                <a:latin typeface="Trebuchet MS"/>
                <a:cs typeface="Trebuchet MS"/>
              </a:rPr>
              <a:t>  </a:t>
            </a:r>
            <a:r>
              <a:rPr dirty="0" sz="1700" spc="70">
                <a:solidFill>
                  <a:srgbClr val="092A3B"/>
                </a:solidFill>
                <a:latin typeface="Trebuchet MS"/>
                <a:cs typeface="Trebuchet MS"/>
              </a:rPr>
              <a:t>a</a:t>
            </a:r>
            <a:r>
              <a:rPr dirty="0" sz="1700" spc="220">
                <a:solidFill>
                  <a:srgbClr val="092A3B"/>
                </a:solidFill>
                <a:latin typeface="Trebuchet MS"/>
                <a:cs typeface="Trebuchet MS"/>
              </a:rPr>
              <a:t>  </a:t>
            </a:r>
            <a:r>
              <a:rPr dirty="0" sz="1700">
                <a:solidFill>
                  <a:srgbClr val="092A3B"/>
                </a:solidFill>
                <a:latin typeface="Trebuchet MS"/>
                <a:cs typeface="Trebuchet MS"/>
              </a:rPr>
              <a:t>major</a:t>
            </a:r>
            <a:r>
              <a:rPr dirty="0" sz="1700" spc="220">
                <a:solidFill>
                  <a:srgbClr val="092A3B"/>
                </a:solidFill>
                <a:latin typeface="Trebuchet MS"/>
                <a:cs typeface="Trebuchet MS"/>
              </a:rPr>
              <a:t>  </a:t>
            </a:r>
            <a:r>
              <a:rPr dirty="0" sz="1700">
                <a:solidFill>
                  <a:srgbClr val="092A3B"/>
                </a:solidFill>
                <a:latin typeface="Trebuchet MS"/>
                <a:cs typeface="Trebuchet MS"/>
              </a:rPr>
              <a:t>distraction;</a:t>
            </a:r>
            <a:r>
              <a:rPr dirty="0" sz="1700" spc="220">
                <a:solidFill>
                  <a:srgbClr val="092A3B"/>
                </a:solidFill>
                <a:latin typeface="Trebuchet MS"/>
                <a:cs typeface="Trebuchet MS"/>
              </a:rPr>
              <a:t>  </a:t>
            </a:r>
            <a:r>
              <a:rPr dirty="0" sz="1700" spc="75">
                <a:solidFill>
                  <a:srgbClr val="092A3B"/>
                </a:solidFill>
                <a:latin typeface="Trebuchet MS"/>
                <a:cs typeface="Trebuchet MS"/>
              </a:rPr>
              <a:t>and</a:t>
            </a:r>
            <a:r>
              <a:rPr dirty="0" sz="1700" spc="225">
                <a:solidFill>
                  <a:srgbClr val="092A3B"/>
                </a:solidFill>
                <a:latin typeface="Trebuchet MS"/>
                <a:cs typeface="Trebuchet MS"/>
              </a:rPr>
              <a:t>  </a:t>
            </a:r>
            <a:r>
              <a:rPr dirty="0" sz="1700" spc="55">
                <a:solidFill>
                  <a:srgbClr val="092A3B"/>
                </a:solidFill>
                <a:latin typeface="Trebuchet MS"/>
                <a:cs typeface="Trebuchet MS"/>
              </a:rPr>
              <a:t>working</a:t>
            </a:r>
            <a:r>
              <a:rPr dirty="0" sz="1700" spc="220">
                <a:solidFill>
                  <a:srgbClr val="092A3B"/>
                </a:solidFill>
                <a:latin typeface="Trebuchet MS"/>
                <a:cs typeface="Trebuchet MS"/>
              </a:rPr>
              <a:t>  </a:t>
            </a:r>
            <a:r>
              <a:rPr dirty="0" sz="1700">
                <a:solidFill>
                  <a:srgbClr val="092A3B"/>
                </a:solidFill>
                <a:latin typeface="Trebuchet MS"/>
                <a:cs typeface="Trebuchet MS"/>
              </a:rPr>
              <a:t>with</a:t>
            </a:r>
            <a:r>
              <a:rPr dirty="0" sz="1700" spc="220">
                <a:solidFill>
                  <a:srgbClr val="092A3B"/>
                </a:solidFill>
                <a:latin typeface="Trebuchet MS"/>
                <a:cs typeface="Trebuchet MS"/>
              </a:rPr>
              <a:t>  </a:t>
            </a:r>
            <a:r>
              <a:rPr dirty="0" sz="1700">
                <a:solidFill>
                  <a:srgbClr val="092A3B"/>
                </a:solidFill>
                <a:latin typeface="Trebuchet MS"/>
                <a:cs typeface="Trebuchet MS"/>
              </a:rPr>
              <a:t>technically</a:t>
            </a:r>
            <a:r>
              <a:rPr dirty="0" sz="1700" spc="220">
                <a:solidFill>
                  <a:srgbClr val="092A3B"/>
                </a:solidFill>
                <a:latin typeface="Trebuchet MS"/>
                <a:cs typeface="Trebuchet MS"/>
              </a:rPr>
              <a:t>  </a:t>
            </a:r>
            <a:r>
              <a:rPr dirty="0" sz="1700" spc="35">
                <a:solidFill>
                  <a:srgbClr val="092A3B"/>
                </a:solidFill>
                <a:latin typeface="Trebuchet MS"/>
                <a:cs typeface="Trebuchet MS"/>
              </a:rPr>
              <a:t>challenged </a:t>
            </a:r>
            <a:r>
              <a:rPr dirty="0" sz="1700" spc="60">
                <a:solidFill>
                  <a:srgbClr val="092A3B"/>
                </a:solidFill>
                <a:latin typeface="Trebuchet MS"/>
                <a:cs typeface="Trebuchet MS"/>
              </a:rPr>
              <a:t>accountants</a:t>
            </a:r>
            <a:r>
              <a:rPr dirty="0" sz="1700" spc="8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 spc="120">
                <a:solidFill>
                  <a:srgbClr val="092A3B"/>
                </a:solidFill>
                <a:latin typeface="Trebuchet MS"/>
                <a:cs typeface="Trebuchet MS"/>
              </a:rPr>
              <a:t>was</a:t>
            </a:r>
            <a:r>
              <a:rPr dirty="0" sz="1700" spc="8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 spc="80">
                <a:solidFill>
                  <a:srgbClr val="092A3B"/>
                </a:solidFill>
                <a:latin typeface="Trebuchet MS"/>
                <a:cs typeface="Trebuchet MS"/>
              </a:rPr>
              <a:t>no</a:t>
            </a:r>
            <a:r>
              <a:rPr dirty="0" sz="1700" spc="8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092A3B"/>
                </a:solidFill>
                <a:latin typeface="Trebuchet MS"/>
                <a:cs typeface="Trebuchet MS"/>
              </a:rPr>
              <a:t>fun</a:t>
            </a:r>
            <a:r>
              <a:rPr dirty="0" sz="1700" spc="8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092A3B"/>
                </a:solidFill>
                <a:latin typeface="Trebuchet MS"/>
                <a:cs typeface="Trebuchet MS"/>
              </a:rPr>
              <a:t>at</a:t>
            </a:r>
            <a:r>
              <a:rPr dirty="0" sz="1700" spc="8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 spc="-45">
                <a:solidFill>
                  <a:srgbClr val="092A3B"/>
                </a:solidFill>
                <a:latin typeface="Trebuchet MS"/>
                <a:cs typeface="Trebuchet MS"/>
              </a:rPr>
              <a:t>all.</a:t>
            </a:r>
            <a:r>
              <a:rPr dirty="0" sz="1700" spc="8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 spc="60">
                <a:solidFill>
                  <a:srgbClr val="092A3B"/>
                </a:solidFill>
                <a:latin typeface="Trebuchet MS"/>
                <a:cs typeface="Trebuchet MS"/>
              </a:rPr>
              <a:t>Of</a:t>
            </a:r>
            <a:r>
              <a:rPr dirty="0" sz="1700" spc="8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092A3B"/>
                </a:solidFill>
                <a:latin typeface="Trebuchet MS"/>
                <a:cs typeface="Trebuchet MS"/>
              </a:rPr>
              <a:t>all</a:t>
            </a:r>
            <a:r>
              <a:rPr dirty="0" sz="1700" spc="8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092A3B"/>
                </a:solidFill>
                <a:latin typeface="Trebuchet MS"/>
                <a:cs typeface="Trebuchet MS"/>
              </a:rPr>
              <a:t>industries</a:t>
            </a:r>
            <a:r>
              <a:rPr dirty="0" sz="1700" spc="8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092A3B"/>
                </a:solidFill>
                <a:latin typeface="Trebuchet MS"/>
                <a:cs typeface="Trebuchet MS"/>
              </a:rPr>
              <a:t>out</a:t>
            </a:r>
            <a:r>
              <a:rPr dirty="0" sz="1700" spc="8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092A3B"/>
                </a:solidFill>
                <a:latin typeface="Trebuchet MS"/>
                <a:cs typeface="Trebuchet MS"/>
              </a:rPr>
              <a:t>there,</a:t>
            </a:r>
            <a:r>
              <a:rPr dirty="0" sz="1700" spc="8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 spc="55">
                <a:solidFill>
                  <a:srgbClr val="092A3B"/>
                </a:solidFill>
                <a:latin typeface="Trebuchet MS"/>
                <a:cs typeface="Trebuchet MS"/>
              </a:rPr>
              <a:t>accounting</a:t>
            </a:r>
            <a:r>
              <a:rPr dirty="0" sz="1700" spc="8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 spc="120">
                <a:solidFill>
                  <a:srgbClr val="092A3B"/>
                </a:solidFill>
                <a:latin typeface="Trebuchet MS"/>
                <a:cs typeface="Trebuchet MS"/>
              </a:rPr>
              <a:t>was</a:t>
            </a:r>
            <a:r>
              <a:rPr dirty="0" sz="1700" spc="8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 spc="70">
                <a:solidFill>
                  <a:srgbClr val="092A3B"/>
                </a:solidFill>
                <a:latin typeface="Trebuchet MS"/>
                <a:cs typeface="Trebuchet MS"/>
              </a:rPr>
              <a:t>one</a:t>
            </a:r>
            <a:r>
              <a:rPr dirty="0" sz="1700" spc="8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 spc="-25">
                <a:solidFill>
                  <a:srgbClr val="092A3B"/>
                </a:solidFill>
                <a:latin typeface="Trebuchet MS"/>
                <a:cs typeface="Trebuchet MS"/>
              </a:rPr>
              <a:t>of </a:t>
            </a:r>
            <a:r>
              <a:rPr dirty="0" sz="1700">
                <a:solidFill>
                  <a:srgbClr val="092A3B"/>
                </a:solidFill>
                <a:latin typeface="Trebuchet MS"/>
                <a:cs typeface="Trebuchet MS"/>
              </a:rPr>
              <a:t>the</a:t>
            </a:r>
            <a:r>
              <a:rPr dirty="0" sz="1700" spc="9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092A3B"/>
                </a:solidFill>
                <a:latin typeface="Trebuchet MS"/>
                <a:cs typeface="Trebuchet MS"/>
              </a:rPr>
              <a:t>view</a:t>
            </a:r>
            <a:r>
              <a:rPr dirty="0" sz="1700" spc="10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 spc="50">
                <a:solidFill>
                  <a:srgbClr val="092A3B"/>
                </a:solidFill>
                <a:latin typeface="Trebuchet MS"/>
                <a:cs typeface="Trebuchet MS"/>
              </a:rPr>
              <a:t>few</a:t>
            </a:r>
            <a:r>
              <a:rPr dirty="0" sz="1700" spc="10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092A3B"/>
                </a:solidFill>
                <a:latin typeface="Trebuchet MS"/>
                <a:cs typeface="Trebuchet MS"/>
              </a:rPr>
              <a:t>that</a:t>
            </a:r>
            <a:r>
              <a:rPr dirty="0" sz="1700" spc="9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 spc="75">
                <a:solidFill>
                  <a:srgbClr val="092A3B"/>
                </a:solidFill>
                <a:latin typeface="Trebuchet MS"/>
                <a:cs typeface="Trebuchet MS"/>
              </a:rPr>
              <a:t>had</a:t>
            </a:r>
            <a:r>
              <a:rPr dirty="0" sz="1700" spc="10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092A3B"/>
                </a:solidFill>
                <a:latin typeface="Trebuchet MS"/>
                <a:cs typeface="Trebuchet MS"/>
              </a:rPr>
              <a:t>yet</a:t>
            </a:r>
            <a:r>
              <a:rPr dirty="0" sz="1700" spc="10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092A3B"/>
                </a:solidFill>
                <a:latin typeface="Trebuchet MS"/>
                <a:cs typeface="Trebuchet MS"/>
              </a:rPr>
              <a:t>to</a:t>
            </a:r>
            <a:r>
              <a:rPr dirty="0" sz="1700" spc="10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 spc="80">
                <a:solidFill>
                  <a:srgbClr val="092A3B"/>
                </a:solidFill>
                <a:latin typeface="Trebuchet MS"/>
                <a:cs typeface="Trebuchet MS"/>
              </a:rPr>
              <a:t>be</a:t>
            </a:r>
            <a:r>
              <a:rPr dirty="0" sz="1700" spc="9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092A3B"/>
                </a:solidFill>
                <a:latin typeface="Trebuchet MS"/>
                <a:cs typeface="Trebuchet MS"/>
              </a:rPr>
              <a:t>modernized.</a:t>
            </a:r>
            <a:r>
              <a:rPr dirty="0" sz="1700" spc="10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 spc="105">
                <a:solidFill>
                  <a:srgbClr val="092A3B"/>
                </a:solidFill>
                <a:latin typeface="Trebuchet MS"/>
                <a:cs typeface="Trebuchet MS"/>
              </a:rPr>
              <a:t>We</a:t>
            </a:r>
            <a:r>
              <a:rPr dirty="0" sz="1700" spc="10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092A3B"/>
                </a:solidFill>
                <a:latin typeface="Trebuchet MS"/>
                <a:cs typeface="Trebuchet MS"/>
              </a:rPr>
              <a:t>are</a:t>
            </a:r>
            <a:r>
              <a:rPr dirty="0" sz="1700" spc="10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092A3B"/>
                </a:solidFill>
                <a:latin typeface="Trebuchet MS"/>
                <a:cs typeface="Trebuchet MS"/>
              </a:rPr>
              <a:t>not</a:t>
            </a:r>
            <a:r>
              <a:rPr dirty="0" sz="1700" spc="9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092A3B"/>
                </a:solidFill>
                <a:latin typeface="Trebuchet MS"/>
                <a:cs typeface="Trebuchet MS"/>
              </a:rPr>
              <a:t>just</a:t>
            </a:r>
            <a:r>
              <a:rPr dirty="0" sz="1700" spc="10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 spc="65">
                <a:solidFill>
                  <a:srgbClr val="092A3B"/>
                </a:solidFill>
                <a:latin typeface="Trebuchet MS"/>
                <a:cs typeface="Trebuchet MS"/>
              </a:rPr>
              <a:t>an</a:t>
            </a:r>
            <a:r>
              <a:rPr dirty="0" sz="1700" spc="10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 spc="55">
                <a:solidFill>
                  <a:srgbClr val="092A3B"/>
                </a:solidFill>
                <a:latin typeface="Trebuchet MS"/>
                <a:cs typeface="Trebuchet MS"/>
              </a:rPr>
              <a:t>accounting</a:t>
            </a:r>
            <a:r>
              <a:rPr dirty="0" sz="1700" spc="10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092A3B"/>
                </a:solidFill>
                <a:latin typeface="Trebuchet MS"/>
                <a:cs typeface="Trebuchet MS"/>
              </a:rPr>
              <a:t>firm, </a:t>
            </a:r>
            <a:r>
              <a:rPr dirty="0" sz="1700" spc="85">
                <a:solidFill>
                  <a:srgbClr val="092A3B"/>
                </a:solidFill>
                <a:latin typeface="Trebuchet MS"/>
                <a:cs typeface="Trebuchet MS"/>
              </a:rPr>
              <a:t>we</a:t>
            </a:r>
            <a:r>
              <a:rPr dirty="0" sz="1700" spc="22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092A3B"/>
                </a:solidFill>
                <a:latin typeface="Trebuchet MS"/>
                <a:cs typeface="Trebuchet MS"/>
              </a:rPr>
              <a:t>want</a:t>
            </a:r>
            <a:r>
              <a:rPr dirty="0" sz="1700" spc="22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092A3B"/>
                </a:solidFill>
                <a:latin typeface="Trebuchet MS"/>
                <a:cs typeface="Trebuchet MS"/>
              </a:rPr>
              <a:t>to</a:t>
            </a:r>
            <a:r>
              <a:rPr dirty="0" sz="1700" spc="22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092A3B"/>
                </a:solidFill>
                <a:latin typeface="Trebuchet MS"/>
                <a:cs typeface="Trebuchet MS"/>
              </a:rPr>
              <a:t>completely</a:t>
            </a:r>
            <a:r>
              <a:rPr dirty="0" sz="1700" spc="22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 spc="85">
                <a:solidFill>
                  <a:srgbClr val="092A3B"/>
                </a:solidFill>
                <a:latin typeface="Trebuchet MS"/>
                <a:cs typeface="Trebuchet MS"/>
              </a:rPr>
              <a:t>change</a:t>
            </a:r>
            <a:r>
              <a:rPr dirty="0" sz="1700" spc="22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092A3B"/>
                </a:solidFill>
                <a:latin typeface="Trebuchet MS"/>
                <a:cs typeface="Trebuchet MS"/>
              </a:rPr>
              <a:t>the</a:t>
            </a:r>
            <a:r>
              <a:rPr dirty="0" sz="1700" spc="22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 spc="90">
                <a:solidFill>
                  <a:srgbClr val="092A3B"/>
                </a:solidFill>
                <a:latin typeface="Trebuchet MS"/>
                <a:cs typeface="Trebuchet MS"/>
              </a:rPr>
              <a:t>way</a:t>
            </a:r>
            <a:r>
              <a:rPr dirty="0" sz="1700" spc="22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092A3B"/>
                </a:solidFill>
                <a:latin typeface="Trebuchet MS"/>
                <a:cs typeface="Trebuchet MS"/>
              </a:rPr>
              <a:t>that</a:t>
            </a:r>
            <a:r>
              <a:rPr dirty="0" sz="1700" spc="22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 spc="95">
                <a:solidFill>
                  <a:srgbClr val="092A3B"/>
                </a:solidFill>
                <a:latin typeface="Trebuchet MS"/>
                <a:cs typeface="Trebuchet MS"/>
              </a:rPr>
              <a:t>business</a:t>
            </a:r>
            <a:r>
              <a:rPr dirty="0" sz="1700" spc="22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 spc="80">
                <a:solidFill>
                  <a:srgbClr val="092A3B"/>
                </a:solidFill>
                <a:latin typeface="Trebuchet MS"/>
                <a:cs typeface="Trebuchet MS"/>
              </a:rPr>
              <a:t>owners</a:t>
            </a:r>
            <a:r>
              <a:rPr dirty="0" sz="1700" spc="22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092A3B"/>
                </a:solidFill>
                <a:latin typeface="Trebuchet MS"/>
                <a:cs typeface="Trebuchet MS"/>
              </a:rPr>
              <a:t>think</a:t>
            </a:r>
            <a:r>
              <a:rPr dirty="0" sz="1700" spc="22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 spc="50">
                <a:solidFill>
                  <a:srgbClr val="092A3B"/>
                </a:solidFill>
                <a:latin typeface="Trebuchet MS"/>
                <a:cs typeface="Trebuchet MS"/>
              </a:rPr>
              <a:t>about</a:t>
            </a:r>
            <a:r>
              <a:rPr dirty="0" sz="1700" spc="22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092A3B"/>
                </a:solidFill>
                <a:latin typeface="Trebuchet MS"/>
                <a:cs typeface="Trebuchet MS"/>
              </a:rPr>
              <a:t>their </a:t>
            </a:r>
            <a:r>
              <a:rPr dirty="0" sz="1700">
                <a:solidFill>
                  <a:srgbClr val="092A3B"/>
                </a:solidFill>
                <a:latin typeface="Trebuchet MS"/>
                <a:cs typeface="Trebuchet MS"/>
              </a:rPr>
              <a:t>finances,</a:t>
            </a:r>
            <a:r>
              <a:rPr dirty="0" sz="1700" spc="7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 spc="75">
                <a:solidFill>
                  <a:srgbClr val="092A3B"/>
                </a:solidFill>
                <a:latin typeface="Trebuchet MS"/>
                <a:cs typeface="Trebuchet MS"/>
              </a:rPr>
              <a:t>and </a:t>
            </a:r>
            <a:r>
              <a:rPr dirty="0" sz="1700">
                <a:solidFill>
                  <a:srgbClr val="092A3B"/>
                </a:solidFill>
                <a:latin typeface="Trebuchet MS"/>
                <a:cs typeface="Trebuchet MS"/>
              </a:rPr>
              <a:t>taking</a:t>
            </a:r>
            <a:r>
              <a:rPr dirty="0" sz="1700" spc="7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 spc="50">
                <a:solidFill>
                  <a:srgbClr val="092A3B"/>
                </a:solidFill>
                <a:latin typeface="Trebuchet MS"/>
                <a:cs typeface="Trebuchet MS"/>
              </a:rPr>
              <a:t>care</a:t>
            </a:r>
            <a:r>
              <a:rPr dirty="0" sz="1700" spc="7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092A3B"/>
                </a:solidFill>
                <a:latin typeface="Trebuchet MS"/>
                <a:cs typeface="Trebuchet MS"/>
              </a:rPr>
              <a:t>of</a:t>
            </a:r>
            <a:r>
              <a:rPr dirty="0" sz="1700" spc="7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092A3B"/>
                </a:solidFill>
                <a:latin typeface="Trebuchet MS"/>
                <a:cs typeface="Trebuchet MS"/>
              </a:rPr>
              <a:t>their</a:t>
            </a:r>
            <a:r>
              <a:rPr dirty="0" sz="1700" spc="7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092A3B"/>
                </a:solidFill>
                <a:latin typeface="Trebuchet MS"/>
                <a:cs typeface="Trebuchet MS"/>
              </a:rPr>
              <a:t>backoffice</a:t>
            </a:r>
            <a:r>
              <a:rPr dirty="0" sz="1700" spc="7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092A3B"/>
                </a:solidFill>
                <a:latin typeface="Trebuchet MS"/>
                <a:cs typeface="Trebuchet MS"/>
              </a:rPr>
              <a:t>affairs</a:t>
            </a:r>
            <a:r>
              <a:rPr dirty="0" sz="1700" spc="7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092A3B"/>
                </a:solidFill>
                <a:latin typeface="Trebuchet MS"/>
                <a:cs typeface="Trebuchet MS"/>
              </a:rPr>
              <a:t>in</a:t>
            </a:r>
            <a:r>
              <a:rPr dirty="0" sz="1700" spc="7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092A3B"/>
                </a:solidFill>
                <a:latin typeface="Trebuchet MS"/>
                <a:cs typeface="Trebuchet MS"/>
              </a:rPr>
              <a:t>our</a:t>
            </a:r>
            <a:r>
              <a:rPr dirty="0" sz="1700" spc="7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 spc="90">
                <a:solidFill>
                  <a:srgbClr val="092A3B"/>
                </a:solidFill>
                <a:latin typeface="Trebuchet MS"/>
                <a:cs typeface="Trebuchet MS"/>
              </a:rPr>
              <a:t>way</a:t>
            </a:r>
            <a:r>
              <a:rPr dirty="0" sz="1700" spc="7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092A3B"/>
                </a:solidFill>
                <a:latin typeface="Trebuchet MS"/>
                <a:cs typeface="Trebuchet MS"/>
              </a:rPr>
              <a:t>of</a:t>
            </a:r>
            <a:r>
              <a:rPr dirty="0" sz="1700" spc="7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 spc="65">
                <a:solidFill>
                  <a:srgbClr val="092A3B"/>
                </a:solidFill>
                <a:latin typeface="Trebuchet MS"/>
                <a:cs typeface="Trebuchet MS"/>
              </a:rPr>
              <a:t>doing</a:t>
            </a:r>
            <a:r>
              <a:rPr dirty="0" sz="1700" spc="7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092A3B"/>
                </a:solidFill>
                <a:latin typeface="Trebuchet MS"/>
                <a:cs typeface="Trebuchet MS"/>
              </a:rPr>
              <a:t>that.”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157407" y="6272982"/>
            <a:ext cx="594614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170">
                <a:solidFill>
                  <a:srgbClr val="092A3B"/>
                </a:solidFill>
                <a:latin typeface="Tahoma"/>
                <a:cs typeface="Tahoma"/>
              </a:rPr>
              <a:t>-</a:t>
            </a:r>
            <a:r>
              <a:rPr dirty="0" sz="1700" spc="-85">
                <a:solidFill>
                  <a:srgbClr val="092A3B"/>
                </a:solidFill>
                <a:latin typeface="Tahoma"/>
                <a:cs typeface="Tahoma"/>
              </a:rPr>
              <a:t> </a:t>
            </a:r>
            <a:r>
              <a:rPr dirty="0" sz="1700" spc="90">
                <a:solidFill>
                  <a:srgbClr val="092A3B"/>
                </a:solidFill>
                <a:latin typeface="Tahoma"/>
                <a:cs typeface="Tahoma"/>
              </a:rPr>
              <a:t>Muhammed</a:t>
            </a:r>
            <a:r>
              <a:rPr dirty="0" sz="1700" spc="-80">
                <a:solidFill>
                  <a:srgbClr val="092A3B"/>
                </a:solidFill>
                <a:latin typeface="Tahoma"/>
                <a:cs typeface="Tahoma"/>
              </a:rPr>
              <a:t> </a:t>
            </a:r>
            <a:r>
              <a:rPr dirty="0" sz="1700" spc="85">
                <a:solidFill>
                  <a:srgbClr val="092A3B"/>
                </a:solidFill>
                <a:latin typeface="Tahoma"/>
                <a:cs typeface="Tahoma"/>
              </a:rPr>
              <a:t>Shafeekh</a:t>
            </a:r>
            <a:r>
              <a:rPr dirty="0" sz="1700" spc="-85">
                <a:solidFill>
                  <a:srgbClr val="092A3B"/>
                </a:solidFill>
                <a:latin typeface="Tahoma"/>
                <a:cs typeface="Tahoma"/>
              </a:rPr>
              <a:t> </a:t>
            </a:r>
            <a:r>
              <a:rPr dirty="0" sz="1700" spc="60">
                <a:solidFill>
                  <a:srgbClr val="092A3B"/>
                </a:solidFill>
                <a:latin typeface="Tahoma"/>
                <a:cs typeface="Tahoma"/>
              </a:rPr>
              <a:t>(Founder</a:t>
            </a:r>
            <a:r>
              <a:rPr dirty="0" sz="1700" spc="-80">
                <a:solidFill>
                  <a:srgbClr val="092A3B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092A3B"/>
                </a:solidFill>
                <a:latin typeface="Tahoma"/>
                <a:cs typeface="Tahoma"/>
              </a:rPr>
              <a:t>&amp;</a:t>
            </a:r>
            <a:r>
              <a:rPr dirty="0" sz="1700" spc="-80">
                <a:solidFill>
                  <a:srgbClr val="092A3B"/>
                </a:solidFill>
                <a:latin typeface="Tahoma"/>
                <a:cs typeface="Tahoma"/>
              </a:rPr>
              <a:t> </a:t>
            </a:r>
            <a:r>
              <a:rPr dirty="0" sz="1700" spc="80">
                <a:solidFill>
                  <a:srgbClr val="092A3B"/>
                </a:solidFill>
                <a:latin typeface="Tahoma"/>
                <a:cs typeface="Tahoma"/>
              </a:rPr>
              <a:t>CEO,</a:t>
            </a:r>
            <a:r>
              <a:rPr dirty="0" sz="1700" spc="-85">
                <a:solidFill>
                  <a:srgbClr val="092A3B"/>
                </a:solidFill>
                <a:latin typeface="Tahoma"/>
                <a:cs typeface="Tahoma"/>
              </a:rPr>
              <a:t> </a:t>
            </a:r>
            <a:r>
              <a:rPr dirty="0" sz="1700" spc="55">
                <a:solidFill>
                  <a:srgbClr val="092A3B"/>
                </a:solidFill>
                <a:latin typeface="Tahoma"/>
                <a:cs typeface="Tahoma"/>
              </a:rPr>
              <a:t>Finanshels.com)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21" name="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189431" y="8458301"/>
            <a:ext cx="1116329" cy="387021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73182" y="8254072"/>
            <a:ext cx="2124074" cy="733424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737672" y="8432858"/>
            <a:ext cx="1114424" cy="438149"/>
          </a:xfrm>
          <a:prstGeom prst="rect">
            <a:avLst/>
          </a:prstGeom>
        </p:spPr>
      </p:pic>
      <p:sp>
        <p:nvSpPr>
          <p:cNvPr id="24" name="object 24"/>
          <p:cNvSpPr/>
          <p:nvPr/>
        </p:nvSpPr>
        <p:spPr>
          <a:xfrm>
            <a:off x="6446049" y="8269062"/>
            <a:ext cx="0" cy="732155"/>
          </a:xfrm>
          <a:custGeom>
            <a:avLst/>
            <a:gdLst/>
            <a:ahLst/>
            <a:cxnLst/>
            <a:rect l="l" t="t" r="r" b="b"/>
            <a:pathLst>
              <a:path w="0" h="732154">
                <a:moveTo>
                  <a:pt x="0" y="732111"/>
                </a:moveTo>
                <a:lnTo>
                  <a:pt x="0" y="0"/>
                </a:lnTo>
              </a:path>
            </a:pathLst>
          </a:custGeom>
          <a:ln w="19049">
            <a:solidFill>
              <a:srgbClr val="092A3B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5" name="object 2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312014" y="8233850"/>
            <a:ext cx="447674" cy="781049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5157407" y="8260102"/>
            <a:ext cx="1112520" cy="724535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700" marR="5080">
              <a:lnSpc>
                <a:spcPts val="2690"/>
              </a:lnSpc>
              <a:spcBef>
                <a:spcPts val="295"/>
              </a:spcBef>
            </a:pPr>
            <a:r>
              <a:rPr dirty="0" sz="2350" spc="100" b="1">
                <a:solidFill>
                  <a:srgbClr val="092A3B"/>
                </a:solidFill>
                <a:latin typeface="Trebuchet MS"/>
                <a:cs typeface="Trebuchet MS"/>
              </a:rPr>
              <a:t>Backed </a:t>
            </a:r>
            <a:r>
              <a:rPr dirty="0" sz="2350" spc="120" b="1">
                <a:solidFill>
                  <a:srgbClr val="092A3B"/>
                </a:solidFill>
                <a:latin typeface="Trebuchet MS"/>
                <a:cs typeface="Trebuchet MS"/>
              </a:rPr>
              <a:t>by</a:t>
            </a:r>
            <a:r>
              <a:rPr dirty="0" sz="2350" spc="-160" b="1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2350" spc="-50" b="1">
                <a:solidFill>
                  <a:srgbClr val="092A3B"/>
                </a:solidFill>
                <a:latin typeface="Trebuchet MS"/>
                <a:cs typeface="Trebuchet MS"/>
              </a:rPr>
              <a:t>:</a:t>
            </a:r>
            <a:endParaRPr sz="2350">
              <a:latin typeface="Trebuchet MS"/>
              <a:cs typeface="Trebuchet MS"/>
            </a:endParaRPr>
          </a:p>
        </p:txBody>
      </p:sp>
      <p:pic>
        <p:nvPicPr>
          <p:cNvPr id="27" name="object 2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6784659" y="9722024"/>
            <a:ext cx="225674" cy="225673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1016000" y="9647656"/>
            <a:ext cx="1519555" cy="208279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200" spc="-10">
                <a:solidFill>
                  <a:srgbClr val="092A3B"/>
                </a:solidFill>
                <a:latin typeface="Trebuchet MS"/>
                <a:cs typeface="Trebuchet MS"/>
                <a:hlinkClick r:id="rId11"/>
              </a:rPr>
              <a:t>www.finanshels.com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7158158" y="9690726"/>
            <a:ext cx="260985" cy="268605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600" spc="55">
                <a:solidFill>
                  <a:srgbClr val="0D2E32"/>
                </a:solidFill>
                <a:latin typeface="Trebuchet MS"/>
                <a:cs typeface="Trebuchet MS"/>
              </a:rPr>
              <a:t>02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7657" y="1556984"/>
            <a:ext cx="1710055" cy="2209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 spc="-30" b="1">
                <a:latin typeface="Trebuchet MS"/>
                <a:cs typeface="Trebuchet MS"/>
              </a:rPr>
              <a:t>Trusted</a:t>
            </a:r>
            <a:r>
              <a:rPr dirty="0" sz="1250" spc="-229" b="1">
                <a:latin typeface="Trebuchet MS"/>
                <a:cs typeface="Trebuchet MS"/>
              </a:rPr>
              <a:t> </a:t>
            </a:r>
            <a:r>
              <a:rPr dirty="0" sz="1250" b="1">
                <a:latin typeface="Trebuchet MS"/>
                <a:cs typeface="Trebuchet MS"/>
              </a:rPr>
              <a:t>By</a:t>
            </a:r>
            <a:r>
              <a:rPr dirty="0" sz="1250" spc="-229" b="1">
                <a:latin typeface="Trebuchet MS"/>
                <a:cs typeface="Trebuchet MS"/>
              </a:rPr>
              <a:t> </a:t>
            </a:r>
            <a:r>
              <a:rPr dirty="0" sz="1250" spc="55" b="1">
                <a:latin typeface="Trebuchet MS"/>
                <a:cs typeface="Trebuchet MS"/>
              </a:rPr>
              <a:t>7000+SMEs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36709" y="7276431"/>
            <a:ext cx="2583180" cy="0"/>
          </a:xfrm>
          <a:custGeom>
            <a:avLst/>
            <a:gdLst/>
            <a:ahLst/>
            <a:cxnLst/>
            <a:rect l="l" t="t" r="r" b="b"/>
            <a:pathLst>
              <a:path w="2583179" h="0">
                <a:moveTo>
                  <a:pt x="0" y="0"/>
                </a:moveTo>
                <a:lnTo>
                  <a:pt x="2582948" y="0"/>
                </a:lnTo>
              </a:path>
            </a:pathLst>
          </a:custGeom>
          <a:ln w="9524">
            <a:solidFill>
              <a:srgbClr val="F1660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033462" y="8243527"/>
            <a:ext cx="2586355" cy="0"/>
          </a:xfrm>
          <a:custGeom>
            <a:avLst/>
            <a:gdLst/>
            <a:ahLst/>
            <a:cxnLst/>
            <a:rect l="l" t="t" r="r" b="b"/>
            <a:pathLst>
              <a:path w="2586354" h="0">
                <a:moveTo>
                  <a:pt x="0" y="0"/>
                </a:moveTo>
                <a:lnTo>
                  <a:pt x="2586195" y="0"/>
                </a:lnTo>
              </a:path>
            </a:pathLst>
          </a:custGeom>
          <a:ln w="9524">
            <a:solidFill>
              <a:srgbClr val="F1660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33462" y="9048700"/>
            <a:ext cx="2586355" cy="0"/>
          </a:xfrm>
          <a:custGeom>
            <a:avLst/>
            <a:gdLst/>
            <a:ahLst/>
            <a:cxnLst/>
            <a:rect l="l" t="t" r="r" b="b"/>
            <a:pathLst>
              <a:path w="2586354" h="0">
                <a:moveTo>
                  <a:pt x="0" y="0"/>
                </a:moveTo>
                <a:lnTo>
                  <a:pt x="2586195" y="0"/>
                </a:lnTo>
              </a:path>
            </a:pathLst>
          </a:custGeom>
          <a:ln w="9524">
            <a:solidFill>
              <a:srgbClr val="F1660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51435">
              <a:lnSpc>
                <a:spcPct val="100000"/>
              </a:lnSpc>
              <a:spcBef>
                <a:spcPts val="100"/>
              </a:spcBef>
            </a:pPr>
            <a:r>
              <a:rPr dirty="0" spc="70"/>
              <a:t>Our</a:t>
            </a:r>
            <a:r>
              <a:rPr dirty="0" spc="-575"/>
              <a:t> </a:t>
            </a:r>
            <a:r>
              <a:rPr dirty="0" spc="175"/>
              <a:t>Mission</a:t>
            </a:r>
            <a:r>
              <a:rPr dirty="0" spc="-575"/>
              <a:t> </a:t>
            </a:r>
            <a:r>
              <a:rPr dirty="0" spc="-165"/>
              <a:t>&amp;</a:t>
            </a:r>
            <a:r>
              <a:rPr dirty="0" spc="-570"/>
              <a:t> </a:t>
            </a:r>
            <a:r>
              <a:rPr dirty="0" spc="114"/>
              <a:t>Values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13736001" y="2767285"/>
            <a:ext cx="3667125" cy="2759075"/>
            <a:chOff x="13736001" y="2767285"/>
            <a:chExt cx="3667125" cy="275907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56956" y="2788240"/>
              <a:ext cx="3628422" cy="271712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3745526" y="2776810"/>
              <a:ext cx="3648075" cy="2740025"/>
            </a:xfrm>
            <a:custGeom>
              <a:avLst/>
              <a:gdLst/>
              <a:ahLst/>
              <a:cxnLst/>
              <a:rect l="l" t="t" r="r" b="b"/>
              <a:pathLst>
                <a:path w="3648075" h="2740025">
                  <a:moveTo>
                    <a:pt x="3648075" y="0"/>
                  </a:moveTo>
                  <a:lnTo>
                    <a:pt x="0" y="0"/>
                  </a:lnTo>
                  <a:lnTo>
                    <a:pt x="0" y="2739925"/>
                  </a:lnTo>
                  <a:lnTo>
                    <a:pt x="3648075" y="2739925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/>
          <p:cNvGrpSpPr/>
          <p:nvPr/>
        </p:nvGrpSpPr>
        <p:grpSpPr>
          <a:xfrm>
            <a:off x="13736000" y="5899627"/>
            <a:ext cx="3667125" cy="2762250"/>
            <a:chOff x="13736000" y="5899627"/>
            <a:chExt cx="3667125" cy="276225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56955" y="5920582"/>
              <a:ext cx="3628422" cy="272472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3745525" y="5909152"/>
              <a:ext cx="3648075" cy="2743200"/>
            </a:xfrm>
            <a:custGeom>
              <a:avLst/>
              <a:gdLst/>
              <a:ahLst/>
              <a:cxnLst/>
              <a:rect l="l" t="t" r="r" b="b"/>
              <a:pathLst>
                <a:path w="3648075" h="2743200">
                  <a:moveTo>
                    <a:pt x="3648075" y="0"/>
                  </a:moveTo>
                  <a:lnTo>
                    <a:pt x="0" y="0"/>
                  </a:lnTo>
                  <a:lnTo>
                    <a:pt x="0" y="274320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055352" y="6689437"/>
            <a:ext cx="30226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60" b="1">
                <a:solidFill>
                  <a:srgbClr val="2A292A"/>
                </a:solidFill>
                <a:latin typeface="Trebuchet MS"/>
                <a:cs typeface="Trebuchet MS"/>
              </a:rPr>
              <a:t>01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80122" y="6703724"/>
            <a:ext cx="686371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5" b="1">
                <a:solidFill>
                  <a:srgbClr val="092A3B"/>
                </a:solidFill>
                <a:latin typeface="Trebuchet MS"/>
                <a:cs typeface="Trebuchet MS"/>
              </a:rPr>
              <a:t>Personalized</a:t>
            </a:r>
            <a:r>
              <a:rPr dirty="0" sz="1700" spc="-220" b="1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 spc="-35" b="1">
                <a:solidFill>
                  <a:srgbClr val="092A3B"/>
                </a:solidFill>
                <a:latin typeface="Trebuchet MS"/>
                <a:cs typeface="Trebuchet MS"/>
              </a:rPr>
              <a:t>Service:</a:t>
            </a:r>
            <a:r>
              <a:rPr dirty="0" sz="1700" spc="-105" b="1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 spc="-55">
                <a:solidFill>
                  <a:srgbClr val="3C3C3F"/>
                </a:solidFill>
                <a:latin typeface="Trebuchet MS"/>
                <a:cs typeface="Trebuchet MS"/>
              </a:rPr>
              <a:t>Tailoring</a:t>
            </a:r>
            <a:r>
              <a:rPr dirty="0" sz="1700" spc="-12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25">
                <a:solidFill>
                  <a:srgbClr val="3C3C3F"/>
                </a:solidFill>
                <a:latin typeface="Trebuchet MS"/>
                <a:cs typeface="Trebuchet MS"/>
              </a:rPr>
              <a:t>solutions</a:t>
            </a:r>
            <a:r>
              <a:rPr dirty="0" sz="1700" spc="-114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30">
                <a:solidFill>
                  <a:srgbClr val="3C3C3F"/>
                </a:solidFill>
                <a:latin typeface="Trebuchet MS"/>
                <a:cs typeface="Trebuchet MS"/>
              </a:rPr>
              <a:t>to</a:t>
            </a:r>
            <a:r>
              <a:rPr dirty="0" sz="1700" spc="-114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3C3C3F"/>
                </a:solidFill>
                <a:latin typeface="Trebuchet MS"/>
                <a:cs typeface="Trebuchet MS"/>
              </a:rPr>
              <a:t>your</a:t>
            </a:r>
            <a:r>
              <a:rPr dirty="0" sz="1700" spc="-114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30">
                <a:solidFill>
                  <a:srgbClr val="3C3C3F"/>
                </a:solidFill>
                <a:latin typeface="Trebuchet MS"/>
                <a:cs typeface="Trebuchet MS"/>
              </a:rPr>
              <a:t>specific</a:t>
            </a:r>
            <a:r>
              <a:rPr dirty="0" sz="1700" spc="-114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3C3C3F"/>
                </a:solidFill>
                <a:latin typeface="Trebuchet MS"/>
                <a:cs typeface="Trebuchet MS"/>
              </a:rPr>
              <a:t>business</a:t>
            </a:r>
            <a:r>
              <a:rPr dirty="0" sz="1700" spc="-114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3C3C3F"/>
                </a:solidFill>
                <a:latin typeface="Trebuchet MS"/>
                <a:cs typeface="Trebuchet MS"/>
              </a:rPr>
              <a:t>needs.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85922" y="7611456"/>
            <a:ext cx="34226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40" b="1">
                <a:solidFill>
                  <a:srgbClr val="2A292A"/>
                </a:solidFill>
                <a:latin typeface="Trebuchet MS"/>
                <a:cs typeface="Trebuchet MS"/>
              </a:rPr>
              <a:t>02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80122" y="7635439"/>
            <a:ext cx="957643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b="1">
                <a:solidFill>
                  <a:srgbClr val="092A3B"/>
                </a:solidFill>
                <a:latin typeface="Trebuchet MS"/>
                <a:cs typeface="Trebuchet MS"/>
              </a:rPr>
              <a:t>Transparency</a:t>
            </a:r>
            <a:r>
              <a:rPr dirty="0" sz="1700" spc="-250" b="1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 spc="-60" b="1">
                <a:solidFill>
                  <a:srgbClr val="092A3B"/>
                </a:solidFill>
                <a:latin typeface="Trebuchet MS"/>
                <a:cs typeface="Trebuchet MS"/>
              </a:rPr>
              <a:t>&amp;</a:t>
            </a:r>
            <a:r>
              <a:rPr dirty="0" sz="1700" spc="-245" b="1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 spc="-30" b="1">
                <a:solidFill>
                  <a:srgbClr val="092A3B"/>
                </a:solidFill>
                <a:latin typeface="Trebuchet MS"/>
                <a:cs typeface="Trebuchet MS"/>
              </a:rPr>
              <a:t>Compliance:</a:t>
            </a:r>
            <a:r>
              <a:rPr dirty="0" sz="1700" spc="-160" b="1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 spc="70">
                <a:solidFill>
                  <a:srgbClr val="3C3C3F"/>
                </a:solidFill>
                <a:latin typeface="Trebuchet MS"/>
                <a:cs typeface="Trebuchet MS"/>
              </a:rPr>
              <a:t>We</a:t>
            </a:r>
            <a:r>
              <a:rPr dirty="0" sz="1700" spc="-155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3C3C3F"/>
                </a:solidFill>
                <a:latin typeface="Trebuchet MS"/>
                <a:cs typeface="Trebuchet MS"/>
              </a:rPr>
              <a:t>ensure</a:t>
            </a:r>
            <a:r>
              <a:rPr dirty="0" sz="1700" spc="-16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60">
                <a:solidFill>
                  <a:srgbClr val="3C3C3F"/>
                </a:solidFill>
                <a:latin typeface="Trebuchet MS"/>
                <a:cs typeface="Trebuchet MS"/>
              </a:rPr>
              <a:t>that</a:t>
            </a:r>
            <a:r>
              <a:rPr dirty="0" sz="1700" spc="-16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105">
                <a:solidFill>
                  <a:srgbClr val="3C3C3F"/>
                </a:solidFill>
                <a:latin typeface="Trebuchet MS"/>
                <a:cs typeface="Trebuchet MS"/>
              </a:rPr>
              <a:t>all</a:t>
            </a:r>
            <a:r>
              <a:rPr dirty="0" sz="1700" spc="-155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35">
                <a:solidFill>
                  <a:srgbClr val="3C3C3F"/>
                </a:solidFill>
                <a:latin typeface="Trebuchet MS"/>
                <a:cs typeface="Trebuchet MS"/>
              </a:rPr>
              <a:t>regulations</a:t>
            </a:r>
            <a:r>
              <a:rPr dirty="0" sz="1700" spc="-16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20">
                <a:solidFill>
                  <a:srgbClr val="3C3C3F"/>
                </a:solidFill>
                <a:latin typeface="Trebuchet MS"/>
                <a:cs typeface="Trebuchet MS"/>
              </a:rPr>
              <a:t>are</a:t>
            </a:r>
            <a:r>
              <a:rPr dirty="0" sz="1700" spc="-155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40">
                <a:solidFill>
                  <a:srgbClr val="3C3C3F"/>
                </a:solidFill>
                <a:latin typeface="Trebuchet MS"/>
                <a:cs typeface="Trebuchet MS"/>
              </a:rPr>
              <a:t>met</a:t>
            </a:r>
            <a:r>
              <a:rPr dirty="0" sz="1700" spc="-16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3C3C3F"/>
                </a:solidFill>
                <a:latin typeface="Trebuchet MS"/>
                <a:cs typeface="Trebuchet MS"/>
              </a:rPr>
              <a:t>and</a:t>
            </a:r>
            <a:r>
              <a:rPr dirty="0" sz="1700" spc="-155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25">
                <a:solidFill>
                  <a:srgbClr val="3C3C3F"/>
                </a:solidFill>
                <a:latin typeface="Trebuchet MS"/>
                <a:cs typeface="Trebuchet MS"/>
              </a:rPr>
              <a:t>provide</a:t>
            </a:r>
            <a:r>
              <a:rPr dirty="0" sz="1700" spc="-16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45">
                <a:solidFill>
                  <a:srgbClr val="3C3C3F"/>
                </a:solidFill>
                <a:latin typeface="Trebuchet MS"/>
                <a:cs typeface="Trebuchet MS"/>
              </a:rPr>
              <a:t>clear</a:t>
            </a:r>
            <a:r>
              <a:rPr dirty="0" sz="1700" spc="-155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20">
                <a:solidFill>
                  <a:srgbClr val="3C3C3F"/>
                </a:solidFill>
                <a:latin typeface="Trebuchet MS"/>
                <a:cs typeface="Trebuchet MS"/>
              </a:rPr>
              <a:t>communication.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pc="60"/>
              <a:t>Our</a:t>
            </a:r>
            <a:r>
              <a:rPr dirty="0" spc="-95"/>
              <a:t> </a:t>
            </a:r>
            <a:r>
              <a:rPr dirty="0" spc="80"/>
              <a:t>mission</a:t>
            </a:r>
            <a:r>
              <a:rPr dirty="0" spc="-90"/>
              <a:t> </a:t>
            </a:r>
            <a:r>
              <a:rPr dirty="0" spc="90"/>
              <a:t>is</a:t>
            </a:r>
            <a:r>
              <a:rPr dirty="0" spc="-95"/>
              <a:t> </a:t>
            </a:r>
            <a:r>
              <a:rPr dirty="0"/>
              <a:t>to</a:t>
            </a:r>
            <a:r>
              <a:rPr dirty="0" spc="-90"/>
              <a:t> </a:t>
            </a:r>
            <a:r>
              <a:rPr dirty="0"/>
              <a:t>help</a:t>
            </a:r>
            <a:r>
              <a:rPr dirty="0" spc="-90"/>
              <a:t> </a:t>
            </a:r>
            <a:r>
              <a:rPr dirty="0" spc="75"/>
              <a:t>you</a:t>
            </a:r>
            <a:r>
              <a:rPr dirty="0" spc="-95"/>
              <a:t> </a:t>
            </a:r>
            <a:r>
              <a:rPr dirty="0" spc="105"/>
              <a:t>grow</a:t>
            </a:r>
            <a:r>
              <a:rPr dirty="0" spc="-90"/>
              <a:t> </a:t>
            </a:r>
            <a:r>
              <a:rPr dirty="0" spc="55"/>
              <a:t>your</a:t>
            </a:r>
            <a:r>
              <a:rPr dirty="0" spc="-90"/>
              <a:t> </a:t>
            </a:r>
            <a:r>
              <a:rPr dirty="0" spc="95"/>
              <a:t>business</a:t>
            </a:r>
          </a:p>
          <a:p>
            <a:pPr algn="just" marL="24765" marR="5080">
              <a:lnSpc>
                <a:spcPct val="113999"/>
              </a:lnSpc>
              <a:spcBef>
                <a:spcPts val="965"/>
              </a:spcBef>
            </a:pPr>
            <a:r>
              <a:rPr dirty="0" sz="1700" spc="50" b="0">
                <a:solidFill>
                  <a:srgbClr val="3C3C3F"/>
                </a:solidFill>
                <a:latin typeface="Trebuchet MS"/>
                <a:cs typeface="Trebuchet MS"/>
              </a:rPr>
              <a:t>We</a:t>
            </a:r>
            <a:r>
              <a:rPr dirty="0" sz="1700" spc="-120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40" b="0">
                <a:solidFill>
                  <a:srgbClr val="3C3C3F"/>
                </a:solidFill>
                <a:latin typeface="Trebuchet MS"/>
                <a:cs typeface="Trebuchet MS"/>
              </a:rPr>
              <a:t>are</a:t>
            </a:r>
            <a:r>
              <a:rPr dirty="0" sz="1700" spc="-45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b="0">
                <a:solidFill>
                  <a:srgbClr val="3C3C3F"/>
                </a:solidFill>
                <a:latin typeface="Trebuchet MS"/>
                <a:cs typeface="Trebuchet MS"/>
              </a:rPr>
              <a:t>on</a:t>
            </a:r>
            <a:r>
              <a:rPr dirty="0" sz="1700" spc="-50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35" b="0">
                <a:solidFill>
                  <a:srgbClr val="3C3C3F"/>
                </a:solidFill>
                <a:latin typeface="Trebuchet MS"/>
                <a:cs typeface="Trebuchet MS"/>
              </a:rPr>
              <a:t>a</a:t>
            </a:r>
            <a:r>
              <a:rPr dirty="0" sz="1700" spc="-50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20" b="0">
                <a:solidFill>
                  <a:srgbClr val="3C3C3F"/>
                </a:solidFill>
                <a:latin typeface="Trebuchet MS"/>
                <a:cs typeface="Trebuchet MS"/>
              </a:rPr>
              <a:t>mission</a:t>
            </a:r>
            <a:r>
              <a:rPr dirty="0" sz="1700" spc="-50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75" b="0">
                <a:solidFill>
                  <a:srgbClr val="3C3C3F"/>
                </a:solidFill>
                <a:latin typeface="Trebuchet MS"/>
                <a:cs typeface="Trebuchet MS"/>
              </a:rPr>
              <a:t>to</a:t>
            </a:r>
            <a:r>
              <a:rPr dirty="0" sz="1700" spc="-50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70" b="0">
                <a:solidFill>
                  <a:srgbClr val="3C3C3F"/>
                </a:solidFill>
                <a:latin typeface="Trebuchet MS"/>
                <a:cs typeface="Trebuchet MS"/>
              </a:rPr>
              <a:t>simplify</a:t>
            </a:r>
            <a:r>
              <a:rPr dirty="0" sz="1700" spc="-45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80" b="0">
                <a:solidFill>
                  <a:srgbClr val="3C3C3F"/>
                </a:solidFill>
                <a:latin typeface="Trebuchet MS"/>
                <a:cs typeface="Trebuchet MS"/>
              </a:rPr>
              <a:t>financial</a:t>
            </a:r>
            <a:r>
              <a:rPr dirty="0" sz="1700" spc="-50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135" b="0">
                <a:solidFill>
                  <a:srgbClr val="3C3C3F"/>
                </a:solidFill>
                <a:latin typeface="Trebuchet MS"/>
                <a:cs typeface="Trebuchet MS"/>
              </a:rPr>
              <a:t>life</a:t>
            </a:r>
            <a:r>
              <a:rPr dirty="0" sz="1700" spc="5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65" b="0">
                <a:solidFill>
                  <a:srgbClr val="3C3C3F"/>
                </a:solidFill>
                <a:latin typeface="Trebuchet MS"/>
                <a:cs typeface="Trebuchet MS"/>
              </a:rPr>
              <a:t>for</a:t>
            </a:r>
            <a:r>
              <a:rPr dirty="0" sz="1700" spc="-45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155" b="0">
                <a:solidFill>
                  <a:srgbClr val="3C3C3F"/>
                </a:solidFill>
                <a:latin typeface="Trebuchet MS"/>
                <a:cs typeface="Trebuchet MS"/>
              </a:rPr>
              <a:t>SMEs</a:t>
            </a:r>
            <a:r>
              <a:rPr dirty="0" sz="1700" spc="-50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20" b="0">
                <a:solidFill>
                  <a:srgbClr val="3C3C3F"/>
                </a:solidFill>
                <a:latin typeface="Trebuchet MS"/>
                <a:cs typeface="Trebuchet MS"/>
              </a:rPr>
              <a:t>through</a:t>
            </a:r>
            <a:r>
              <a:rPr dirty="0" sz="1700" spc="-50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35" b="0">
                <a:solidFill>
                  <a:srgbClr val="3C3C3F"/>
                </a:solidFill>
                <a:latin typeface="Trebuchet MS"/>
                <a:cs typeface="Trebuchet MS"/>
              </a:rPr>
              <a:t>a</a:t>
            </a:r>
            <a:r>
              <a:rPr dirty="0" sz="1700" spc="-50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10" b="0">
                <a:solidFill>
                  <a:srgbClr val="3C3C3F"/>
                </a:solidFill>
                <a:latin typeface="Trebuchet MS"/>
                <a:cs typeface="Trebuchet MS"/>
              </a:rPr>
              <a:t>technology-</a:t>
            </a:r>
            <a:r>
              <a:rPr dirty="0" sz="1700" spc="-85" b="0">
                <a:solidFill>
                  <a:srgbClr val="3C3C3F"/>
                </a:solidFill>
                <a:latin typeface="Trebuchet MS"/>
                <a:cs typeface="Trebuchet MS"/>
              </a:rPr>
              <a:t>first</a:t>
            </a:r>
            <a:r>
              <a:rPr dirty="0" sz="1700" spc="-40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10" b="0">
                <a:solidFill>
                  <a:srgbClr val="3C3C3F"/>
                </a:solidFill>
                <a:latin typeface="Trebuchet MS"/>
                <a:cs typeface="Trebuchet MS"/>
              </a:rPr>
              <a:t>approach</a:t>
            </a:r>
            <a:r>
              <a:rPr dirty="0" sz="1700" spc="-50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85" b="0">
                <a:solidFill>
                  <a:srgbClr val="3C3C3F"/>
                </a:solidFill>
                <a:latin typeface="Trebuchet MS"/>
                <a:cs typeface="Trebuchet MS"/>
              </a:rPr>
              <a:t>that</a:t>
            </a:r>
            <a:r>
              <a:rPr dirty="0" sz="1700" spc="-45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b="0">
                <a:solidFill>
                  <a:srgbClr val="3C3C3F"/>
                </a:solidFill>
                <a:latin typeface="Trebuchet MS"/>
                <a:cs typeface="Trebuchet MS"/>
              </a:rPr>
              <a:t>focuses</a:t>
            </a:r>
            <a:r>
              <a:rPr dirty="0" sz="1700" spc="-45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b="0">
                <a:solidFill>
                  <a:srgbClr val="3C3C3F"/>
                </a:solidFill>
                <a:latin typeface="Trebuchet MS"/>
                <a:cs typeface="Trebuchet MS"/>
              </a:rPr>
              <a:t>on</a:t>
            </a:r>
            <a:r>
              <a:rPr dirty="0" sz="1700" spc="-50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30" b="0">
                <a:solidFill>
                  <a:srgbClr val="3C3C3F"/>
                </a:solidFill>
                <a:latin typeface="Trebuchet MS"/>
                <a:cs typeface="Trebuchet MS"/>
              </a:rPr>
              <a:t>providing</a:t>
            </a:r>
            <a:r>
              <a:rPr dirty="0" sz="1700" spc="-50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10" b="0">
                <a:solidFill>
                  <a:srgbClr val="3C3C3F"/>
                </a:solidFill>
                <a:latin typeface="Trebuchet MS"/>
                <a:cs typeface="Trebuchet MS"/>
              </a:rPr>
              <a:t>tools </a:t>
            </a:r>
            <a:r>
              <a:rPr dirty="0" sz="1700" b="0">
                <a:solidFill>
                  <a:srgbClr val="3C3C3F"/>
                </a:solidFill>
                <a:latin typeface="Trebuchet MS"/>
                <a:cs typeface="Trebuchet MS"/>
              </a:rPr>
              <a:t>and</a:t>
            </a:r>
            <a:r>
              <a:rPr dirty="0" sz="1700" spc="-150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b="0">
                <a:solidFill>
                  <a:srgbClr val="3C3C3F"/>
                </a:solidFill>
                <a:latin typeface="Trebuchet MS"/>
                <a:cs typeface="Trebuchet MS"/>
              </a:rPr>
              <a:t>resources</a:t>
            </a:r>
            <a:r>
              <a:rPr dirty="0" sz="1700" spc="-145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35" b="0">
                <a:solidFill>
                  <a:srgbClr val="3C3C3F"/>
                </a:solidFill>
                <a:latin typeface="Trebuchet MS"/>
                <a:cs typeface="Trebuchet MS"/>
              </a:rPr>
              <a:t>for</a:t>
            </a:r>
            <a:r>
              <a:rPr dirty="0" sz="1700" spc="-145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70" b="0">
                <a:solidFill>
                  <a:srgbClr val="3C3C3F"/>
                </a:solidFill>
                <a:latin typeface="Trebuchet MS"/>
                <a:cs typeface="Trebuchet MS"/>
              </a:rPr>
              <a:t>a</a:t>
            </a:r>
            <a:r>
              <a:rPr dirty="0" sz="1700" spc="-145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b="0">
                <a:solidFill>
                  <a:srgbClr val="3C3C3F"/>
                </a:solidFill>
                <a:latin typeface="Trebuchet MS"/>
                <a:cs typeface="Trebuchet MS"/>
              </a:rPr>
              <a:t>new</a:t>
            </a:r>
            <a:r>
              <a:rPr dirty="0" sz="1700" spc="-145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35" b="0">
                <a:solidFill>
                  <a:srgbClr val="3C3C3F"/>
                </a:solidFill>
                <a:latin typeface="Trebuchet MS"/>
                <a:cs typeface="Trebuchet MS"/>
              </a:rPr>
              <a:t>generation</a:t>
            </a:r>
            <a:r>
              <a:rPr dirty="0" sz="1700" spc="-145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b="0">
                <a:solidFill>
                  <a:srgbClr val="3C3C3F"/>
                </a:solidFill>
                <a:latin typeface="Trebuchet MS"/>
                <a:cs typeface="Trebuchet MS"/>
              </a:rPr>
              <a:t>of</a:t>
            </a:r>
            <a:r>
              <a:rPr dirty="0" sz="1700" spc="-145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b="0">
                <a:solidFill>
                  <a:srgbClr val="3C3C3F"/>
                </a:solidFill>
                <a:latin typeface="Trebuchet MS"/>
                <a:cs typeface="Trebuchet MS"/>
              </a:rPr>
              <a:t>founders</a:t>
            </a:r>
            <a:r>
              <a:rPr dirty="0" sz="1700" spc="-145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30" b="0">
                <a:solidFill>
                  <a:srgbClr val="3C3C3F"/>
                </a:solidFill>
                <a:latin typeface="Trebuchet MS"/>
                <a:cs typeface="Trebuchet MS"/>
              </a:rPr>
              <a:t>to</a:t>
            </a:r>
            <a:r>
              <a:rPr dirty="0" sz="1700" spc="-145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b="0">
                <a:solidFill>
                  <a:srgbClr val="3C3C3F"/>
                </a:solidFill>
                <a:latin typeface="Trebuchet MS"/>
                <a:cs typeface="Trebuchet MS"/>
              </a:rPr>
              <a:t>manage</a:t>
            </a:r>
            <a:r>
              <a:rPr dirty="0" sz="1700" spc="-145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75" b="0">
                <a:solidFill>
                  <a:srgbClr val="3C3C3F"/>
                </a:solidFill>
                <a:latin typeface="Trebuchet MS"/>
                <a:cs typeface="Trebuchet MS"/>
              </a:rPr>
              <a:t>their</a:t>
            </a:r>
            <a:r>
              <a:rPr dirty="0" sz="1700" spc="-145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35" b="0">
                <a:solidFill>
                  <a:srgbClr val="3C3C3F"/>
                </a:solidFill>
                <a:latin typeface="Trebuchet MS"/>
                <a:cs typeface="Trebuchet MS"/>
              </a:rPr>
              <a:t>finance</a:t>
            </a:r>
            <a:r>
              <a:rPr dirty="0" sz="1700" spc="-145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10" b="0">
                <a:solidFill>
                  <a:srgbClr val="3C3C3F"/>
                </a:solidFill>
                <a:latin typeface="Trebuchet MS"/>
                <a:cs typeface="Trebuchet MS"/>
              </a:rPr>
              <a:t>seamlessly.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1700">
              <a:latin typeface="Trebuchet MS"/>
              <a:cs typeface="Trebuchet MS"/>
            </a:endParaRPr>
          </a:p>
          <a:p>
            <a:pPr algn="just" marL="24765">
              <a:lnSpc>
                <a:spcPct val="100000"/>
              </a:lnSpc>
            </a:pPr>
            <a:r>
              <a:rPr dirty="0" spc="200"/>
              <a:t>A</a:t>
            </a:r>
            <a:r>
              <a:rPr dirty="0" spc="-105"/>
              <a:t> </a:t>
            </a:r>
            <a:r>
              <a:rPr dirty="0" spc="60"/>
              <a:t>great</a:t>
            </a:r>
            <a:r>
              <a:rPr dirty="0" spc="-100"/>
              <a:t> </a:t>
            </a:r>
            <a:r>
              <a:rPr dirty="0" spc="75"/>
              <a:t>story</a:t>
            </a:r>
            <a:r>
              <a:rPr dirty="0" spc="-105"/>
              <a:t> </a:t>
            </a:r>
            <a:r>
              <a:rPr dirty="0" spc="90"/>
              <a:t>always</a:t>
            </a:r>
            <a:r>
              <a:rPr dirty="0" spc="-100"/>
              <a:t> </a:t>
            </a:r>
            <a:r>
              <a:rPr dirty="0" spc="80"/>
              <a:t>starts</a:t>
            </a:r>
            <a:r>
              <a:rPr dirty="0" spc="-100"/>
              <a:t> </a:t>
            </a:r>
            <a:r>
              <a:rPr dirty="0"/>
              <a:t>with</a:t>
            </a:r>
            <a:r>
              <a:rPr dirty="0" spc="-105"/>
              <a:t> </a:t>
            </a:r>
            <a:r>
              <a:rPr dirty="0" spc="75"/>
              <a:t>a</a:t>
            </a:r>
            <a:r>
              <a:rPr dirty="0" spc="-100"/>
              <a:t> </a:t>
            </a:r>
            <a:r>
              <a:rPr dirty="0" spc="65"/>
              <a:t>great</a:t>
            </a:r>
            <a:r>
              <a:rPr dirty="0" spc="-100"/>
              <a:t> </a:t>
            </a:r>
            <a:r>
              <a:rPr dirty="0" spc="70"/>
              <a:t>Vision</a:t>
            </a:r>
          </a:p>
          <a:p>
            <a:pPr algn="just" marL="24765" marR="5080">
              <a:lnSpc>
                <a:spcPct val="113999"/>
              </a:lnSpc>
              <a:spcBef>
                <a:spcPts val="1015"/>
              </a:spcBef>
            </a:pPr>
            <a:r>
              <a:rPr dirty="0" sz="1700" spc="-60" b="0">
                <a:solidFill>
                  <a:srgbClr val="3C3C3F"/>
                </a:solidFill>
                <a:latin typeface="Trebuchet MS"/>
                <a:cs typeface="Trebuchet MS"/>
              </a:rPr>
              <a:t>Financial</a:t>
            </a:r>
            <a:r>
              <a:rPr dirty="0" sz="1700" spc="-70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20" b="0">
                <a:solidFill>
                  <a:srgbClr val="3C3C3F"/>
                </a:solidFill>
                <a:latin typeface="Trebuchet MS"/>
                <a:cs typeface="Trebuchet MS"/>
              </a:rPr>
              <a:t>mastery</a:t>
            </a:r>
            <a:r>
              <a:rPr dirty="0" sz="1700" spc="-110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10" b="0">
                <a:solidFill>
                  <a:srgbClr val="3C3C3F"/>
                </a:solidFill>
                <a:latin typeface="Trebuchet MS"/>
                <a:cs typeface="Trebuchet MS"/>
              </a:rPr>
              <a:t>is</a:t>
            </a:r>
            <a:r>
              <a:rPr dirty="0" sz="1700" spc="-114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65" b="0">
                <a:solidFill>
                  <a:srgbClr val="3C3C3F"/>
                </a:solidFill>
                <a:latin typeface="Trebuchet MS"/>
                <a:cs typeface="Trebuchet MS"/>
              </a:rPr>
              <a:t>the </a:t>
            </a:r>
            <a:r>
              <a:rPr dirty="0" sz="1700" spc="-45" b="0">
                <a:solidFill>
                  <a:srgbClr val="3C3C3F"/>
                </a:solidFill>
                <a:latin typeface="Trebuchet MS"/>
                <a:cs typeface="Trebuchet MS"/>
              </a:rPr>
              <a:t>idea</a:t>
            </a:r>
            <a:r>
              <a:rPr dirty="0" sz="1700" spc="-75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85" b="0">
                <a:solidFill>
                  <a:srgbClr val="3C3C3F"/>
                </a:solidFill>
                <a:latin typeface="Trebuchet MS"/>
                <a:cs typeface="Trebuchet MS"/>
              </a:rPr>
              <a:t>that</a:t>
            </a:r>
            <a:r>
              <a:rPr dirty="0" sz="1700" spc="-45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35" b="0">
                <a:solidFill>
                  <a:srgbClr val="3C3C3F"/>
                </a:solidFill>
                <a:latin typeface="Trebuchet MS"/>
                <a:cs typeface="Trebuchet MS"/>
              </a:rPr>
              <a:t>everyone,</a:t>
            </a:r>
            <a:r>
              <a:rPr dirty="0" sz="1700" spc="-60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b="0">
                <a:solidFill>
                  <a:srgbClr val="3C3C3F"/>
                </a:solidFill>
                <a:latin typeface="Trebuchet MS"/>
                <a:cs typeface="Trebuchet MS"/>
              </a:rPr>
              <a:t>regardless</a:t>
            </a:r>
            <a:r>
              <a:rPr dirty="0" sz="1700" spc="-60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30" b="0">
                <a:solidFill>
                  <a:srgbClr val="3C3C3F"/>
                </a:solidFill>
                <a:latin typeface="Trebuchet MS"/>
                <a:cs typeface="Trebuchet MS"/>
              </a:rPr>
              <a:t>of</a:t>
            </a:r>
            <a:r>
              <a:rPr dirty="0" sz="1700" spc="-60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20" b="0">
                <a:solidFill>
                  <a:srgbClr val="3C3C3F"/>
                </a:solidFill>
                <a:latin typeface="Trebuchet MS"/>
                <a:cs typeface="Trebuchet MS"/>
              </a:rPr>
              <a:t>economic</a:t>
            </a:r>
            <a:r>
              <a:rPr dirty="0" sz="1700" spc="-60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40" b="0">
                <a:solidFill>
                  <a:srgbClr val="3C3C3F"/>
                </a:solidFill>
                <a:latin typeface="Trebuchet MS"/>
                <a:cs typeface="Trebuchet MS"/>
              </a:rPr>
              <a:t>standing,</a:t>
            </a:r>
            <a:r>
              <a:rPr dirty="0" sz="1700" spc="-60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b="0">
                <a:solidFill>
                  <a:srgbClr val="3C3C3F"/>
                </a:solidFill>
                <a:latin typeface="Trebuchet MS"/>
                <a:cs typeface="Trebuchet MS"/>
              </a:rPr>
              <a:t>should</a:t>
            </a:r>
            <a:r>
              <a:rPr dirty="0" sz="1700" spc="-60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b="0">
                <a:solidFill>
                  <a:srgbClr val="3C3C3F"/>
                </a:solidFill>
                <a:latin typeface="Trebuchet MS"/>
                <a:cs typeface="Trebuchet MS"/>
              </a:rPr>
              <a:t>have</a:t>
            </a:r>
            <a:r>
              <a:rPr dirty="0" sz="1700" spc="-60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150" b="0">
                <a:solidFill>
                  <a:srgbClr val="3C3C3F"/>
                </a:solidFill>
                <a:latin typeface="Trebuchet MS"/>
                <a:cs typeface="Trebuchet MS"/>
              </a:rPr>
              <a:t>full</a:t>
            </a:r>
            <a:r>
              <a:rPr dirty="0" sz="1700" spc="20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60" b="0">
                <a:solidFill>
                  <a:srgbClr val="3C3C3F"/>
                </a:solidFill>
                <a:latin typeface="Trebuchet MS"/>
                <a:cs typeface="Trebuchet MS"/>
              </a:rPr>
              <a:t>control </a:t>
            </a:r>
            <a:r>
              <a:rPr dirty="0" sz="1700" spc="-30" b="0">
                <a:solidFill>
                  <a:srgbClr val="3C3C3F"/>
                </a:solidFill>
                <a:latin typeface="Trebuchet MS"/>
                <a:cs typeface="Trebuchet MS"/>
              </a:rPr>
              <a:t>of</a:t>
            </a:r>
            <a:r>
              <a:rPr dirty="0" sz="1700" spc="-60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100" b="0">
                <a:solidFill>
                  <a:srgbClr val="3C3C3F"/>
                </a:solidFill>
                <a:latin typeface="Trebuchet MS"/>
                <a:cs typeface="Trebuchet MS"/>
              </a:rPr>
              <a:t>their</a:t>
            </a:r>
            <a:r>
              <a:rPr dirty="0" sz="1700" spc="-30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50" b="0">
                <a:solidFill>
                  <a:srgbClr val="3C3C3F"/>
                </a:solidFill>
                <a:latin typeface="Trebuchet MS"/>
                <a:cs typeface="Trebuchet MS"/>
              </a:rPr>
              <a:t>finances.</a:t>
            </a:r>
            <a:r>
              <a:rPr dirty="0" sz="1700" spc="-60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20" b="0">
                <a:solidFill>
                  <a:srgbClr val="3C3C3F"/>
                </a:solidFill>
                <a:latin typeface="Trebuchet MS"/>
                <a:cs typeface="Trebuchet MS"/>
              </a:rPr>
              <a:t>It’s </a:t>
            </a:r>
            <a:r>
              <a:rPr dirty="0" sz="1700" b="0">
                <a:solidFill>
                  <a:srgbClr val="3C3C3F"/>
                </a:solidFill>
                <a:latin typeface="Trebuchet MS"/>
                <a:cs typeface="Trebuchet MS"/>
              </a:rPr>
              <a:t>more</a:t>
            </a:r>
            <a:r>
              <a:rPr dirty="0" sz="1700" spc="50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b="0">
                <a:solidFill>
                  <a:srgbClr val="3C3C3F"/>
                </a:solidFill>
                <a:latin typeface="Trebuchet MS"/>
                <a:cs typeface="Trebuchet MS"/>
              </a:rPr>
              <a:t>than</a:t>
            </a:r>
            <a:r>
              <a:rPr dirty="0" sz="1700" spc="55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b="0">
                <a:solidFill>
                  <a:srgbClr val="3C3C3F"/>
                </a:solidFill>
                <a:latin typeface="Trebuchet MS"/>
                <a:cs typeface="Trebuchet MS"/>
              </a:rPr>
              <a:t>knowing</a:t>
            </a:r>
            <a:r>
              <a:rPr dirty="0" sz="1700" spc="55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b="0">
                <a:solidFill>
                  <a:srgbClr val="3C3C3F"/>
                </a:solidFill>
                <a:latin typeface="Trebuchet MS"/>
                <a:cs typeface="Trebuchet MS"/>
              </a:rPr>
              <a:t>how</a:t>
            </a:r>
            <a:r>
              <a:rPr dirty="0" sz="1700" spc="55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b="0">
                <a:solidFill>
                  <a:srgbClr val="3C3C3F"/>
                </a:solidFill>
                <a:latin typeface="Trebuchet MS"/>
                <a:cs typeface="Trebuchet MS"/>
              </a:rPr>
              <a:t>to</a:t>
            </a:r>
            <a:r>
              <a:rPr dirty="0" sz="1700" spc="50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b="0">
                <a:solidFill>
                  <a:srgbClr val="3C3C3F"/>
                </a:solidFill>
                <a:latin typeface="Trebuchet MS"/>
                <a:cs typeface="Trebuchet MS"/>
              </a:rPr>
              <a:t>read</a:t>
            </a:r>
            <a:r>
              <a:rPr dirty="0" sz="1700" spc="55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b="0">
                <a:solidFill>
                  <a:srgbClr val="3C3C3F"/>
                </a:solidFill>
                <a:latin typeface="Trebuchet MS"/>
                <a:cs typeface="Trebuchet MS"/>
              </a:rPr>
              <a:t>an</a:t>
            </a:r>
            <a:r>
              <a:rPr dirty="0" sz="1700" spc="55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b="0">
                <a:solidFill>
                  <a:srgbClr val="3C3C3F"/>
                </a:solidFill>
                <a:latin typeface="Trebuchet MS"/>
                <a:cs typeface="Trebuchet MS"/>
              </a:rPr>
              <a:t>account</a:t>
            </a:r>
            <a:r>
              <a:rPr dirty="0" sz="1700" spc="55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10" b="0">
                <a:solidFill>
                  <a:srgbClr val="3C3C3F"/>
                </a:solidFill>
                <a:latin typeface="Trebuchet MS"/>
                <a:cs typeface="Trebuchet MS"/>
              </a:rPr>
              <a:t>statement—</a:t>
            </a:r>
            <a:r>
              <a:rPr dirty="0" sz="1700" spc="-95" b="0">
                <a:solidFill>
                  <a:srgbClr val="3C3C3F"/>
                </a:solidFill>
                <a:latin typeface="Trebuchet MS"/>
                <a:cs typeface="Trebuchet MS"/>
              </a:rPr>
              <a:t>it’s</a:t>
            </a:r>
            <a:r>
              <a:rPr dirty="0" sz="1700" spc="55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b="0">
                <a:solidFill>
                  <a:srgbClr val="3C3C3F"/>
                </a:solidFill>
                <a:latin typeface="Trebuchet MS"/>
                <a:cs typeface="Trebuchet MS"/>
              </a:rPr>
              <a:t>giving</a:t>
            </a:r>
            <a:r>
              <a:rPr dirty="0" sz="1700" spc="50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b="0">
                <a:solidFill>
                  <a:srgbClr val="3C3C3F"/>
                </a:solidFill>
                <a:latin typeface="Trebuchet MS"/>
                <a:cs typeface="Trebuchet MS"/>
              </a:rPr>
              <a:t>people</a:t>
            </a:r>
            <a:r>
              <a:rPr dirty="0" sz="1700" spc="55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b="0">
                <a:solidFill>
                  <a:srgbClr val="3C3C3F"/>
                </a:solidFill>
                <a:latin typeface="Trebuchet MS"/>
                <a:cs typeface="Trebuchet MS"/>
              </a:rPr>
              <a:t>the</a:t>
            </a:r>
            <a:r>
              <a:rPr dirty="0" sz="1700" spc="55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b="0">
                <a:solidFill>
                  <a:srgbClr val="3C3C3F"/>
                </a:solidFill>
                <a:latin typeface="Trebuchet MS"/>
                <a:cs typeface="Trebuchet MS"/>
              </a:rPr>
              <a:t>tools</a:t>
            </a:r>
            <a:r>
              <a:rPr dirty="0" sz="1700" spc="55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b="0">
                <a:solidFill>
                  <a:srgbClr val="3C3C3F"/>
                </a:solidFill>
                <a:latin typeface="Trebuchet MS"/>
                <a:cs typeface="Trebuchet MS"/>
              </a:rPr>
              <a:t>they</a:t>
            </a:r>
            <a:r>
              <a:rPr dirty="0" sz="1700" spc="50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b="0">
                <a:solidFill>
                  <a:srgbClr val="3C3C3F"/>
                </a:solidFill>
                <a:latin typeface="Trebuchet MS"/>
                <a:cs typeface="Trebuchet MS"/>
              </a:rPr>
              <a:t>need</a:t>
            </a:r>
            <a:r>
              <a:rPr dirty="0" sz="1700" spc="55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b="0">
                <a:solidFill>
                  <a:srgbClr val="3C3C3F"/>
                </a:solidFill>
                <a:latin typeface="Trebuchet MS"/>
                <a:cs typeface="Trebuchet MS"/>
              </a:rPr>
              <a:t>to</a:t>
            </a:r>
            <a:r>
              <a:rPr dirty="0" sz="1700" spc="55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b="0">
                <a:solidFill>
                  <a:srgbClr val="3C3C3F"/>
                </a:solidFill>
                <a:latin typeface="Trebuchet MS"/>
                <a:cs typeface="Trebuchet MS"/>
              </a:rPr>
              <a:t>stay</a:t>
            </a:r>
            <a:r>
              <a:rPr dirty="0" sz="1700" spc="55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b="0">
                <a:solidFill>
                  <a:srgbClr val="3C3C3F"/>
                </a:solidFill>
                <a:latin typeface="Trebuchet MS"/>
                <a:cs typeface="Trebuchet MS"/>
              </a:rPr>
              <a:t>on</a:t>
            </a:r>
            <a:r>
              <a:rPr dirty="0" sz="1700" spc="55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b="0">
                <a:solidFill>
                  <a:srgbClr val="3C3C3F"/>
                </a:solidFill>
                <a:latin typeface="Trebuchet MS"/>
                <a:cs typeface="Trebuchet MS"/>
              </a:rPr>
              <a:t>top</a:t>
            </a:r>
            <a:r>
              <a:rPr dirty="0" sz="1700" spc="50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b="0">
                <a:solidFill>
                  <a:srgbClr val="3C3C3F"/>
                </a:solidFill>
                <a:latin typeface="Trebuchet MS"/>
                <a:cs typeface="Trebuchet MS"/>
              </a:rPr>
              <a:t>of</a:t>
            </a:r>
            <a:r>
              <a:rPr dirty="0" sz="1700" spc="55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10" b="0">
                <a:solidFill>
                  <a:srgbClr val="3C3C3F"/>
                </a:solidFill>
                <a:latin typeface="Trebuchet MS"/>
                <a:cs typeface="Trebuchet MS"/>
              </a:rPr>
              <a:t>their </a:t>
            </a:r>
            <a:r>
              <a:rPr dirty="0" sz="1700" spc="-20" b="0">
                <a:solidFill>
                  <a:srgbClr val="3C3C3F"/>
                </a:solidFill>
                <a:latin typeface="Trebuchet MS"/>
                <a:cs typeface="Trebuchet MS"/>
              </a:rPr>
              <a:t>finances</a:t>
            </a:r>
            <a:r>
              <a:rPr dirty="0" sz="1700" spc="-140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b="0">
                <a:solidFill>
                  <a:srgbClr val="3C3C3F"/>
                </a:solidFill>
                <a:latin typeface="Trebuchet MS"/>
                <a:cs typeface="Trebuchet MS"/>
              </a:rPr>
              <a:t>and</a:t>
            </a:r>
            <a:r>
              <a:rPr dirty="0" sz="1700" spc="-135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30" b="0">
                <a:solidFill>
                  <a:srgbClr val="3C3C3F"/>
                </a:solidFill>
                <a:latin typeface="Trebuchet MS"/>
                <a:cs typeface="Trebuchet MS"/>
              </a:rPr>
              <a:t>improve</a:t>
            </a:r>
            <a:r>
              <a:rPr dirty="0" sz="1700" spc="-140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75" b="0">
                <a:solidFill>
                  <a:srgbClr val="3C3C3F"/>
                </a:solidFill>
                <a:latin typeface="Trebuchet MS"/>
                <a:cs typeface="Trebuchet MS"/>
              </a:rPr>
              <a:t>their</a:t>
            </a:r>
            <a:r>
              <a:rPr dirty="0" sz="1700" spc="-135" b="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10" b="0">
                <a:solidFill>
                  <a:srgbClr val="3C3C3F"/>
                </a:solidFill>
                <a:latin typeface="Trebuchet MS"/>
                <a:cs typeface="Trebuchet MS"/>
              </a:rPr>
              <a:t>lives.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85922" y="8575524"/>
            <a:ext cx="34988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70" b="1">
                <a:solidFill>
                  <a:srgbClr val="2A292A"/>
                </a:solidFill>
                <a:latin typeface="Trebuchet MS"/>
                <a:cs typeface="Trebuchet MS"/>
              </a:rPr>
              <a:t>03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708697" y="8576159"/>
            <a:ext cx="984758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b="1">
                <a:solidFill>
                  <a:srgbClr val="092A3B"/>
                </a:solidFill>
                <a:latin typeface="Trebuchet MS"/>
                <a:cs typeface="Trebuchet MS"/>
              </a:rPr>
              <a:t>End-</a:t>
            </a:r>
            <a:r>
              <a:rPr dirty="0" sz="1700" spc="-10" b="1">
                <a:solidFill>
                  <a:srgbClr val="092A3B"/>
                </a:solidFill>
                <a:latin typeface="Trebuchet MS"/>
                <a:cs typeface="Trebuchet MS"/>
              </a:rPr>
              <a:t>to-</a:t>
            </a:r>
            <a:r>
              <a:rPr dirty="0" sz="1700" b="1">
                <a:solidFill>
                  <a:srgbClr val="092A3B"/>
                </a:solidFill>
                <a:latin typeface="Trebuchet MS"/>
                <a:cs typeface="Trebuchet MS"/>
              </a:rPr>
              <a:t>End</a:t>
            </a:r>
            <a:r>
              <a:rPr dirty="0" sz="1700" spc="-240" b="1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 spc="-30" b="1">
                <a:solidFill>
                  <a:srgbClr val="092A3B"/>
                </a:solidFill>
                <a:latin typeface="Trebuchet MS"/>
                <a:cs typeface="Trebuchet MS"/>
              </a:rPr>
              <a:t>Support:</a:t>
            </a:r>
            <a:r>
              <a:rPr dirty="0" sz="1700" spc="-235" b="1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3C3C3F"/>
                </a:solidFill>
                <a:latin typeface="Trebuchet MS"/>
                <a:cs typeface="Trebuchet MS"/>
              </a:rPr>
              <a:t>From</a:t>
            </a:r>
            <a:r>
              <a:rPr dirty="0" sz="1700" spc="-145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35">
                <a:solidFill>
                  <a:srgbClr val="3C3C3F"/>
                </a:solidFill>
                <a:latin typeface="Trebuchet MS"/>
                <a:cs typeface="Trebuchet MS"/>
              </a:rPr>
              <a:t>planning</a:t>
            </a:r>
            <a:r>
              <a:rPr dirty="0" sz="1700" spc="-145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30">
                <a:solidFill>
                  <a:srgbClr val="3C3C3F"/>
                </a:solidFill>
                <a:latin typeface="Trebuchet MS"/>
                <a:cs typeface="Trebuchet MS"/>
              </a:rPr>
              <a:t>to</a:t>
            </a:r>
            <a:r>
              <a:rPr dirty="0" sz="1700" spc="-145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50">
                <a:solidFill>
                  <a:srgbClr val="3C3C3F"/>
                </a:solidFill>
                <a:latin typeface="Trebuchet MS"/>
                <a:cs typeface="Trebuchet MS"/>
              </a:rPr>
              <a:t>execution,</a:t>
            </a:r>
            <a:r>
              <a:rPr dirty="0" sz="1700" spc="-145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3C3C3F"/>
                </a:solidFill>
                <a:latin typeface="Trebuchet MS"/>
                <a:cs typeface="Trebuchet MS"/>
              </a:rPr>
              <a:t>we</a:t>
            </a:r>
            <a:r>
              <a:rPr dirty="0" sz="1700" spc="-145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25">
                <a:solidFill>
                  <a:srgbClr val="3C3C3F"/>
                </a:solidFill>
                <a:latin typeface="Trebuchet MS"/>
                <a:cs typeface="Trebuchet MS"/>
              </a:rPr>
              <a:t>provide</a:t>
            </a:r>
            <a:r>
              <a:rPr dirty="0" sz="1700" spc="-145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20">
                <a:solidFill>
                  <a:srgbClr val="3C3C3F"/>
                </a:solidFill>
                <a:latin typeface="Trebuchet MS"/>
                <a:cs typeface="Trebuchet MS"/>
              </a:rPr>
              <a:t>continuous</a:t>
            </a:r>
            <a:r>
              <a:rPr dirty="0" sz="1700" spc="-145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3C3C3F"/>
                </a:solidFill>
                <a:latin typeface="Trebuchet MS"/>
                <a:cs typeface="Trebuchet MS"/>
              </a:rPr>
              <a:t>support</a:t>
            </a:r>
            <a:r>
              <a:rPr dirty="0" sz="1700" spc="-145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30">
                <a:solidFill>
                  <a:srgbClr val="3C3C3F"/>
                </a:solidFill>
                <a:latin typeface="Trebuchet MS"/>
                <a:cs typeface="Trebuchet MS"/>
              </a:rPr>
              <a:t>to</a:t>
            </a:r>
            <a:r>
              <a:rPr dirty="0" sz="1700" spc="-145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3C3C3F"/>
                </a:solidFill>
                <a:latin typeface="Trebuchet MS"/>
                <a:cs typeface="Trebuchet MS"/>
              </a:rPr>
              <a:t>ensure</a:t>
            </a:r>
            <a:r>
              <a:rPr dirty="0" sz="1700" spc="-145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3C3C3F"/>
                </a:solidFill>
                <a:latin typeface="Trebuchet MS"/>
                <a:cs typeface="Trebuchet MS"/>
              </a:rPr>
              <a:t>your</a:t>
            </a:r>
            <a:r>
              <a:rPr dirty="0" sz="1700" spc="-145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3C3C3F"/>
                </a:solidFill>
                <a:latin typeface="Trebuchet MS"/>
                <a:cs typeface="Trebuchet MS"/>
              </a:rPr>
              <a:t>success.</a:t>
            </a:r>
            <a:endParaRPr sz="1700">
              <a:latin typeface="Trebuchet MS"/>
              <a:cs typeface="Trebuchet MS"/>
            </a:endParaRPr>
          </a:p>
        </p:txBody>
      </p:sp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84659" y="9722024"/>
            <a:ext cx="225674" cy="225673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1016000" y="9647656"/>
            <a:ext cx="1519555" cy="208279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200" spc="-10">
                <a:solidFill>
                  <a:srgbClr val="092A3B"/>
                </a:solidFill>
                <a:latin typeface="Trebuchet MS"/>
                <a:cs typeface="Trebuchet MS"/>
                <a:hlinkClick r:id="rId5"/>
              </a:rPr>
              <a:t>www.finanshels.com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7151759" y="9690726"/>
            <a:ext cx="267335" cy="268605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600" spc="80">
                <a:solidFill>
                  <a:srgbClr val="0D2E32"/>
                </a:solidFill>
                <a:latin typeface="Trebuchet MS"/>
                <a:cs typeface="Trebuchet MS"/>
              </a:rPr>
              <a:t>03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7657" y="1556984"/>
            <a:ext cx="1710055" cy="2209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 spc="-30" b="1">
                <a:latin typeface="Trebuchet MS"/>
                <a:cs typeface="Trebuchet MS"/>
              </a:rPr>
              <a:t>Trusted</a:t>
            </a:r>
            <a:r>
              <a:rPr dirty="0" sz="1250" spc="-229" b="1">
                <a:latin typeface="Trebuchet MS"/>
                <a:cs typeface="Trebuchet MS"/>
              </a:rPr>
              <a:t> </a:t>
            </a:r>
            <a:r>
              <a:rPr dirty="0" sz="1250" b="1">
                <a:latin typeface="Trebuchet MS"/>
                <a:cs typeface="Trebuchet MS"/>
              </a:rPr>
              <a:t>By</a:t>
            </a:r>
            <a:r>
              <a:rPr dirty="0" sz="1250" spc="-229" b="1">
                <a:latin typeface="Trebuchet MS"/>
                <a:cs typeface="Trebuchet MS"/>
              </a:rPr>
              <a:t> </a:t>
            </a:r>
            <a:r>
              <a:rPr dirty="0" sz="1250" spc="55" b="1">
                <a:latin typeface="Trebuchet MS"/>
                <a:cs typeface="Trebuchet MS"/>
              </a:rPr>
              <a:t>7000+SMEs</a:t>
            </a:r>
            <a:endParaRPr sz="125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84659" y="9722024"/>
            <a:ext cx="225674" cy="225673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10"/>
              <a:t>Services</a:t>
            </a:r>
            <a:r>
              <a:rPr dirty="0" spc="-565"/>
              <a:t> </a:t>
            </a:r>
            <a:r>
              <a:rPr dirty="0" spc="-55"/>
              <a:t>that</a:t>
            </a:r>
            <a:r>
              <a:rPr dirty="0" spc="-560"/>
              <a:t> </a:t>
            </a:r>
            <a:r>
              <a:rPr dirty="0" spc="160"/>
              <a:t>grow</a:t>
            </a:r>
            <a:r>
              <a:rPr dirty="0" spc="-560"/>
              <a:t> </a:t>
            </a:r>
            <a:r>
              <a:rPr dirty="0" spc="-50"/>
              <a:t>with</a:t>
            </a:r>
            <a:r>
              <a:rPr dirty="0" spc="-565"/>
              <a:t> </a:t>
            </a:r>
            <a:r>
              <a:rPr dirty="0" spc="65"/>
              <a:t>you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16000" y="3377896"/>
            <a:ext cx="1177417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55">
                <a:solidFill>
                  <a:srgbClr val="092A3B"/>
                </a:solidFill>
                <a:latin typeface="Trebuchet MS"/>
                <a:cs typeface="Trebuchet MS"/>
              </a:rPr>
              <a:t>Below</a:t>
            </a:r>
            <a:r>
              <a:rPr dirty="0" sz="1700" spc="2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 spc="50">
                <a:solidFill>
                  <a:srgbClr val="092A3B"/>
                </a:solidFill>
                <a:latin typeface="Trebuchet MS"/>
                <a:cs typeface="Trebuchet MS"/>
              </a:rPr>
              <a:t>is</a:t>
            </a:r>
            <a:r>
              <a:rPr dirty="0" sz="1700" spc="3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 spc="70">
                <a:solidFill>
                  <a:srgbClr val="092A3B"/>
                </a:solidFill>
                <a:latin typeface="Trebuchet MS"/>
                <a:cs typeface="Trebuchet MS"/>
              </a:rPr>
              <a:t>a</a:t>
            </a:r>
            <a:r>
              <a:rPr dirty="0" sz="1700" spc="3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092A3B"/>
                </a:solidFill>
                <a:latin typeface="Trebuchet MS"/>
                <a:cs typeface="Trebuchet MS"/>
              </a:rPr>
              <a:t>list</a:t>
            </a:r>
            <a:r>
              <a:rPr dirty="0" sz="1700" spc="2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092A3B"/>
                </a:solidFill>
                <a:latin typeface="Trebuchet MS"/>
                <a:cs typeface="Trebuchet MS"/>
              </a:rPr>
              <a:t>of</a:t>
            </a:r>
            <a:r>
              <a:rPr dirty="0" sz="1700" spc="3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092A3B"/>
                </a:solidFill>
                <a:latin typeface="Trebuchet MS"/>
                <a:cs typeface="Trebuchet MS"/>
              </a:rPr>
              <a:t>the</a:t>
            </a:r>
            <a:r>
              <a:rPr dirty="0" sz="1700" spc="3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 spc="75">
                <a:solidFill>
                  <a:srgbClr val="092A3B"/>
                </a:solidFill>
                <a:latin typeface="Trebuchet MS"/>
                <a:cs typeface="Trebuchet MS"/>
              </a:rPr>
              <a:t>services</a:t>
            </a:r>
            <a:r>
              <a:rPr dirty="0" sz="1700" spc="3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 spc="85">
                <a:solidFill>
                  <a:srgbClr val="092A3B"/>
                </a:solidFill>
                <a:latin typeface="Trebuchet MS"/>
                <a:cs typeface="Trebuchet MS"/>
              </a:rPr>
              <a:t>we</a:t>
            </a:r>
            <a:r>
              <a:rPr dirty="0" sz="1700" spc="2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092A3B"/>
                </a:solidFill>
                <a:latin typeface="Trebuchet MS"/>
                <a:cs typeface="Trebuchet MS"/>
              </a:rPr>
              <a:t>offer</a:t>
            </a:r>
            <a:r>
              <a:rPr dirty="0" sz="1700" spc="3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092A3B"/>
                </a:solidFill>
                <a:latin typeface="Trebuchet MS"/>
                <a:cs typeface="Trebuchet MS"/>
              </a:rPr>
              <a:t>to</a:t>
            </a:r>
            <a:r>
              <a:rPr dirty="0" sz="1700" spc="3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092A3B"/>
                </a:solidFill>
                <a:latin typeface="Trebuchet MS"/>
                <a:cs typeface="Trebuchet MS"/>
              </a:rPr>
              <a:t>help</a:t>
            </a:r>
            <a:r>
              <a:rPr dirty="0" sz="1700" spc="2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 spc="80">
                <a:solidFill>
                  <a:srgbClr val="092A3B"/>
                </a:solidFill>
                <a:latin typeface="Trebuchet MS"/>
                <a:cs typeface="Trebuchet MS"/>
              </a:rPr>
              <a:t>you</a:t>
            </a:r>
            <a:r>
              <a:rPr dirty="0" sz="1700" spc="3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 spc="45">
                <a:solidFill>
                  <a:srgbClr val="092A3B"/>
                </a:solidFill>
                <a:latin typeface="Trebuchet MS"/>
                <a:cs typeface="Trebuchet MS"/>
              </a:rPr>
              <a:t>navigate</a:t>
            </a:r>
            <a:r>
              <a:rPr dirty="0" sz="1700" spc="3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 spc="55">
                <a:solidFill>
                  <a:srgbClr val="092A3B"/>
                </a:solidFill>
                <a:latin typeface="Trebuchet MS"/>
                <a:cs typeface="Trebuchet MS"/>
              </a:rPr>
              <a:t>your</a:t>
            </a:r>
            <a:r>
              <a:rPr dirty="0" sz="1700" spc="3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 spc="105">
                <a:solidFill>
                  <a:srgbClr val="092A3B"/>
                </a:solidFill>
                <a:latin typeface="Trebuchet MS"/>
                <a:cs typeface="Trebuchet MS"/>
              </a:rPr>
              <a:t>business's</a:t>
            </a:r>
            <a:r>
              <a:rPr dirty="0" sz="1700" spc="2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092A3B"/>
                </a:solidFill>
                <a:latin typeface="Trebuchet MS"/>
                <a:cs typeface="Trebuchet MS"/>
              </a:rPr>
              <a:t>accounting,</a:t>
            </a:r>
            <a:r>
              <a:rPr dirty="0" sz="1700" spc="3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092A3B"/>
                </a:solidFill>
                <a:latin typeface="Trebuchet MS"/>
                <a:cs typeface="Trebuchet MS"/>
              </a:rPr>
              <a:t>tax,</a:t>
            </a:r>
            <a:r>
              <a:rPr dirty="0" sz="1700" spc="3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 spc="75">
                <a:solidFill>
                  <a:srgbClr val="092A3B"/>
                </a:solidFill>
                <a:latin typeface="Trebuchet MS"/>
                <a:cs typeface="Trebuchet MS"/>
              </a:rPr>
              <a:t>and</a:t>
            </a:r>
            <a:r>
              <a:rPr dirty="0" sz="1700" spc="3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092A3B"/>
                </a:solidFill>
                <a:latin typeface="Trebuchet MS"/>
                <a:cs typeface="Trebuchet MS"/>
              </a:rPr>
              <a:t>compliance</a:t>
            </a:r>
            <a:r>
              <a:rPr dirty="0" sz="1700" spc="2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700" spc="40">
                <a:solidFill>
                  <a:srgbClr val="092A3B"/>
                </a:solidFill>
                <a:latin typeface="Trebuchet MS"/>
                <a:cs typeface="Trebuchet MS"/>
              </a:rPr>
              <a:t>needs:</a:t>
            </a:r>
            <a:endParaRPr sz="17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019309" y="4379614"/>
            <a:ext cx="7762875" cy="2066925"/>
            <a:chOff x="1019309" y="4379614"/>
            <a:chExt cx="7762875" cy="2066925"/>
          </a:xfrm>
        </p:grpSpPr>
        <p:sp>
          <p:nvSpPr>
            <p:cNvPr id="7" name="object 7"/>
            <p:cNvSpPr/>
            <p:nvPr/>
          </p:nvSpPr>
          <p:spPr>
            <a:xfrm>
              <a:off x="1028834" y="4389139"/>
              <a:ext cx="7743825" cy="2047875"/>
            </a:xfrm>
            <a:custGeom>
              <a:avLst/>
              <a:gdLst/>
              <a:ahLst/>
              <a:cxnLst/>
              <a:rect l="l" t="t" r="r" b="b"/>
              <a:pathLst>
                <a:path w="7743825" h="2047875">
                  <a:moveTo>
                    <a:pt x="153162" y="2047877"/>
                  </a:moveTo>
                  <a:lnTo>
                    <a:pt x="84806" y="2019590"/>
                  </a:lnTo>
                  <a:lnTo>
                    <a:pt x="32004" y="1966788"/>
                  </a:lnTo>
                  <a:lnTo>
                    <a:pt x="3694" y="1898439"/>
                  </a:lnTo>
                  <a:lnTo>
                    <a:pt x="0" y="1861103"/>
                  </a:lnTo>
                  <a:lnTo>
                    <a:pt x="0" y="190492"/>
                  </a:lnTo>
                  <a:lnTo>
                    <a:pt x="14500" y="117593"/>
                  </a:lnTo>
                  <a:lnTo>
                    <a:pt x="55793" y="55793"/>
                  </a:lnTo>
                  <a:lnTo>
                    <a:pt x="117594" y="14500"/>
                  </a:lnTo>
                  <a:lnTo>
                    <a:pt x="190492" y="0"/>
                  </a:lnTo>
                  <a:lnTo>
                    <a:pt x="7552913" y="0"/>
                  </a:lnTo>
                  <a:lnTo>
                    <a:pt x="7625811" y="14500"/>
                  </a:lnTo>
                  <a:lnTo>
                    <a:pt x="7687611" y="55793"/>
                  </a:lnTo>
                  <a:lnTo>
                    <a:pt x="7728905" y="117593"/>
                  </a:lnTo>
                  <a:lnTo>
                    <a:pt x="7743406" y="190492"/>
                  </a:lnTo>
                  <a:lnTo>
                    <a:pt x="7743406" y="1861103"/>
                  </a:lnTo>
                  <a:lnTo>
                    <a:pt x="7728905" y="1934001"/>
                  </a:lnTo>
                  <a:lnTo>
                    <a:pt x="7687612" y="1995801"/>
                  </a:lnTo>
                  <a:lnTo>
                    <a:pt x="7625811" y="2037095"/>
                  </a:lnTo>
                  <a:lnTo>
                    <a:pt x="7590250" y="2047874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557581" y="4618198"/>
              <a:ext cx="516890" cy="516890"/>
            </a:xfrm>
            <a:custGeom>
              <a:avLst/>
              <a:gdLst/>
              <a:ahLst/>
              <a:cxnLst/>
              <a:rect l="l" t="t" r="r" b="b"/>
              <a:pathLst>
                <a:path w="516889" h="516889">
                  <a:moveTo>
                    <a:pt x="459603" y="516753"/>
                  </a:moveTo>
                  <a:lnTo>
                    <a:pt x="57150" y="516753"/>
                  </a:lnTo>
                  <a:lnTo>
                    <a:pt x="45948" y="515645"/>
                  </a:lnTo>
                  <a:lnTo>
                    <a:pt x="9601" y="491310"/>
                  </a:lnTo>
                  <a:lnTo>
                    <a:pt x="0" y="459603"/>
                  </a:lnTo>
                  <a:lnTo>
                    <a:pt x="0" y="57150"/>
                  </a:lnTo>
                  <a:lnTo>
                    <a:pt x="16738" y="16738"/>
                  </a:lnTo>
                  <a:lnTo>
                    <a:pt x="57150" y="0"/>
                  </a:lnTo>
                  <a:lnTo>
                    <a:pt x="459603" y="0"/>
                  </a:lnTo>
                  <a:lnTo>
                    <a:pt x="500014" y="16738"/>
                  </a:lnTo>
                  <a:lnTo>
                    <a:pt x="516753" y="57150"/>
                  </a:lnTo>
                  <a:lnTo>
                    <a:pt x="516753" y="459603"/>
                  </a:lnTo>
                  <a:lnTo>
                    <a:pt x="500014" y="500014"/>
                  </a:lnTo>
                  <a:lnTo>
                    <a:pt x="459603" y="516753"/>
                  </a:lnTo>
                  <a:close/>
                </a:path>
              </a:pathLst>
            </a:custGeom>
            <a:solidFill>
              <a:srgbClr val="F166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558655" y="5291203"/>
              <a:ext cx="2968625" cy="0"/>
            </a:xfrm>
            <a:custGeom>
              <a:avLst/>
              <a:gdLst/>
              <a:ahLst/>
              <a:cxnLst/>
              <a:rect l="l" t="t" r="r" b="b"/>
              <a:pathLst>
                <a:path w="2968625" h="0">
                  <a:moveTo>
                    <a:pt x="0" y="0"/>
                  </a:moveTo>
                  <a:lnTo>
                    <a:pt x="2968294" y="0"/>
                  </a:lnTo>
                </a:path>
              </a:pathLst>
            </a:custGeom>
            <a:ln w="9524">
              <a:solidFill>
                <a:srgbClr val="092A3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350209" y="4618198"/>
              <a:ext cx="516890" cy="516890"/>
            </a:xfrm>
            <a:custGeom>
              <a:avLst/>
              <a:gdLst/>
              <a:ahLst/>
              <a:cxnLst/>
              <a:rect l="l" t="t" r="r" b="b"/>
              <a:pathLst>
                <a:path w="516889" h="516889">
                  <a:moveTo>
                    <a:pt x="459603" y="516753"/>
                  </a:moveTo>
                  <a:lnTo>
                    <a:pt x="57150" y="516753"/>
                  </a:lnTo>
                  <a:lnTo>
                    <a:pt x="45948" y="515645"/>
                  </a:lnTo>
                  <a:lnTo>
                    <a:pt x="9601" y="491310"/>
                  </a:lnTo>
                  <a:lnTo>
                    <a:pt x="0" y="459603"/>
                  </a:lnTo>
                  <a:lnTo>
                    <a:pt x="0" y="57150"/>
                  </a:lnTo>
                  <a:lnTo>
                    <a:pt x="16738" y="16738"/>
                  </a:lnTo>
                  <a:lnTo>
                    <a:pt x="57150" y="0"/>
                  </a:lnTo>
                  <a:lnTo>
                    <a:pt x="459603" y="0"/>
                  </a:lnTo>
                  <a:lnTo>
                    <a:pt x="500014" y="16738"/>
                  </a:lnTo>
                  <a:lnTo>
                    <a:pt x="516753" y="57150"/>
                  </a:lnTo>
                  <a:lnTo>
                    <a:pt x="516753" y="459603"/>
                  </a:lnTo>
                  <a:lnTo>
                    <a:pt x="500014" y="500014"/>
                  </a:lnTo>
                  <a:lnTo>
                    <a:pt x="459603" y="516753"/>
                  </a:lnTo>
                  <a:close/>
                </a:path>
              </a:pathLst>
            </a:custGeom>
            <a:solidFill>
              <a:srgbClr val="F166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351283" y="5291203"/>
              <a:ext cx="2968625" cy="0"/>
            </a:xfrm>
            <a:custGeom>
              <a:avLst/>
              <a:gdLst/>
              <a:ahLst/>
              <a:cxnLst/>
              <a:rect l="l" t="t" r="r" b="b"/>
              <a:pathLst>
                <a:path w="2968625" h="0">
                  <a:moveTo>
                    <a:pt x="0" y="0"/>
                  </a:moveTo>
                  <a:lnTo>
                    <a:pt x="2968294" y="0"/>
                  </a:lnTo>
                </a:path>
              </a:pathLst>
            </a:custGeom>
            <a:ln w="9524">
              <a:solidFill>
                <a:srgbClr val="092A3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1537646" y="5397555"/>
            <a:ext cx="2975610" cy="7562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8400"/>
              </a:lnSpc>
              <a:spcBef>
                <a:spcPts val="95"/>
              </a:spcBef>
            </a:pPr>
            <a:r>
              <a:rPr dirty="0" sz="1350" spc="-45">
                <a:solidFill>
                  <a:srgbClr val="092A3B"/>
                </a:solidFill>
                <a:latin typeface="Trebuchet MS"/>
                <a:cs typeface="Trebuchet MS"/>
              </a:rPr>
              <a:t>Efficient</a:t>
            </a:r>
            <a:r>
              <a:rPr dirty="0" sz="1350" spc="-6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 spc="-45">
                <a:solidFill>
                  <a:srgbClr val="092A3B"/>
                </a:solidFill>
                <a:latin typeface="Trebuchet MS"/>
                <a:cs typeface="Trebuchet MS"/>
              </a:rPr>
              <a:t>financial</a:t>
            </a:r>
            <a:r>
              <a:rPr dirty="0" sz="1350" spc="-5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092A3B"/>
                </a:solidFill>
                <a:latin typeface="Trebuchet MS"/>
                <a:cs typeface="Trebuchet MS"/>
              </a:rPr>
              <a:t>management</a:t>
            </a:r>
            <a:r>
              <a:rPr dirty="0" sz="1350" spc="-5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 spc="-25">
                <a:solidFill>
                  <a:srgbClr val="092A3B"/>
                </a:solidFill>
                <a:latin typeface="Trebuchet MS"/>
                <a:cs typeface="Trebuchet MS"/>
              </a:rPr>
              <a:t>and </a:t>
            </a:r>
            <a:r>
              <a:rPr dirty="0" sz="1350" spc="-35">
                <a:solidFill>
                  <a:srgbClr val="092A3B"/>
                </a:solidFill>
                <a:latin typeface="Trebuchet MS"/>
                <a:cs typeface="Trebuchet MS"/>
              </a:rPr>
              <a:t>insightful</a:t>
            </a:r>
            <a:r>
              <a:rPr dirty="0" sz="1350" spc="-6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 spc="-20">
                <a:solidFill>
                  <a:srgbClr val="092A3B"/>
                </a:solidFill>
                <a:latin typeface="Trebuchet MS"/>
                <a:cs typeface="Trebuchet MS"/>
              </a:rPr>
              <a:t>analytics</a:t>
            </a:r>
            <a:r>
              <a:rPr dirty="0" sz="1350" spc="-6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092A3B"/>
                </a:solidFill>
                <a:latin typeface="Trebuchet MS"/>
                <a:cs typeface="Trebuchet MS"/>
              </a:rPr>
              <a:t>to</a:t>
            </a:r>
            <a:r>
              <a:rPr dirty="0" sz="1350" spc="-6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092A3B"/>
                </a:solidFill>
                <a:latin typeface="Trebuchet MS"/>
                <a:cs typeface="Trebuchet MS"/>
              </a:rPr>
              <a:t>support</a:t>
            </a:r>
            <a:r>
              <a:rPr dirty="0" sz="1350" spc="-6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092A3B"/>
                </a:solidFill>
                <a:latin typeface="Trebuchet MS"/>
                <a:cs typeface="Trebuchet MS"/>
              </a:rPr>
              <a:t>business growth.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37949" y="4559901"/>
            <a:ext cx="1278890" cy="568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95"/>
              </a:spcBef>
            </a:pPr>
            <a:r>
              <a:rPr dirty="0" sz="1550" spc="45" b="1">
                <a:solidFill>
                  <a:srgbClr val="092A3B"/>
                </a:solidFill>
                <a:latin typeface="Trebuchet MS"/>
                <a:cs typeface="Trebuchet MS"/>
              </a:rPr>
              <a:t>Accounting</a:t>
            </a:r>
            <a:r>
              <a:rPr dirty="0" sz="1550" spc="-195" b="1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550" spc="-50" b="1">
                <a:solidFill>
                  <a:srgbClr val="092A3B"/>
                </a:solidFill>
                <a:latin typeface="Trebuchet MS"/>
                <a:cs typeface="Trebuchet MS"/>
              </a:rPr>
              <a:t>&amp; </a:t>
            </a:r>
            <a:r>
              <a:rPr dirty="0" sz="1550" spc="-10" b="1">
                <a:solidFill>
                  <a:srgbClr val="092A3B"/>
                </a:solidFill>
                <a:latin typeface="Trebuchet MS"/>
                <a:cs typeface="Trebuchet MS"/>
              </a:rPr>
              <a:t>Analytics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30275" y="5455231"/>
            <a:ext cx="2943860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8400"/>
              </a:lnSpc>
              <a:spcBef>
                <a:spcPts val="95"/>
              </a:spcBef>
            </a:pPr>
            <a:r>
              <a:rPr dirty="0" sz="1350">
                <a:solidFill>
                  <a:srgbClr val="092A3B"/>
                </a:solidFill>
                <a:latin typeface="Trebuchet MS"/>
                <a:cs typeface="Trebuchet MS"/>
              </a:rPr>
              <a:t>Ensure</a:t>
            </a:r>
            <a:r>
              <a:rPr dirty="0" sz="1350" spc="-1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 spc="-45">
                <a:solidFill>
                  <a:srgbClr val="092A3B"/>
                </a:solidFill>
                <a:latin typeface="Trebuchet MS"/>
                <a:cs typeface="Trebuchet MS"/>
              </a:rPr>
              <a:t>financial</a:t>
            </a:r>
            <a:r>
              <a:rPr dirty="0" sz="1350" spc="-1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092A3B"/>
                </a:solidFill>
                <a:latin typeface="Trebuchet MS"/>
                <a:cs typeface="Trebuchet MS"/>
              </a:rPr>
              <a:t>accuracy</a:t>
            </a:r>
            <a:r>
              <a:rPr dirty="0" sz="1350" spc="-1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 spc="-25">
                <a:solidFill>
                  <a:srgbClr val="092A3B"/>
                </a:solidFill>
                <a:latin typeface="Trebuchet MS"/>
                <a:cs typeface="Trebuchet MS"/>
              </a:rPr>
              <a:t>and </a:t>
            </a:r>
            <a:r>
              <a:rPr dirty="0" sz="1350" spc="-10">
                <a:solidFill>
                  <a:srgbClr val="092A3B"/>
                </a:solidFill>
                <a:latin typeface="Trebuchet MS"/>
                <a:cs typeface="Trebuchet MS"/>
              </a:rPr>
              <a:t>compliance</a:t>
            </a:r>
            <a:r>
              <a:rPr dirty="0" sz="1350" spc="-9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 spc="-30">
                <a:solidFill>
                  <a:srgbClr val="092A3B"/>
                </a:solidFill>
                <a:latin typeface="Trebuchet MS"/>
                <a:cs typeface="Trebuchet MS"/>
              </a:rPr>
              <a:t>with</a:t>
            </a:r>
            <a:r>
              <a:rPr dirty="0" sz="1350" spc="-8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 spc="-20">
                <a:solidFill>
                  <a:srgbClr val="092A3B"/>
                </a:solidFill>
                <a:latin typeface="Trebuchet MS"/>
                <a:cs typeface="Trebuchet MS"/>
              </a:rPr>
              <a:t>expert</a:t>
            </a:r>
            <a:r>
              <a:rPr dirty="0" sz="1350" spc="-9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 spc="-35">
                <a:solidFill>
                  <a:srgbClr val="092A3B"/>
                </a:solidFill>
                <a:latin typeface="Trebuchet MS"/>
                <a:cs typeface="Trebuchet MS"/>
              </a:rPr>
              <a:t>audit</a:t>
            </a:r>
            <a:r>
              <a:rPr dirty="0" sz="1350" spc="-8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092A3B"/>
                </a:solidFill>
                <a:latin typeface="Trebuchet MS"/>
                <a:cs typeface="Trebuchet MS"/>
              </a:rPr>
              <a:t>services.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30577" y="4770000"/>
            <a:ext cx="534035" cy="2654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550" spc="-10" b="1">
                <a:solidFill>
                  <a:srgbClr val="092A3B"/>
                </a:solidFill>
                <a:latin typeface="Trebuchet MS"/>
                <a:cs typeface="Trebuchet MS"/>
              </a:rPr>
              <a:t>Audit</a:t>
            </a:r>
            <a:endParaRPr sz="1550">
              <a:latin typeface="Trebuchet MS"/>
              <a:cs typeface="Trebuchet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019309" y="6802746"/>
            <a:ext cx="7762875" cy="2066925"/>
            <a:chOff x="1019309" y="6802746"/>
            <a:chExt cx="7762875" cy="2066925"/>
          </a:xfrm>
        </p:grpSpPr>
        <p:sp>
          <p:nvSpPr>
            <p:cNvPr id="17" name="object 17"/>
            <p:cNvSpPr/>
            <p:nvPr/>
          </p:nvSpPr>
          <p:spPr>
            <a:xfrm>
              <a:off x="1028834" y="6812271"/>
              <a:ext cx="7743825" cy="2047875"/>
            </a:xfrm>
            <a:custGeom>
              <a:avLst/>
              <a:gdLst/>
              <a:ahLst/>
              <a:cxnLst/>
              <a:rect l="l" t="t" r="r" b="b"/>
              <a:pathLst>
                <a:path w="7743825" h="2047875">
                  <a:moveTo>
                    <a:pt x="153162" y="2047877"/>
                  </a:moveTo>
                  <a:lnTo>
                    <a:pt x="84806" y="2019590"/>
                  </a:lnTo>
                  <a:lnTo>
                    <a:pt x="32004" y="1966788"/>
                  </a:lnTo>
                  <a:lnTo>
                    <a:pt x="3694" y="1898439"/>
                  </a:lnTo>
                  <a:lnTo>
                    <a:pt x="0" y="1861102"/>
                  </a:lnTo>
                  <a:lnTo>
                    <a:pt x="0" y="190492"/>
                  </a:lnTo>
                  <a:lnTo>
                    <a:pt x="14500" y="117593"/>
                  </a:lnTo>
                  <a:lnTo>
                    <a:pt x="55793" y="55793"/>
                  </a:lnTo>
                  <a:lnTo>
                    <a:pt x="117593" y="14500"/>
                  </a:lnTo>
                  <a:lnTo>
                    <a:pt x="190492" y="0"/>
                  </a:lnTo>
                  <a:lnTo>
                    <a:pt x="7552913" y="0"/>
                  </a:lnTo>
                  <a:lnTo>
                    <a:pt x="7625811" y="14500"/>
                  </a:lnTo>
                  <a:lnTo>
                    <a:pt x="7687611" y="55793"/>
                  </a:lnTo>
                  <a:lnTo>
                    <a:pt x="7728905" y="117593"/>
                  </a:lnTo>
                  <a:lnTo>
                    <a:pt x="7743406" y="190492"/>
                  </a:lnTo>
                  <a:lnTo>
                    <a:pt x="7743406" y="1861103"/>
                  </a:lnTo>
                  <a:lnTo>
                    <a:pt x="7728905" y="1934001"/>
                  </a:lnTo>
                  <a:lnTo>
                    <a:pt x="7687611" y="1995801"/>
                  </a:lnTo>
                  <a:lnTo>
                    <a:pt x="7625811" y="2037095"/>
                  </a:lnTo>
                  <a:lnTo>
                    <a:pt x="7590250" y="2047874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557581" y="7050705"/>
              <a:ext cx="516890" cy="516890"/>
            </a:xfrm>
            <a:custGeom>
              <a:avLst/>
              <a:gdLst/>
              <a:ahLst/>
              <a:cxnLst/>
              <a:rect l="l" t="t" r="r" b="b"/>
              <a:pathLst>
                <a:path w="516889" h="516890">
                  <a:moveTo>
                    <a:pt x="459603" y="516753"/>
                  </a:moveTo>
                  <a:lnTo>
                    <a:pt x="57150" y="516753"/>
                  </a:lnTo>
                  <a:lnTo>
                    <a:pt x="45948" y="515645"/>
                  </a:lnTo>
                  <a:lnTo>
                    <a:pt x="9601" y="491310"/>
                  </a:lnTo>
                  <a:lnTo>
                    <a:pt x="0" y="459603"/>
                  </a:lnTo>
                  <a:lnTo>
                    <a:pt x="0" y="57150"/>
                  </a:lnTo>
                  <a:lnTo>
                    <a:pt x="16738" y="16738"/>
                  </a:lnTo>
                  <a:lnTo>
                    <a:pt x="57150" y="0"/>
                  </a:lnTo>
                  <a:lnTo>
                    <a:pt x="459603" y="0"/>
                  </a:lnTo>
                  <a:lnTo>
                    <a:pt x="500014" y="16738"/>
                  </a:lnTo>
                  <a:lnTo>
                    <a:pt x="516753" y="57150"/>
                  </a:lnTo>
                  <a:lnTo>
                    <a:pt x="516753" y="459603"/>
                  </a:lnTo>
                  <a:lnTo>
                    <a:pt x="500014" y="500014"/>
                  </a:lnTo>
                  <a:lnTo>
                    <a:pt x="459603" y="516753"/>
                  </a:lnTo>
                  <a:close/>
                </a:path>
              </a:pathLst>
            </a:custGeom>
            <a:solidFill>
              <a:srgbClr val="F166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558655" y="7723709"/>
              <a:ext cx="2968625" cy="0"/>
            </a:xfrm>
            <a:custGeom>
              <a:avLst/>
              <a:gdLst/>
              <a:ahLst/>
              <a:cxnLst/>
              <a:rect l="l" t="t" r="r" b="b"/>
              <a:pathLst>
                <a:path w="2968625" h="0">
                  <a:moveTo>
                    <a:pt x="0" y="0"/>
                  </a:moveTo>
                  <a:lnTo>
                    <a:pt x="2968294" y="0"/>
                  </a:lnTo>
                </a:path>
              </a:pathLst>
            </a:custGeom>
            <a:ln w="9524">
              <a:solidFill>
                <a:srgbClr val="092A3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5350209" y="7056925"/>
              <a:ext cx="516890" cy="516890"/>
            </a:xfrm>
            <a:custGeom>
              <a:avLst/>
              <a:gdLst/>
              <a:ahLst/>
              <a:cxnLst/>
              <a:rect l="l" t="t" r="r" b="b"/>
              <a:pathLst>
                <a:path w="516889" h="516890">
                  <a:moveTo>
                    <a:pt x="459603" y="516753"/>
                  </a:moveTo>
                  <a:lnTo>
                    <a:pt x="57150" y="516753"/>
                  </a:lnTo>
                  <a:lnTo>
                    <a:pt x="45948" y="515645"/>
                  </a:lnTo>
                  <a:lnTo>
                    <a:pt x="9601" y="491310"/>
                  </a:lnTo>
                  <a:lnTo>
                    <a:pt x="0" y="459603"/>
                  </a:lnTo>
                  <a:lnTo>
                    <a:pt x="0" y="57150"/>
                  </a:lnTo>
                  <a:lnTo>
                    <a:pt x="16738" y="16738"/>
                  </a:lnTo>
                  <a:lnTo>
                    <a:pt x="57150" y="0"/>
                  </a:lnTo>
                  <a:lnTo>
                    <a:pt x="459603" y="0"/>
                  </a:lnTo>
                  <a:lnTo>
                    <a:pt x="500014" y="16738"/>
                  </a:lnTo>
                  <a:lnTo>
                    <a:pt x="516753" y="57150"/>
                  </a:lnTo>
                  <a:lnTo>
                    <a:pt x="516753" y="459603"/>
                  </a:lnTo>
                  <a:lnTo>
                    <a:pt x="500014" y="500014"/>
                  </a:lnTo>
                  <a:lnTo>
                    <a:pt x="459603" y="516753"/>
                  </a:lnTo>
                  <a:close/>
                </a:path>
              </a:pathLst>
            </a:custGeom>
            <a:solidFill>
              <a:srgbClr val="F166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5351283" y="7729569"/>
              <a:ext cx="2968625" cy="0"/>
            </a:xfrm>
            <a:custGeom>
              <a:avLst/>
              <a:gdLst/>
              <a:ahLst/>
              <a:cxnLst/>
              <a:rect l="l" t="t" r="r" b="b"/>
              <a:pathLst>
                <a:path w="2968625" h="0">
                  <a:moveTo>
                    <a:pt x="0" y="0"/>
                  </a:moveTo>
                  <a:lnTo>
                    <a:pt x="2968294" y="0"/>
                  </a:lnTo>
                </a:path>
              </a:pathLst>
            </a:custGeom>
            <a:ln w="9524">
              <a:solidFill>
                <a:srgbClr val="092A3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1537646" y="7887738"/>
            <a:ext cx="3000375" cy="7562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8400"/>
              </a:lnSpc>
              <a:spcBef>
                <a:spcPts val="95"/>
              </a:spcBef>
            </a:pPr>
            <a:r>
              <a:rPr dirty="0" sz="1350">
                <a:solidFill>
                  <a:srgbClr val="092A3B"/>
                </a:solidFill>
                <a:latin typeface="Trebuchet MS"/>
                <a:cs typeface="Trebuchet MS"/>
              </a:rPr>
              <a:t>Comprehensive</a:t>
            </a:r>
            <a:r>
              <a:rPr dirty="0" sz="1350" spc="3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092A3B"/>
                </a:solidFill>
                <a:latin typeface="Trebuchet MS"/>
                <a:cs typeface="Trebuchet MS"/>
              </a:rPr>
              <a:t>services</a:t>
            </a:r>
            <a:r>
              <a:rPr dirty="0" sz="1350" spc="3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092A3B"/>
                </a:solidFill>
                <a:latin typeface="Trebuchet MS"/>
                <a:cs typeface="Trebuchet MS"/>
              </a:rPr>
              <a:t>ensuring</a:t>
            </a:r>
            <a:r>
              <a:rPr dirty="0" sz="1350" spc="3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 spc="-20">
                <a:solidFill>
                  <a:srgbClr val="092A3B"/>
                </a:solidFill>
                <a:latin typeface="Trebuchet MS"/>
                <a:cs typeface="Trebuchet MS"/>
              </a:rPr>
              <a:t>your </a:t>
            </a:r>
            <a:r>
              <a:rPr dirty="0" sz="1350">
                <a:solidFill>
                  <a:srgbClr val="092A3B"/>
                </a:solidFill>
                <a:latin typeface="Trebuchet MS"/>
                <a:cs typeface="Trebuchet MS"/>
              </a:rPr>
              <a:t>business</a:t>
            </a:r>
            <a:r>
              <a:rPr dirty="0" sz="1350" spc="-4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092A3B"/>
                </a:solidFill>
                <a:latin typeface="Trebuchet MS"/>
                <a:cs typeface="Trebuchet MS"/>
              </a:rPr>
              <a:t>complies</a:t>
            </a:r>
            <a:r>
              <a:rPr dirty="0" sz="1350" spc="-4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 spc="-30">
                <a:solidFill>
                  <a:srgbClr val="092A3B"/>
                </a:solidFill>
                <a:latin typeface="Trebuchet MS"/>
                <a:cs typeface="Trebuchet MS"/>
              </a:rPr>
              <a:t>with</a:t>
            </a:r>
            <a:r>
              <a:rPr dirty="0" sz="1350" spc="-4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 spc="-80">
                <a:solidFill>
                  <a:srgbClr val="092A3B"/>
                </a:solidFill>
                <a:latin typeface="Trebuchet MS"/>
                <a:cs typeface="Trebuchet MS"/>
              </a:rPr>
              <a:t>all</a:t>
            </a:r>
            <a:r>
              <a:rPr dirty="0" sz="1350" spc="-4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092A3B"/>
                </a:solidFill>
                <a:latin typeface="Trebuchet MS"/>
                <a:cs typeface="Trebuchet MS"/>
              </a:rPr>
              <a:t>relevant </a:t>
            </a:r>
            <a:r>
              <a:rPr dirty="0" sz="1350">
                <a:solidFill>
                  <a:srgbClr val="092A3B"/>
                </a:solidFill>
                <a:latin typeface="Trebuchet MS"/>
                <a:cs typeface="Trebuchet MS"/>
              </a:rPr>
              <a:t>laws</a:t>
            </a:r>
            <a:r>
              <a:rPr dirty="0" sz="1350" spc="-4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092A3B"/>
                </a:solidFill>
                <a:latin typeface="Trebuchet MS"/>
                <a:cs typeface="Trebuchet MS"/>
              </a:rPr>
              <a:t>and</a:t>
            </a:r>
            <a:r>
              <a:rPr dirty="0" sz="1350" spc="-4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092A3B"/>
                </a:solidFill>
                <a:latin typeface="Trebuchet MS"/>
                <a:cs typeface="Trebuchet MS"/>
              </a:rPr>
              <a:t>regulations.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237949" y="7282674"/>
            <a:ext cx="461009" cy="2654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550" spc="110" b="1">
                <a:solidFill>
                  <a:srgbClr val="092A3B"/>
                </a:solidFill>
                <a:latin typeface="Trebuchet MS"/>
                <a:cs typeface="Trebuchet MS"/>
              </a:rPr>
              <a:t>AML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330275" y="7854083"/>
            <a:ext cx="2997200" cy="7562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8400"/>
              </a:lnSpc>
              <a:spcBef>
                <a:spcPts val="95"/>
              </a:spcBef>
            </a:pPr>
            <a:r>
              <a:rPr dirty="0" sz="1350">
                <a:solidFill>
                  <a:srgbClr val="092A3B"/>
                </a:solidFill>
                <a:latin typeface="Trebuchet MS"/>
                <a:cs typeface="Trebuchet MS"/>
              </a:rPr>
              <a:t>Close</a:t>
            </a:r>
            <a:r>
              <a:rPr dirty="0" sz="1350" spc="2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092A3B"/>
                </a:solidFill>
                <a:latin typeface="Trebuchet MS"/>
                <a:cs typeface="Trebuchet MS"/>
              </a:rPr>
              <a:t>Your</a:t>
            </a:r>
            <a:r>
              <a:rPr dirty="0" sz="1350" spc="2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092A3B"/>
                </a:solidFill>
                <a:latin typeface="Trebuchet MS"/>
                <a:cs typeface="Trebuchet MS"/>
              </a:rPr>
              <a:t>Business</a:t>
            </a:r>
            <a:r>
              <a:rPr dirty="0" sz="1350" spc="2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 spc="-30">
                <a:solidFill>
                  <a:srgbClr val="092A3B"/>
                </a:solidFill>
                <a:latin typeface="Trebuchet MS"/>
                <a:cs typeface="Trebuchet MS"/>
              </a:rPr>
              <a:t>with</a:t>
            </a:r>
            <a:r>
              <a:rPr dirty="0" sz="1350" spc="2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092A3B"/>
                </a:solidFill>
                <a:latin typeface="Trebuchet MS"/>
                <a:cs typeface="Trebuchet MS"/>
              </a:rPr>
              <a:t>Confidence</a:t>
            </a:r>
            <a:r>
              <a:rPr dirty="0" sz="1350" spc="2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 spc="135">
                <a:solidFill>
                  <a:srgbClr val="092A3B"/>
                </a:solidFill>
                <a:latin typeface="Trebuchet MS"/>
                <a:cs typeface="Trebuchet MS"/>
              </a:rPr>
              <a:t>– </a:t>
            </a:r>
            <a:r>
              <a:rPr dirty="0" sz="1350" spc="-10">
                <a:solidFill>
                  <a:srgbClr val="092A3B"/>
                </a:solidFill>
                <a:latin typeface="Trebuchet MS"/>
                <a:cs typeface="Trebuchet MS"/>
              </a:rPr>
              <a:t>Expert</a:t>
            </a:r>
            <a:r>
              <a:rPr dirty="0" sz="1350" spc="-35">
                <a:solidFill>
                  <a:srgbClr val="092A3B"/>
                </a:solidFill>
                <a:latin typeface="Trebuchet MS"/>
                <a:cs typeface="Trebuchet MS"/>
              </a:rPr>
              <a:t> Liquidation </a:t>
            </a:r>
            <a:r>
              <a:rPr dirty="0" sz="1350">
                <a:solidFill>
                  <a:srgbClr val="092A3B"/>
                </a:solidFill>
                <a:latin typeface="Trebuchet MS"/>
                <a:cs typeface="Trebuchet MS"/>
              </a:rPr>
              <a:t>Services</a:t>
            </a:r>
            <a:r>
              <a:rPr dirty="0" sz="1350" spc="-3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 spc="-20">
                <a:solidFill>
                  <a:srgbClr val="092A3B"/>
                </a:solidFill>
                <a:latin typeface="Trebuchet MS"/>
                <a:cs typeface="Trebuchet MS"/>
              </a:rPr>
              <a:t>for</a:t>
            </a:r>
            <a:r>
              <a:rPr dirty="0" sz="1350" spc="-3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 spc="80">
                <a:solidFill>
                  <a:srgbClr val="092A3B"/>
                </a:solidFill>
                <a:latin typeface="Trebuchet MS"/>
                <a:cs typeface="Trebuchet MS"/>
              </a:rPr>
              <a:t>DDA </a:t>
            </a:r>
            <a:r>
              <a:rPr dirty="0" sz="1350" spc="-10">
                <a:solidFill>
                  <a:srgbClr val="092A3B"/>
                </a:solidFill>
                <a:latin typeface="Trebuchet MS"/>
                <a:cs typeface="Trebuchet MS"/>
              </a:rPr>
              <a:t>Compliance.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030577" y="7208366"/>
            <a:ext cx="1059815" cy="2654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550" spc="-10" b="1">
                <a:solidFill>
                  <a:srgbClr val="092A3B"/>
                </a:solidFill>
                <a:latin typeface="Trebuchet MS"/>
                <a:cs typeface="Trebuchet MS"/>
              </a:rPr>
              <a:t>Liquidation</a:t>
            </a:r>
            <a:endParaRPr sz="1550">
              <a:latin typeface="Trebuchet MS"/>
              <a:cs typeface="Trebuchet MS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9208639" y="6789497"/>
            <a:ext cx="7810500" cy="2085975"/>
            <a:chOff x="9208639" y="6789497"/>
            <a:chExt cx="7810500" cy="2085975"/>
          </a:xfrm>
        </p:grpSpPr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16389" y="8676715"/>
              <a:ext cx="193319" cy="193909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9218164" y="6799022"/>
              <a:ext cx="7791450" cy="2066925"/>
            </a:xfrm>
            <a:custGeom>
              <a:avLst/>
              <a:gdLst/>
              <a:ahLst/>
              <a:cxnLst/>
              <a:rect l="l" t="t" r="r" b="b"/>
              <a:pathLst>
                <a:path w="7791450" h="2066925">
                  <a:moveTo>
                    <a:pt x="189010" y="2066924"/>
                  </a:moveTo>
                  <a:lnTo>
                    <a:pt x="117616" y="2052573"/>
                  </a:lnTo>
                  <a:lnTo>
                    <a:pt x="55815" y="2011278"/>
                  </a:lnTo>
                  <a:lnTo>
                    <a:pt x="14521" y="1949477"/>
                  </a:lnTo>
                  <a:lnTo>
                    <a:pt x="0" y="1876577"/>
                  </a:lnTo>
                  <a:lnTo>
                    <a:pt x="0" y="190493"/>
                  </a:lnTo>
                  <a:lnTo>
                    <a:pt x="14521" y="117596"/>
                  </a:lnTo>
                  <a:lnTo>
                    <a:pt x="55815" y="55795"/>
                  </a:lnTo>
                  <a:lnTo>
                    <a:pt x="117617" y="14501"/>
                  </a:lnTo>
                  <a:lnTo>
                    <a:pt x="190516" y="0"/>
                  </a:lnTo>
                  <a:lnTo>
                    <a:pt x="7601526" y="0"/>
                  </a:lnTo>
                  <a:lnTo>
                    <a:pt x="7638864" y="3694"/>
                  </a:lnTo>
                  <a:lnTo>
                    <a:pt x="7707214" y="32005"/>
                  </a:lnTo>
                  <a:lnTo>
                    <a:pt x="7760017" y="84808"/>
                  </a:lnTo>
                  <a:lnTo>
                    <a:pt x="7788328" y="153158"/>
                  </a:lnTo>
                  <a:lnTo>
                    <a:pt x="7791449" y="184704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3546908" y="7019320"/>
              <a:ext cx="516890" cy="516890"/>
            </a:xfrm>
            <a:custGeom>
              <a:avLst/>
              <a:gdLst/>
              <a:ahLst/>
              <a:cxnLst/>
              <a:rect l="l" t="t" r="r" b="b"/>
              <a:pathLst>
                <a:path w="516890" h="516890">
                  <a:moveTo>
                    <a:pt x="459603" y="516753"/>
                  </a:moveTo>
                  <a:lnTo>
                    <a:pt x="57150" y="516753"/>
                  </a:lnTo>
                  <a:lnTo>
                    <a:pt x="45948" y="515645"/>
                  </a:lnTo>
                  <a:lnTo>
                    <a:pt x="9602" y="491310"/>
                  </a:lnTo>
                  <a:lnTo>
                    <a:pt x="0" y="459603"/>
                  </a:lnTo>
                  <a:lnTo>
                    <a:pt x="0" y="57150"/>
                  </a:lnTo>
                  <a:lnTo>
                    <a:pt x="16738" y="16738"/>
                  </a:lnTo>
                  <a:lnTo>
                    <a:pt x="57150" y="0"/>
                  </a:lnTo>
                  <a:lnTo>
                    <a:pt x="459603" y="0"/>
                  </a:lnTo>
                  <a:lnTo>
                    <a:pt x="500014" y="16738"/>
                  </a:lnTo>
                  <a:lnTo>
                    <a:pt x="516753" y="57150"/>
                  </a:lnTo>
                  <a:lnTo>
                    <a:pt x="516753" y="459603"/>
                  </a:lnTo>
                  <a:lnTo>
                    <a:pt x="500014" y="500014"/>
                  </a:lnTo>
                  <a:lnTo>
                    <a:pt x="459603" y="516753"/>
                  </a:lnTo>
                  <a:close/>
                </a:path>
              </a:pathLst>
            </a:custGeom>
            <a:solidFill>
              <a:srgbClr val="F166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3547982" y="7692325"/>
              <a:ext cx="2968625" cy="0"/>
            </a:xfrm>
            <a:custGeom>
              <a:avLst/>
              <a:gdLst/>
              <a:ahLst/>
              <a:cxnLst/>
              <a:rect l="l" t="t" r="r" b="b"/>
              <a:pathLst>
                <a:path w="2968625" h="0">
                  <a:moveTo>
                    <a:pt x="0" y="0"/>
                  </a:moveTo>
                  <a:lnTo>
                    <a:pt x="2968294" y="0"/>
                  </a:lnTo>
                </a:path>
              </a:pathLst>
            </a:custGeom>
            <a:ln w="9524">
              <a:solidFill>
                <a:srgbClr val="092A3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9739811" y="7027168"/>
              <a:ext cx="516890" cy="516890"/>
            </a:xfrm>
            <a:custGeom>
              <a:avLst/>
              <a:gdLst/>
              <a:ahLst/>
              <a:cxnLst/>
              <a:rect l="l" t="t" r="r" b="b"/>
              <a:pathLst>
                <a:path w="516890" h="516890">
                  <a:moveTo>
                    <a:pt x="459603" y="516753"/>
                  </a:moveTo>
                  <a:lnTo>
                    <a:pt x="57150" y="516753"/>
                  </a:lnTo>
                  <a:lnTo>
                    <a:pt x="45948" y="515645"/>
                  </a:lnTo>
                  <a:lnTo>
                    <a:pt x="9601" y="491310"/>
                  </a:lnTo>
                  <a:lnTo>
                    <a:pt x="0" y="459603"/>
                  </a:lnTo>
                  <a:lnTo>
                    <a:pt x="0" y="57150"/>
                  </a:lnTo>
                  <a:lnTo>
                    <a:pt x="16738" y="16738"/>
                  </a:lnTo>
                  <a:lnTo>
                    <a:pt x="57150" y="0"/>
                  </a:lnTo>
                  <a:lnTo>
                    <a:pt x="459603" y="0"/>
                  </a:lnTo>
                  <a:lnTo>
                    <a:pt x="500014" y="16738"/>
                  </a:lnTo>
                  <a:lnTo>
                    <a:pt x="516753" y="57150"/>
                  </a:lnTo>
                  <a:lnTo>
                    <a:pt x="516753" y="459603"/>
                  </a:lnTo>
                  <a:lnTo>
                    <a:pt x="500014" y="500014"/>
                  </a:lnTo>
                  <a:lnTo>
                    <a:pt x="459603" y="516753"/>
                  </a:lnTo>
                  <a:close/>
                </a:path>
              </a:pathLst>
            </a:custGeom>
            <a:solidFill>
              <a:srgbClr val="F166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9740885" y="7700173"/>
              <a:ext cx="2968625" cy="0"/>
            </a:xfrm>
            <a:custGeom>
              <a:avLst/>
              <a:gdLst/>
              <a:ahLst/>
              <a:cxnLst/>
              <a:rect l="l" t="t" r="r" b="b"/>
              <a:pathLst>
                <a:path w="2968625" h="0">
                  <a:moveTo>
                    <a:pt x="0" y="0"/>
                  </a:moveTo>
                  <a:lnTo>
                    <a:pt x="2968294" y="0"/>
                  </a:lnTo>
                </a:path>
              </a:pathLst>
            </a:custGeom>
            <a:ln w="9524">
              <a:solidFill>
                <a:srgbClr val="092A3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624365" y="7092147"/>
              <a:ext cx="361801" cy="361574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13526974" y="7856353"/>
            <a:ext cx="2783205" cy="7562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8400"/>
              </a:lnSpc>
              <a:spcBef>
                <a:spcPts val="95"/>
              </a:spcBef>
            </a:pPr>
            <a:r>
              <a:rPr dirty="0" sz="1350" spc="-25">
                <a:solidFill>
                  <a:srgbClr val="092A3B"/>
                </a:solidFill>
                <a:latin typeface="Trebuchet MS"/>
                <a:cs typeface="Trebuchet MS"/>
              </a:rPr>
              <a:t>Tailored</a:t>
            </a:r>
            <a:r>
              <a:rPr dirty="0" sz="1350" spc="-6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 spc="-45">
                <a:solidFill>
                  <a:srgbClr val="092A3B"/>
                </a:solidFill>
                <a:latin typeface="Trebuchet MS"/>
                <a:cs typeface="Trebuchet MS"/>
              </a:rPr>
              <a:t>financial</a:t>
            </a:r>
            <a:r>
              <a:rPr dirty="0" sz="1350" spc="-6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092A3B"/>
                </a:solidFill>
                <a:latin typeface="Trebuchet MS"/>
                <a:cs typeface="Trebuchet MS"/>
              </a:rPr>
              <a:t>strategies</a:t>
            </a:r>
            <a:r>
              <a:rPr dirty="0" sz="1350" spc="-6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 spc="-25">
                <a:solidFill>
                  <a:srgbClr val="092A3B"/>
                </a:solidFill>
                <a:latin typeface="Trebuchet MS"/>
                <a:cs typeface="Trebuchet MS"/>
              </a:rPr>
              <a:t>and </a:t>
            </a:r>
            <a:r>
              <a:rPr dirty="0" sz="1350" spc="-10">
                <a:solidFill>
                  <a:srgbClr val="092A3B"/>
                </a:solidFill>
                <a:latin typeface="Trebuchet MS"/>
                <a:cs typeface="Trebuchet MS"/>
              </a:rPr>
              <a:t>operations</a:t>
            </a:r>
            <a:r>
              <a:rPr dirty="0" sz="1350" spc="-7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092A3B"/>
                </a:solidFill>
                <a:latin typeface="Trebuchet MS"/>
                <a:cs typeface="Trebuchet MS"/>
              </a:rPr>
              <a:t>management</a:t>
            </a:r>
            <a:r>
              <a:rPr dirty="0" sz="1350" spc="-7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092A3B"/>
                </a:solidFill>
                <a:latin typeface="Trebuchet MS"/>
                <a:cs typeface="Trebuchet MS"/>
              </a:rPr>
              <a:t>to</a:t>
            </a:r>
            <a:r>
              <a:rPr dirty="0" sz="1350" spc="-7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092A3B"/>
                </a:solidFill>
                <a:latin typeface="Trebuchet MS"/>
                <a:cs typeface="Trebuchet MS"/>
              </a:rPr>
              <a:t>optimize efficiency.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4227277" y="6964695"/>
            <a:ext cx="1907539" cy="5702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5300"/>
              </a:lnSpc>
              <a:spcBef>
                <a:spcPts val="95"/>
              </a:spcBef>
            </a:pPr>
            <a:r>
              <a:rPr dirty="0" sz="1550" spc="20" b="1">
                <a:solidFill>
                  <a:srgbClr val="092A3B"/>
                </a:solidFill>
                <a:latin typeface="Trebuchet MS"/>
                <a:cs typeface="Trebuchet MS"/>
              </a:rPr>
              <a:t>Outsourced</a:t>
            </a:r>
            <a:r>
              <a:rPr dirty="0" sz="1550" b="1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550" spc="-10" b="1">
                <a:solidFill>
                  <a:srgbClr val="092A3B"/>
                </a:solidFill>
                <a:latin typeface="Trebuchet MS"/>
                <a:cs typeface="Trebuchet MS"/>
              </a:rPr>
              <a:t>Finance Operations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719877" y="7864202"/>
            <a:ext cx="2855595" cy="7562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18400"/>
              </a:lnSpc>
              <a:spcBef>
                <a:spcPts val="95"/>
              </a:spcBef>
            </a:pPr>
            <a:r>
              <a:rPr dirty="0" sz="1350" spc="55">
                <a:solidFill>
                  <a:srgbClr val="092A3B"/>
                </a:solidFill>
                <a:latin typeface="Trebuchet MS"/>
                <a:cs typeface="Trebuchet MS"/>
              </a:rPr>
              <a:t>Access</a:t>
            </a:r>
            <a:r>
              <a:rPr dirty="0" sz="1350" spc="-5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 spc="-35">
                <a:solidFill>
                  <a:srgbClr val="092A3B"/>
                </a:solidFill>
                <a:latin typeface="Trebuchet MS"/>
                <a:cs typeface="Trebuchet MS"/>
              </a:rPr>
              <a:t>to</a:t>
            </a:r>
            <a:r>
              <a:rPr dirty="0" sz="1350" spc="-5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092A3B"/>
                </a:solidFill>
                <a:latin typeface="Trebuchet MS"/>
                <a:cs typeface="Trebuchet MS"/>
              </a:rPr>
              <a:t>experienced</a:t>
            </a:r>
            <a:r>
              <a:rPr dirty="0" sz="1350" spc="-5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 spc="85">
                <a:solidFill>
                  <a:srgbClr val="092A3B"/>
                </a:solidFill>
                <a:latin typeface="Trebuchet MS"/>
                <a:cs typeface="Trebuchet MS"/>
              </a:rPr>
              <a:t>CFOs</a:t>
            </a:r>
            <a:r>
              <a:rPr dirty="0" sz="1350" spc="-5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092A3B"/>
                </a:solidFill>
                <a:latin typeface="Trebuchet MS"/>
                <a:cs typeface="Trebuchet MS"/>
              </a:rPr>
              <a:t>without </a:t>
            </a:r>
            <a:r>
              <a:rPr dirty="0" sz="1350" spc="-35">
                <a:solidFill>
                  <a:srgbClr val="092A3B"/>
                </a:solidFill>
                <a:latin typeface="Trebuchet MS"/>
                <a:cs typeface="Trebuchet MS"/>
              </a:rPr>
              <a:t>the</a:t>
            </a:r>
            <a:r>
              <a:rPr dirty="0" sz="1350" spc="-2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 spc="-60">
                <a:solidFill>
                  <a:srgbClr val="092A3B"/>
                </a:solidFill>
                <a:latin typeface="Trebuchet MS"/>
                <a:cs typeface="Trebuchet MS"/>
              </a:rPr>
              <a:t>full-</a:t>
            </a:r>
            <a:r>
              <a:rPr dirty="0" sz="1350" spc="-65">
                <a:solidFill>
                  <a:srgbClr val="092A3B"/>
                </a:solidFill>
                <a:latin typeface="Trebuchet MS"/>
                <a:cs typeface="Trebuchet MS"/>
              </a:rPr>
              <a:t>time</a:t>
            </a:r>
            <a:r>
              <a:rPr dirty="0" sz="1350" spc="-2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 spc="-40">
                <a:solidFill>
                  <a:srgbClr val="092A3B"/>
                </a:solidFill>
                <a:latin typeface="Trebuchet MS"/>
                <a:cs typeface="Trebuchet MS"/>
              </a:rPr>
              <a:t>commitment,</a:t>
            </a:r>
            <a:r>
              <a:rPr dirty="0" sz="1350" spc="-2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092A3B"/>
                </a:solidFill>
                <a:latin typeface="Trebuchet MS"/>
                <a:cs typeface="Trebuchet MS"/>
              </a:rPr>
              <a:t>supporting </a:t>
            </a:r>
            <a:r>
              <a:rPr dirty="0" sz="1350">
                <a:solidFill>
                  <a:srgbClr val="092A3B"/>
                </a:solidFill>
                <a:latin typeface="Trebuchet MS"/>
                <a:cs typeface="Trebuchet MS"/>
              </a:rPr>
              <a:t>your</a:t>
            </a:r>
            <a:r>
              <a:rPr dirty="0" sz="1350" spc="-4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 spc="-45">
                <a:solidFill>
                  <a:srgbClr val="092A3B"/>
                </a:solidFill>
                <a:latin typeface="Trebuchet MS"/>
                <a:cs typeface="Trebuchet MS"/>
              </a:rPr>
              <a:t>financial</a:t>
            </a:r>
            <a:r>
              <a:rPr dirty="0" sz="1350" spc="-3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092A3B"/>
                </a:solidFill>
                <a:latin typeface="Trebuchet MS"/>
                <a:cs typeface="Trebuchet MS"/>
              </a:rPr>
              <a:t>decision-</a:t>
            </a:r>
            <a:r>
              <a:rPr dirty="0" sz="1350" spc="-10">
                <a:solidFill>
                  <a:srgbClr val="092A3B"/>
                </a:solidFill>
                <a:latin typeface="Trebuchet MS"/>
                <a:cs typeface="Trebuchet MS"/>
              </a:rPr>
              <a:t>making.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0420180" y="7238919"/>
            <a:ext cx="1402080" cy="2654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550" spc="-10" b="1">
                <a:solidFill>
                  <a:srgbClr val="092A3B"/>
                </a:solidFill>
                <a:latin typeface="Trebuchet MS"/>
                <a:cs typeface="Trebuchet MS"/>
              </a:rPr>
              <a:t>Fractional</a:t>
            </a:r>
            <a:r>
              <a:rPr dirty="0" sz="1550" spc="-160" b="1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550" spc="70" b="1">
                <a:solidFill>
                  <a:srgbClr val="092A3B"/>
                </a:solidFill>
                <a:latin typeface="Trebuchet MS"/>
                <a:cs typeface="Trebuchet MS"/>
              </a:rPr>
              <a:t>CFO</a:t>
            </a:r>
            <a:endParaRPr sz="1550">
              <a:latin typeface="Trebuchet MS"/>
              <a:cs typeface="Trebuchet MS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646369" y="4393859"/>
            <a:ext cx="4162425" cy="2042160"/>
            <a:chOff x="1646369" y="4393859"/>
            <a:chExt cx="4162425" cy="2042160"/>
          </a:xfrm>
        </p:grpSpPr>
        <p:sp>
          <p:nvSpPr>
            <p:cNvPr id="39" name="object 39"/>
            <p:cNvSpPr/>
            <p:nvPr/>
          </p:nvSpPr>
          <p:spPr>
            <a:xfrm>
              <a:off x="4987341" y="4393859"/>
              <a:ext cx="0" cy="2042160"/>
            </a:xfrm>
            <a:custGeom>
              <a:avLst/>
              <a:gdLst/>
              <a:ahLst/>
              <a:cxnLst/>
              <a:rect l="l" t="t" r="r" b="b"/>
              <a:pathLst>
                <a:path w="0" h="2042160">
                  <a:moveTo>
                    <a:pt x="0" y="2042153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092A3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1646369" y="4676059"/>
              <a:ext cx="339725" cy="405130"/>
            </a:xfrm>
            <a:custGeom>
              <a:avLst/>
              <a:gdLst/>
              <a:ahLst/>
              <a:cxnLst/>
              <a:rect l="l" t="t" r="r" b="b"/>
              <a:pathLst>
                <a:path w="339725" h="405129">
                  <a:moveTo>
                    <a:pt x="107193" y="144780"/>
                  </a:moveTo>
                  <a:lnTo>
                    <a:pt x="84071" y="144780"/>
                  </a:lnTo>
                  <a:lnTo>
                    <a:pt x="73268" y="114300"/>
                  </a:lnTo>
                  <a:lnTo>
                    <a:pt x="73238" y="113030"/>
                  </a:lnTo>
                  <a:lnTo>
                    <a:pt x="73119" y="107950"/>
                  </a:lnTo>
                  <a:lnTo>
                    <a:pt x="73000" y="102870"/>
                  </a:lnTo>
                  <a:lnTo>
                    <a:pt x="72881" y="97790"/>
                  </a:lnTo>
                  <a:lnTo>
                    <a:pt x="72761" y="92710"/>
                  </a:lnTo>
                  <a:lnTo>
                    <a:pt x="72672" y="88900"/>
                  </a:lnTo>
                  <a:lnTo>
                    <a:pt x="100104" y="27940"/>
                  </a:lnTo>
                  <a:lnTo>
                    <a:pt x="132309" y="6350"/>
                  </a:lnTo>
                  <a:lnTo>
                    <a:pt x="168876" y="0"/>
                  </a:lnTo>
                  <a:lnTo>
                    <a:pt x="205429" y="6350"/>
                  </a:lnTo>
                  <a:lnTo>
                    <a:pt x="212996" y="11430"/>
                  </a:lnTo>
                  <a:lnTo>
                    <a:pt x="168845" y="11430"/>
                  </a:lnTo>
                  <a:lnTo>
                    <a:pt x="136884" y="17780"/>
                  </a:lnTo>
                  <a:lnTo>
                    <a:pt x="108782" y="36830"/>
                  </a:lnTo>
                  <a:lnTo>
                    <a:pt x="92283" y="59690"/>
                  </a:lnTo>
                  <a:lnTo>
                    <a:pt x="84443" y="86360"/>
                  </a:lnTo>
                  <a:lnTo>
                    <a:pt x="84546" y="88900"/>
                  </a:lnTo>
                  <a:lnTo>
                    <a:pt x="84648" y="91440"/>
                  </a:lnTo>
                  <a:lnTo>
                    <a:pt x="84699" y="92710"/>
                  </a:lnTo>
                  <a:lnTo>
                    <a:pt x="84801" y="95250"/>
                  </a:lnTo>
                  <a:lnTo>
                    <a:pt x="84904" y="97790"/>
                  </a:lnTo>
                  <a:lnTo>
                    <a:pt x="85006" y="100330"/>
                  </a:lnTo>
                  <a:lnTo>
                    <a:pt x="85108" y="102870"/>
                  </a:lnTo>
                  <a:lnTo>
                    <a:pt x="85211" y="105410"/>
                  </a:lnTo>
                  <a:lnTo>
                    <a:pt x="85313" y="107950"/>
                  </a:lnTo>
                  <a:lnTo>
                    <a:pt x="85415" y="110490"/>
                  </a:lnTo>
                  <a:lnTo>
                    <a:pt x="85518" y="113030"/>
                  </a:lnTo>
                  <a:lnTo>
                    <a:pt x="95760" y="139700"/>
                  </a:lnTo>
                  <a:lnTo>
                    <a:pt x="108566" y="139700"/>
                  </a:lnTo>
                  <a:lnTo>
                    <a:pt x="107193" y="144780"/>
                  </a:lnTo>
                  <a:close/>
                </a:path>
                <a:path w="339725" h="405129">
                  <a:moveTo>
                    <a:pt x="241896" y="161290"/>
                  </a:moveTo>
                  <a:lnTo>
                    <a:pt x="238046" y="161290"/>
                  </a:lnTo>
                  <a:lnTo>
                    <a:pt x="232821" y="157480"/>
                  </a:lnTo>
                  <a:lnTo>
                    <a:pt x="232439" y="152400"/>
                  </a:lnTo>
                  <a:lnTo>
                    <a:pt x="234591" y="149860"/>
                  </a:lnTo>
                  <a:lnTo>
                    <a:pt x="249791" y="123190"/>
                  </a:lnTo>
                  <a:lnTo>
                    <a:pt x="246795" y="62230"/>
                  </a:lnTo>
                  <a:lnTo>
                    <a:pt x="200805" y="17780"/>
                  </a:lnTo>
                  <a:lnTo>
                    <a:pt x="168845" y="11430"/>
                  </a:lnTo>
                  <a:lnTo>
                    <a:pt x="212996" y="11430"/>
                  </a:lnTo>
                  <a:lnTo>
                    <a:pt x="249110" y="41910"/>
                  </a:lnTo>
                  <a:lnTo>
                    <a:pt x="265960" y="91440"/>
                  </a:lnTo>
                  <a:lnTo>
                    <a:pt x="265906" y="92710"/>
                  </a:lnTo>
                  <a:lnTo>
                    <a:pt x="265799" y="95250"/>
                  </a:lnTo>
                  <a:lnTo>
                    <a:pt x="265691" y="97790"/>
                  </a:lnTo>
                  <a:lnTo>
                    <a:pt x="265584" y="100330"/>
                  </a:lnTo>
                  <a:lnTo>
                    <a:pt x="265476" y="102870"/>
                  </a:lnTo>
                  <a:lnTo>
                    <a:pt x="265369" y="105410"/>
                  </a:lnTo>
                  <a:lnTo>
                    <a:pt x="265261" y="107950"/>
                  </a:lnTo>
                  <a:lnTo>
                    <a:pt x="265154" y="110490"/>
                  </a:lnTo>
                  <a:lnTo>
                    <a:pt x="261149" y="127000"/>
                  </a:lnTo>
                  <a:lnTo>
                    <a:pt x="254081" y="143510"/>
                  </a:lnTo>
                  <a:lnTo>
                    <a:pt x="244083" y="158750"/>
                  </a:lnTo>
                  <a:lnTo>
                    <a:pt x="241896" y="161290"/>
                  </a:lnTo>
                  <a:close/>
                </a:path>
                <a:path w="339725" h="405129">
                  <a:moveTo>
                    <a:pt x="168848" y="160020"/>
                  </a:moveTo>
                  <a:lnTo>
                    <a:pt x="145157" y="154940"/>
                  </a:lnTo>
                  <a:lnTo>
                    <a:pt x="124378" y="140970"/>
                  </a:lnTo>
                  <a:lnTo>
                    <a:pt x="110552" y="120650"/>
                  </a:lnTo>
                  <a:lnTo>
                    <a:pt x="105946" y="96520"/>
                  </a:lnTo>
                  <a:lnTo>
                    <a:pt x="110557" y="72390"/>
                  </a:lnTo>
                  <a:lnTo>
                    <a:pt x="124378" y="52070"/>
                  </a:lnTo>
                  <a:lnTo>
                    <a:pt x="145172" y="38100"/>
                  </a:lnTo>
                  <a:lnTo>
                    <a:pt x="168848" y="34290"/>
                  </a:lnTo>
                  <a:lnTo>
                    <a:pt x="192525" y="38100"/>
                  </a:lnTo>
                  <a:lnTo>
                    <a:pt x="203867" y="45720"/>
                  </a:lnTo>
                  <a:lnTo>
                    <a:pt x="168848" y="45720"/>
                  </a:lnTo>
                  <a:lnTo>
                    <a:pt x="149794" y="49530"/>
                  </a:lnTo>
                  <a:lnTo>
                    <a:pt x="133061" y="60960"/>
                  </a:lnTo>
                  <a:lnTo>
                    <a:pt x="121929" y="77470"/>
                  </a:lnTo>
                  <a:lnTo>
                    <a:pt x="118224" y="96520"/>
                  </a:lnTo>
                  <a:lnTo>
                    <a:pt x="121939" y="115570"/>
                  </a:lnTo>
                  <a:lnTo>
                    <a:pt x="133061" y="132080"/>
                  </a:lnTo>
                  <a:lnTo>
                    <a:pt x="149794" y="143510"/>
                  </a:lnTo>
                  <a:lnTo>
                    <a:pt x="168848" y="147320"/>
                  </a:lnTo>
                  <a:lnTo>
                    <a:pt x="203874" y="147320"/>
                  </a:lnTo>
                  <a:lnTo>
                    <a:pt x="192540" y="154940"/>
                  </a:lnTo>
                  <a:lnTo>
                    <a:pt x="168848" y="160020"/>
                  </a:lnTo>
                  <a:close/>
                </a:path>
                <a:path w="339725" h="405129">
                  <a:moveTo>
                    <a:pt x="203874" y="147320"/>
                  </a:moveTo>
                  <a:lnTo>
                    <a:pt x="168848" y="147320"/>
                  </a:lnTo>
                  <a:lnTo>
                    <a:pt x="187902" y="143510"/>
                  </a:lnTo>
                  <a:lnTo>
                    <a:pt x="204636" y="132080"/>
                  </a:lnTo>
                  <a:lnTo>
                    <a:pt x="215759" y="115570"/>
                  </a:lnTo>
                  <a:lnTo>
                    <a:pt x="219470" y="96520"/>
                  </a:lnTo>
                  <a:lnTo>
                    <a:pt x="215765" y="77470"/>
                  </a:lnTo>
                  <a:lnTo>
                    <a:pt x="204636" y="60960"/>
                  </a:lnTo>
                  <a:lnTo>
                    <a:pt x="187902" y="49530"/>
                  </a:lnTo>
                  <a:lnTo>
                    <a:pt x="168848" y="45720"/>
                  </a:lnTo>
                  <a:lnTo>
                    <a:pt x="203867" y="45720"/>
                  </a:lnTo>
                  <a:lnTo>
                    <a:pt x="213319" y="52070"/>
                  </a:lnTo>
                  <a:lnTo>
                    <a:pt x="227140" y="72390"/>
                  </a:lnTo>
                  <a:lnTo>
                    <a:pt x="231747" y="96520"/>
                  </a:lnTo>
                  <a:lnTo>
                    <a:pt x="227140" y="120650"/>
                  </a:lnTo>
                  <a:lnTo>
                    <a:pt x="213319" y="140970"/>
                  </a:lnTo>
                  <a:lnTo>
                    <a:pt x="203874" y="147320"/>
                  </a:lnTo>
                  <a:close/>
                </a:path>
                <a:path w="339725" h="405129">
                  <a:moveTo>
                    <a:pt x="174986" y="63500"/>
                  </a:moveTo>
                  <a:lnTo>
                    <a:pt x="162709" y="63500"/>
                  </a:lnTo>
                  <a:lnTo>
                    <a:pt x="162709" y="57150"/>
                  </a:lnTo>
                  <a:lnTo>
                    <a:pt x="165458" y="54610"/>
                  </a:lnTo>
                  <a:lnTo>
                    <a:pt x="172239" y="54610"/>
                  </a:lnTo>
                  <a:lnTo>
                    <a:pt x="174986" y="57150"/>
                  </a:lnTo>
                  <a:lnTo>
                    <a:pt x="174986" y="63500"/>
                  </a:lnTo>
                  <a:close/>
                </a:path>
                <a:path w="339725" h="405129">
                  <a:moveTo>
                    <a:pt x="194505" y="118110"/>
                  </a:moveTo>
                  <a:lnTo>
                    <a:pt x="171526" y="118110"/>
                  </a:lnTo>
                  <a:lnTo>
                    <a:pt x="178422" y="115570"/>
                  </a:lnTo>
                  <a:lnTo>
                    <a:pt x="185932" y="113030"/>
                  </a:lnTo>
                  <a:lnTo>
                    <a:pt x="185959" y="107950"/>
                  </a:lnTo>
                  <a:lnTo>
                    <a:pt x="178379" y="104140"/>
                  </a:lnTo>
                  <a:lnTo>
                    <a:pt x="174948" y="102870"/>
                  </a:lnTo>
                  <a:lnTo>
                    <a:pt x="168539" y="102870"/>
                  </a:lnTo>
                  <a:lnTo>
                    <a:pt x="160095" y="101600"/>
                  </a:lnTo>
                  <a:lnTo>
                    <a:pt x="154634" y="100330"/>
                  </a:lnTo>
                  <a:lnTo>
                    <a:pt x="144165" y="95250"/>
                  </a:lnTo>
                  <a:lnTo>
                    <a:pt x="141774" y="87630"/>
                  </a:lnTo>
                  <a:lnTo>
                    <a:pt x="141884" y="77470"/>
                  </a:lnTo>
                  <a:lnTo>
                    <a:pt x="144393" y="69850"/>
                  </a:lnTo>
                  <a:lnTo>
                    <a:pt x="157260" y="64770"/>
                  </a:lnTo>
                  <a:lnTo>
                    <a:pt x="159902" y="63500"/>
                  </a:lnTo>
                  <a:lnTo>
                    <a:pt x="181516" y="63500"/>
                  </a:lnTo>
                  <a:lnTo>
                    <a:pt x="187380" y="66040"/>
                  </a:lnTo>
                  <a:lnTo>
                    <a:pt x="195859" y="69850"/>
                  </a:lnTo>
                  <a:lnTo>
                    <a:pt x="197162" y="73660"/>
                  </a:lnTo>
                  <a:lnTo>
                    <a:pt x="196580" y="74930"/>
                  </a:lnTo>
                  <a:lnTo>
                    <a:pt x="165428" y="74930"/>
                  </a:lnTo>
                  <a:lnTo>
                    <a:pt x="162307" y="76200"/>
                  </a:lnTo>
                  <a:lnTo>
                    <a:pt x="159649" y="77470"/>
                  </a:lnTo>
                  <a:lnTo>
                    <a:pt x="159315" y="77470"/>
                  </a:lnTo>
                  <a:lnTo>
                    <a:pt x="153891" y="78740"/>
                  </a:lnTo>
                  <a:lnTo>
                    <a:pt x="153962" y="83820"/>
                  </a:lnTo>
                  <a:lnTo>
                    <a:pt x="154466" y="86360"/>
                  </a:lnTo>
                  <a:lnTo>
                    <a:pt x="159682" y="88900"/>
                  </a:lnTo>
                  <a:lnTo>
                    <a:pt x="163013" y="90170"/>
                  </a:lnTo>
                  <a:lnTo>
                    <a:pt x="169325" y="90170"/>
                  </a:lnTo>
                  <a:lnTo>
                    <a:pt x="177828" y="91440"/>
                  </a:lnTo>
                  <a:lnTo>
                    <a:pt x="183159" y="92710"/>
                  </a:lnTo>
                  <a:lnTo>
                    <a:pt x="183317" y="92710"/>
                  </a:lnTo>
                  <a:lnTo>
                    <a:pt x="193553" y="97790"/>
                  </a:lnTo>
                  <a:lnTo>
                    <a:pt x="196080" y="105410"/>
                  </a:lnTo>
                  <a:lnTo>
                    <a:pt x="196397" y="110490"/>
                  </a:lnTo>
                  <a:lnTo>
                    <a:pt x="194505" y="118110"/>
                  </a:lnTo>
                  <a:close/>
                </a:path>
                <a:path w="339725" h="405129">
                  <a:moveTo>
                    <a:pt x="190590" y="81280"/>
                  </a:moveTo>
                  <a:lnTo>
                    <a:pt x="182142" y="76200"/>
                  </a:lnTo>
                  <a:lnTo>
                    <a:pt x="176065" y="74930"/>
                  </a:lnTo>
                  <a:lnTo>
                    <a:pt x="196580" y="74930"/>
                  </a:lnTo>
                  <a:lnTo>
                    <a:pt x="194250" y="80010"/>
                  </a:lnTo>
                  <a:lnTo>
                    <a:pt x="190590" y="81280"/>
                  </a:lnTo>
                  <a:close/>
                </a:path>
                <a:path w="339725" h="405129">
                  <a:moveTo>
                    <a:pt x="185428" y="190500"/>
                  </a:moveTo>
                  <a:lnTo>
                    <a:pt x="168849" y="190500"/>
                  </a:lnTo>
                  <a:lnTo>
                    <a:pt x="174398" y="184150"/>
                  </a:lnTo>
                  <a:lnTo>
                    <a:pt x="181302" y="177800"/>
                  </a:lnTo>
                  <a:lnTo>
                    <a:pt x="189287" y="175260"/>
                  </a:lnTo>
                  <a:lnTo>
                    <a:pt x="198076" y="173990"/>
                  </a:lnTo>
                  <a:lnTo>
                    <a:pt x="266900" y="173990"/>
                  </a:lnTo>
                  <a:lnTo>
                    <a:pt x="306962" y="104140"/>
                  </a:lnTo>
                  <a:lnTo>
                    <a:pt x="315101" y="101600"/>
                  </a:lnTo>
                  <a:lnTo>
                    <a:pt x="335140" y="113030"/>
                  </a:lnTo>
                  <a:lnTo>
                    <a:pt x="336600" y="115570"/>
                  </a:lnTo>
                  <a:lnTo>
                    <a:pt x="314233" y="115570"/>
                  </a:lnTo>
                  <a:lnTo>
                    <a:pt x="274088" y="185420"/>
                  </a:lnTo>
                  <a:lnTo>
                    <a:pt x="198077" y="185420"/>
                  </a:lnTo>
                  <a:lnTo>
                    <a:pt x="189098" y="187960"/>
                  </a:lnTo>
                  <a:lnTo>
                    <a:pt x="185428" y="190500"/>
                  </a:lnTo>
                  <a:close/>
                </a:path>
                <a:path w="339725" h="405129">
                  <a:moveTo>
                    <a:pt x="172240" y="138430"/>
                  </a:moveTo>
                  <a:lnTo>
                    <a:pt x="165459" y="138430"/>
                  </a:lnTo>
                  <a:lnTo>
                    <a:pt x="162710" y="135890"/>
                  </a:lnTo>
                  <a:lnTo>
                    <a:pt x="162710" y="129540"/>
                  </a:lnTo>
                  <a:lnTo>
                    <a:pt x="156514" y="129540"/>
                  </a:lnTo>
                  <a:lnTo>
                    <a:pt x="150541" y="127000"/>
                  </a:lnTo>
                  <a:lnTo>
                    <a:pt x="141802" y="123190"/>
                  </a:lnTo>
                  <a:lnTo>
                    <a:pt x="140435" y="119380"/>
                  </a:lnTo>
                  <a:lnTo>
                    <a:pt x="143241" y="114300"/>
                  </a:lnTo>
                  <a:lnTo>
                    <a:pt x="146877" y="113030"/>
                  </a:lnTo>
                  <a:lnTo>
                    <a:pt x="149966" y="114300"/>
                  </a:lnTo>
                  <a:lnTo>
                    <a:pt x="156565" y="116840"/>
                  </a:lnTo>
                  <a:lnTo>
                    <a:pt x="163996" y="118110"/>
                  </a:lnTo>
                  <a:lnTo>
                    <a:pt x="194505" y="118110"/>
                  </a:lnTo>
                  <a:lnTo>
                    <a:pt x="190055" y="123190"/>
                  </a:lnTo>
                  <a:lnTo>
                    <a:pt x="183422" y="127000"/>
                  </a:lnTo>
                  <a:lnTo>
                    <a:pt x="174987" y="129540"/>
                  </a:lnTo>
                  <a:lnTo>
                    <a:pt x="174987" y="135890"/>
                  </a:lnTo>
                  <a:lnTo>
                    <a:pt x="172240" y="138430"/>
                  </a:lnTo>
                  <a:close/>
                </a:path>
                <a:path w="339725" h="405129">
                  <a:moveTo>
                    <a:pt x="254053" y="269240"/>
                  </a:moveTo>
                  <a:lnTo>
                    <a:pt x="234223" y="269240"/>
                  </a:lnTo>
                  <a:lnTo>
                    <a:pt x="248470" y="259080"/>
                  </a:lnTo>
                  <a:lnTo>
                    <a:pt x="324119" y="127000"/>
                  </a:lnTo>
                  <a:lnTo>
                    <a:pt x="326407" y="123190"/>
                  </a:lnTo>
                  <a:lnTo>
                    <a:pt x="314821" y="115570"/>
                  </a:lnTo>
                  <a:lnTo>
                    <a:pt x="336600" y="115570"/>
                  </a:lnTo>
                  <a:lnTo>
                    <a:pt x="337330" y="116840"/>
                  </a:lnTo>
                  <a:lnTo>
                    <a:pt x="338249" y="119380"/>
                  </a:lnTo>
                  <a:lnTo>
                    <a:pt x="339167" y="123190"/>
                  </a:lnTo>
                  <a:lnTo>
                    <a:pt x="338700" y="127000"/>
                  </a:lnTo>
                  <a:lnTo>
                    <a:pt x="295900" y="200660"/>
                  </a:lnTo>
                  <a:lnTo>
                    <a:pt x="310667" y="200660"/>
                  </a:lnTo>
                  <a:lnTo>
                    <a:pt x="313414" y="203200"/>
                  </a:lnTo>
                  <a:lnTo>
                    <a:pt x="313414" y="213360"/>
                  </a:lnTo>
                  <a:lnTo>
                    <a:pt x="292126" y="213360"/>
                  </a:lnTo>
                  <a:lnTo>
                    <a:pt x="292126" y="228600"/>
                  </a:lnTo>
                  <a:lnTo>
                    <a:pt x="279852" y="228600"/>
                  </a:lnTo>
                  <a:lnTo>
                    <a:pt x="258030" y="266700"/>
                  </a:lnTo>
                  <a:lnTo>
                    <a:pt x="257455" y="266700"/>
                  </a:lnTo>
                  <a:lnTo>
                    <a:pt x="254053" y="269240"/>
                  </a:lnTo>
                  <a:close/>
                </a:path>
                <a:path w="339725" h="405129">
                  <a:moveTo>
                    <a:pt x="108566" y="139700"/>
                  </a:moveTo>
                  <a:lnTo>
                    <a:pt x="95760" y="139700"/>
                  </a:lnTo>
                  <a:lnTo>
                    <a:pt x="97369" y="133350"/>
                  </a:lnTo>
                  <a:lnTo>
                    <a:pt x="100721" y="132080"/>
                  </a:lnTo>
                  <a:lnTo>
                    <a:pt x="104002" y="132080"/>
                  </a:lnTo>
                  <a:lnTo>
                    <a:pt x="107283" y="133350"/>
                  </a:lnTo>
                  <a:lnTo>
                    <a:pt x="109253" y="137160"/>
                  </a:lnTo>
                  <a:lnTo>
                    <a:pt x="108566" y="139700"/>
                  </a:lnTo>
                  <a:close/>
                </a:path>
                <a:path w="339725" h="405129">
                  <a:moveTo>
                    <a:pt x="100212" y="161290"/>
                  </a:moveTo>
                  <a:lnTo>
                    <a:pt x="96730" y="160020"/>
                  </a:lnTo>
                  <a:lnTo>
                    <a:pt x="80043" y="156210"/>
                  </a:lnTo>
                  <a:lnTo>
                    <a:pt x="76762" y="154940"/>
                  </a:lnTo>
                  <a:lnTo>
                    <a:pt x="74796" y="151130"/>
                  </a:lnTo>
                  <a:lnTo>
                    <a:pt x="76510" y="144780"/>
                  </a:lnTo>
                  <a:lnTo>
                    <a:pt x="79861" y="143510"/>
                  </a:lnTo>
                  <a:lnTo>
                    <a:pt x="83143" y="143510"/>
                  </a:lnTo>
                  <a:lnTo>
                    <a:pt x="84071" y="144780"/>
                  </a:lnTo>
                  <a:lnTo>
                    <a:pt x="107193" y="144780"/>
                  </a:lnTo>
                  <a:lnTo>
                    <a:pt x="103759" y="157480"/>
                  </a:lnTo>
                  <a:lnTo>
                    <a:pt x="102700" y="158750"/>
                  </a:lnTo>
                  <a:lnTo>
                    <a:pt x="101919" y="158750"/>
                  </a:lnTo>
                  <a:lnTo>
                    <a:pt x="100212" y="161290"/>
                  </a:lnTo>
                  <a:close/>
                </a:path>
                <a:path w="339725" h="405129">
                  <a:moveTo>
                    <a:pt x="57848" y="199390"/>
                  </a:moveTo>
                  <a:lnTo>
                    <a:pt x="45570" y="199390"/>
                  </a:lnTo>
                  <a:lnTo>
                    <a:pt x="45570" y="176530"/>
                  </a:lnTo>
                  <a:lnTo>
                    <a:pt x="48318" y="173990"/>
                  </a:lnTo>
                  <a:lnTo>
                    <a:pt x="139620" y="173990"/>
                  </a:lnTo>
                  <a:lnTo>
                    <a:pt x="148410" y="175260"/>
                  </a:lnTo>
                  <a:lnTo>
                    <a:pt x="156394" y="177800"/>
                  </a:lnTo>
                  <a:lnTo>
                    <a:pt x="163299" y="184150"/>
                  </a:lnTo>
                  <a:lnTo>
                    <a:pt x="164409" y="185420"/>
                  </a:lnTo>
                  <a:lnTo>
                    <a:pt x="57848" y="185420"/>
                  </a:lnTo>
                  <a:lnTo>
                    <a:pt x="57848" y="199390"/>
                  </a:lnTo>
                  <a:close/>
                </a:path>
                <a:path w="339725" h="405129">
                  <a:moveTo>
                    <a:pt x="174988" y="350520"/>
                  </a:moveTo>
                  <a:lnTo>
                    <a:pt x="162709" y="350520"/>
                  </a:lnTo>
                  <a:lnTo>
                    <a:pt x="162709" y="212090"/>
                  </a:lnTo>
                  <a:lnTo>
                    <a:pt x="160892" y="201930"/>
                  </a:lnTo>
                  <a:lnTo>
                    <a:pt x="155939" y="193040"/>
                  </a:lnTo>
                  <a:lnTo>
                    <a:pt x="148599" y="187960"/>
                  </a:lnTo>
                  <a:lnTo>
                    <a:pt x="139620" y="185420"/>
                  </a:lnTo>
                  <a:lnTo>
                    <a:pt x="164409" y="185420"/>
                  </a:lnTo>
                  <a:lnTo>
                    <a:pt x="168849" y="190500"/>
                  </a:lnTo>
                  <a:lnTo>
                    <a:pt x="185428" y="190500"/>
                  </a:lnTo>
                  <a:lnTo>
                    <a:pt x="181758" y="193040"/>
                  </a:lnTo>
                  <a:lnTo>
                    <a:pt x="176805" y="201930"/>
                  </a:lnTo>
                  <a:lnTo>
                    <a:pt x="174987" y="212090"/>
                  </a:lnTo>
                  <a:lnTo>
                    <a:pt x="174988" y="350520"/>
                  </a:lnTo>
                  <a:close/>
                </a:path>
                <a:path w="339725" h="405129">
                  <a:moveTo>
                    <a:pt x="225915" y="290830"/>
                  </a:moveTo>
                  <a:lnTo>
                    <a:pt x="219936" y="287020"/>
                  </a:lnTo>
                  <a:lnTo>
                    <a:pt x="224159" y="247650"/>
                  </a:lnTo>
                  <a:lnTo>
                    <a:pt x="224427" y="247650"/>
                  </a:lnTo>
                  <a:lnTo>
                    <a:pt x="259814" y="185420"/>
                  </a:lnTo>
                  <a:lnTo>
                    <a:pt x="274088" y="185420"/>
                  </a:lnTo>
                  <a:lnTo>
                    <a:pt x="236133" y="251460"/>
                  </a:lnTo>
                  <a:lnTo>
                    <a:pt x="234223" y="269240"/>
                  </a:lnTo>
                  <a:lnTo>
                    <a:pt x="254053" y="269240"/>
                  </a:lnTo>
                  <a:lnTo>
                    <a:pt x="230242" y="287020"/>
                  </a:lnTo>
                  <a:lnTo>
                    <a:pt x="225915" y="290830"/>
                  </a:lnTo>
                  <a:close/>
                </a:path>
                <a:path w="339725" h="405129">
                  <a:moveTo>
                    <a:pt x="139919" y="298450"/>
                  </a:moveTo>
                  <a:lnTo>
                    <a:pt x="2747" y="298450"/>
                  </a:lnTo>
                  <a:lnTo>
                    <a:pt x="0" y="295910"/>
                  </a:lnTo>
                  <a:lnTo>
                    <a:pt x="0" y="201930"/>
                  </a:lnTo>
                  <a:lnTo>
                    <a:pt x="2748" y="199390"/>
                  </a:lnTo>
                  <a:lnTo>
                    <a:pt x="139919" y="199390"/>
                  </a:lnTo>
                  <a:lnTo>
                    <a:pt x="142668" y="201930"/>
                  </a:lnTo>
                  <a:lnTo>
                    <a:pt x="142668" y="210820"/>
                  </a:lnTo>
                  <a:lnTo>
                    <a:pt x="12278" y="210820"/>
                  </a:lnTo>
                  <a:lnTo>
                    <a:pt x="12278" y="228600"/>
                  </a:lnTo>
                  <a:lnTo>
                    <a:pt x="142668" y="228600"/>
                  </a:lnTo>
                  <a:lnTo>
                    <a:pt x="142668" y="241300"/>
                  </a:lnTo>
                  <a:lnTo>
                    <a:pt x="12278" y="241300"/>
                  </a:lnTo>
                  <a:lnTo>
                    <a:pt x="12278" y="256540"/>
                  </a:lnTo>
                  <a:lnTo>
                    <a:pt x="142668" y="256540"/>
                  </a:lnTo>
                  <a:lnTo>
                    <a:pt x="142668" y="269240"/>
                  </a:lnTo>
                  <a:lnTo>
                    <a:pt x="12278" y="269240"/>
                  </a:lnTo>
                  <a:lnTo>
                    <a:pt x="12278" y="287020"/>
                  </a:lnTo>
                  <a:lnTo>
                    <a:pt x="142668" y="287020"/>
                  </a:lnTo>
                  <a:lnTo>
                    <a:pt x="142668" y="295910"/>
                  </a:lnTo>
                  <a:lnTo>
                    <a:pt x="139919" y="298450"/>
                  </a:lnTo>
                  <a:close/>
                </a:path>
                <a:path w="339725" h="405129">
                  <a:moveTo>
                    <a:pt x="77472" y="228600"/>
                  </a:moveTo>
                  <a:lnTo>
                    <a:pt x="65194" y="228600"/>
                  </a:lnTo>
                  <a:lnTo>
                    <a:pt x="65194" y="210820"/>
                  </a:lnTo>
                  <a:lnTo>
                    <a:pt x="77472" y="210820"/>
                  </a:lnTo>
                  <a:lnTo>
                    <a:pt x="77472" y="228600"/>
                  </a:lnTo>
                  <a:close/>
                </a:path>
                <a:path w="339725" h="405129">
                  <a:moveTo>
                    <a:pt x="142668" y="228600"/>
                  </a:moveTo>
                  <a:lnTo>
                    <a:pt x="130391" y="228600"/>
                  </a:lnTo>
                  <a:lnTo>
                    <a:pt x="130391" y="210820"/>
                  </a:lnTo>
                  <a:lnTo>
                    <a:pt x="142668" y="210820"/>
                  </a:lnTo>
                  <a:lnTo>
                    <a:pt x="142668" y="228600"/>
                  </a:lnTo>
                  <a:close/>
                </a:path>
                <a:path w="339725" h="405129">
                  <a:moveTo>
                    <a:pt x="190334" y="392430"/>
                  </a:moveTo>
                  <a:lnTo>
                    <a:pt x="176452" y="392430"/>
                  </a:lnTo>
                  <a:lnTo>
                    <a:pt x="182246" y="382270"/>
                  </a:lnTo>
                  <a:lnTo>
                    <a:pt x="188812" y="374650"/>
                  </a:lnTo>
                  <a:lnTo>
                    <a:pt x="196128" y="365760"/>
                  </a:lnTo>
                  <a:lnTo>
                    <a:pt x="204175" y="359410"/>
                  </a:lnTo>
                  <a:lnTo>
                    <a:pt x="221503" y="349250"/>
                  </a:lnTo>
                  <a:lnTo>
                    <a:pt x="237991" y="344170"/>
                  </a:lnTo>
                  <a:lnTo>
                    <a:pt x="272140" y="341630"/>
                  </a:lnTo>
                  <a:lnTo>
                    <a:pt x="301139" y="341630"/>
                  </a:lnTo>
                  <a:lnTo>
                    <a:pt x="301139" y="213360"/>
                  </a:lnTo>
                  <a:lnTo>
                    <a:pt x="313414" y="213360"/>
                  </a:lnTo>
                  <a:lnTo>
                    <a:pt x="313414" y="351790"/>
                  </a:lnTo>
                  <a:lnTo>
                    <a:pt x="310667" y="354330"/>
                  </a:lnTo>
                  <a:lnTo>
                    <a:pt x="259166" y="354330"/>
                  </a:lnTo>
                  <a:lnTo>
                    <a:pt x="243115" y="355600"/>
                  </a:lnTo>
                  <a:lnTo>
                    <a:pt x="203887" y="375920"/>
                  </a:lnTo>
                  <a:lnTo>
                    <a:pt x="190996" y="391160"/>
                  </a:lnTo>
                  <a:lnTo>
                    <a:pt x="190334" y="392430"/>
                  </a:lnTo>
                  <a:close/>
                </a:path>
                <a:path w="339725" h="405129">
                  <a:moveTo>
                    <a:pt x="192391" y="350520"/>
                  </a:moveTo>
                  <a:lnTo>
                    <a:pt x="174988" y="350520"/>
                  </a:lnTo>
                  <a:lnTo>
                    <a:pt x="179549" y="345440"/>
                  </a:lnTo>
                  <a:lnTo>
                    <a:pt x="214917" y="321310"/>
                  </a:lnTo>
                  <a:lnTo>
                    <a:pt x="254162" y="314960"/>
                  </a:lnTo>
                  <a:lnTo>
                    <a:pt x="279852" y="314960"/>
                  </a:lnTo>
                  <a:lnTo>
                    <a:pt x="279852" y="228600"/>
                  </a:lnTo>
                  <a:lnTo>
                    <a:pt x="292126" y="228600"/>
                  </a:lnTo>
                  <a:lnTo>
                    <a:pt x="292126" y="323850"/>
                  </a:lnTo>
                  <a:lnTo>
                    <a:pt x="290295" y="326390"/>
                  </a:lnTo>
                  <a:lnTo>
                    <a:pt x="263930" y="326390"/>
                  </a:lnTo>
                  <a:lnTo>
                    <a:pt x="242862" y="327660"/>
                  </a:lnTo>
                  <a:lnTo>
                    <a:pt x="222360" y="331470"/>
                  </a:lnTo>
                  <a:lnTo>
                    <a:pt x="201998" y="342900"/>
                  </a:lnTo>
                  <a:lnTo>
                    <a:pt x="193861" y="349250"/>
                  </a:lnTo>
                  <a:lnTo>
                    <a:pt x="192391" y="350520"/>
                  </a:lnTo>
                  <a:close/>
                </a:path>
                <a:path w="339725" h="405129">
                  <a:moveTo>
                    <a:pt x="77471" y="256540"/>
                  </a:moveTo>
                  <a:lnTo>
                    <a:pt x="65194" y="256540"/>
                  </a:lnTo>
                  <a:lnTo>
                    <a:pt x="65194" y="241300"/>
                  </a:lnTo>
                  <a:lnTo>
                    <a:pt x="77471" y="241300"/>
                  </a:lnTo>
                  <a:lnTo>
                    <a:pt x="77471" y="256540"/>
                  </a:lnTo>
                  <a:close/>
                </a:path>
                <a:path w="339725" h="405129">
                  <a:moveTo>
                    <a:pt x="142668" y="256540"/>
                  </a:moveTo>
                  <a:lnTo>
                    <a:pt x="130390" y="256540"/>
                  </a:lnTo>
                  <a:lnTo>
                    <a:pt x="130390" y="241300"/>
                  </a:lnTo>
                  <a:lnTo>
                    <a:pt x="142668" y="241300"/>
                  </a:lnTo>
                  <a:lnTo>
                    <a:pt x="142668" y="256540"/>
                  </a:lnTo>
                  <a:close/>
                </a:path>
                <a:path w="339725" h="405129">
                  <a:moveTo>
                    <a:pt x="77471" y="287020"/>
                  </a:moveTo>
                  <a:lnTo>
                    <a:pt x="65194" y="287020"/>
                  </a:lnTo>
                  <a:lnTo>
                    <a:pt x="65194" y="269240"/>
                  </a:lnTo>
                  <a:lnTo>
                    <a:pt x="77471" y="269240"/>
                  </a:lnTo>
                  <a:lnTo>
                    <a:pt x="77471" y="287020"/>
                  </a:lnTo>
                  <a:close/>
                </a:path>
                <a:path w="339725" h="405129">
                  <a:moveTo>
                    <a:pt x="142668" y="287020"/>
                  </a:moveTo>
                  <a:lnTo>
                    <a:pt x="130390" y="287020"/>
                  </a:lnTo>
                  <a:lnTo>
                    <a:pt x="130390" y="269240"/>
                  </a:lnTo>
                  <a:lnTo>
                    <a:pt x="142668" y="269240"/>
                  </a:lnTo>
                  <a:lnTo>
                    <a:pt x="142668" y="287020"/>
                  </a:lnTo>
                  <a:close/>
                </a:path>
                <a:path w="339725" h="405129">
                  <a:moveTo>
                    <a:pt x="182531" y="405130"/>
                  </a:moveTo>
                  <a:lnTo>
                    <a:pt x="155166" y="405130"/>
                  </a:lnTo>
                  <a:lnTo>
                    <a:pt x="153033" y="403860"/>
                  </a:lnTo>
                  <a:lnTo>
                    <a:pt x="151999" y="401320"/>
                  </a:lnTo>
                  <a:lnTo>
                    <a:pt x="146700" y="391160"/>
                  </a:lnTo>
                  <a:lnTo>
                    <a:pt x="111251" y="360680"/>
                  </a:lnTo>
                  <a:lnTo>
                    <a:pt x="81902" y="354330"/>
                  </a:lnTo>
                  <a:lnTo>
                    <a:pt x="27028" y="354330"/>
                  </a:lnTo>
                  <a:lnTo>
                    <a:pt x="24281" y="351790"/>
                  </a:lnTo>
                  <a:lnTo>
                    <a:pt x="24281" y="298450"/>
                  </a:lnTo>
                  <a:lnTo>
                    <a:pt x="36560" y="298450"/>
                  </a:lnTo>
                  <a:lnTo>
                    <a:pt x="36560" y="341630"/>
                  </a:lnTo>
                  <a:lnTo>
                    <a:pt x="79846" y="341630"/>
                  </a:lnTo>
                  <a:lnTo>
                    <a:pt x="133522" y="359410"/>
                  </a:lnTo>
                  <a:lnTo>
                    <a:pt x="148885" y="374650"/>
                  </a:lnTo>
                  <a:lnTo>
                    <a:pt x="155450" y="382270"/>
                  </a:lnTo>
                  <a:lnTo>
                    <a:pt x="161245" y="392430"/>
                  </a:lnTo>
                  <a:lnTo>
                    <a:pt x="190334" y="392430"/>
                  </a:lnTo>
                  <a:lnTo>
                    <a:pt x="185698" y="401320"/>
                  </a:lnTo>
                  <a:lnTo>
                    <a:pt x="184662" y="403860"/>
                  </a:lnTo>
                  <a:lnTo>
                    <a:pt x="182531" y="405130"/>
                  </a:lnTo>
                  <a:close/>
                </a:path>
                <a:path w="339725" h="405129">
                  <a:moveTo>
                    <a:pt x="51711" y="327660"/>
                  </a:moveTo>
                  <a:lnTo>
                    <a:pt x="48318" y="327660"/>
                  </a:lnTo>
                  <a:lnTo>
                    <a:pt x="45570" y="323850"/>
                  </a:lnTo>
                  <a:lnTo>
                    <a:pt x="45570" y="298450"/>
                  </a:lnTo>
                  <a:lnTo>
                    <a:pt x="57848" y="298450"/>
                  </a:lnTo>
                  <a:lnTo>
                    <a:pt x="57848" y="314960"/>
                  </a:lnTo>
                  <a:lnTo>
                    <a:pt x="83537" y="314960"/>
                  </a:lnTo>
                  <a:lnTo>
                    <a:pt x="103177" y="316230"/>
                  </a:lnTo>
                  <a:lnTo>
                    <a:pt x="122782" y="321310"/>
                  </a:lnTo>
                  <a:lnTo>
                    <a:pt x="131597" y="326390"/>
                  </a:lnTo>
                  <a:lnTo>
                    <a:pt x="73770" y="326390"/>
                  </a:lnTo>
                  <a:lnTo>
                    <a:pt x="51711" y="327660"/>
                  </a:lnTo>
                  <a:close/>
                </a:path>
                <a:path w="339725" h="405129">
                  <a:moveTo>
                    <a:pt x="171996" y="378460"/>
                  </a:moveTo>
                  <a:lnTo>
                    <a:pt x="165765" y="378460"/>
                  </a:lnTo>
                  <a:lnTo>
                    <a:pt x="163426" y="373380"/>
                  </a:lnTo>
                  <a:lnTo>
                    <a:pt x="157724" y="364490"/>
                  </a:lnTo>
                  <a:lnTo>
                    <a:pt x="115338" y="331470"/>
                  </a:lnTo>
                  <a:lnTo>
                    <a:pt x="73770" y="326390"/>
                  </a:lnTo>
                  <a:lnTo>
                    <a:pt x="131597" y="326390"/>
                  </a:lnTo>
                  <a:lnTo>
                    <a:pt x="162709" y="350520"/>
                  </a:lnTo>
                  <a:lnTo>
                    <a:pt x="192391" y="350520"/>
                  </a:lnTo>
                  <a:lnTo>
                    <a:pt x="186510" y="355600"/>
                  </a:lnTo>
                  <a:lnTo>
                    <a:pt x="179972" y="364490"/>
                  </a:lnTo>
                  <a:lnTo>
                    <a:pt x="174268" y="373380"/>
                  </a:lnTo>
                  <a:lnTo>
                    <a:pt x="171996" y="378460"/>
                  </a:lnTo>
                  <a:close/>
                </a:path>
                <a:path w="339725" h="405129">
                  <a:moveTo>
                    <a:pt x="289379" y="327660"/>
                  </a:moveTo>
                  <a:lnTo>
                    <a:pt x="285989" y="327660"/>
                  </a:lnTo>
                  <a:lnTo>
                    <a:pt x="263930" y="326390"/>
                  </a:lnTo>
                  <a:lnTo>
                    <a:pt x="290295" y="326390"/>
                  </a:lnTo>
                  <a:lnTo>
                    <a:pt x="289379" y="3276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83307" y="4764051"/>
              <a:ext cx="325254" cy="264671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5445112" y="4666677"/>
              <a:ext cx="304800" cy="423545"/>
            </a:xfrm>
            <a:custGeom>
              <a:avLst/>
              <a:gdLst/>
              <a:ahLst/>
              <a:cxnLst/>
              <a:rect l="l" t="t" r="r" b="b"/>
              <a:pathLst>
                <a:path w="304800" h="423545">
                  <a:moveTo>
                    <a:pt x="102184" y="85153"/>
                  </a:moveTo>
                  <a:lnTo>
                    <a:pt x="98323" y="71805"/>
                  </a:lnTo>
                  <a:lnTo>
                    <a:pt x="96456" y="65366"/>
                  </a:lnTo>
                  <a:lnTo>
                    <a:pt x="90271" y="44030"/>
                  </a:lnTo>
                  <a:lnTo>
                    <a:pt x="88214" y="36918"/>
                  </a:lnTo>
                  <a:lnTo>
                    <a:pt x="88214" y="65366"/>
                  </a:lnTo>
                  <a:lnTo>
                    <a:pt x="77139" y="65366"/>
                  </a:lnTo>
                  <a:lnTo>
                    <a:pt x="80403" y="53670"/>
                  </a:lnTo>
                  <a:lnTo>
                    <a:pt x="81191" y="50647"/>
                  </a:lnTo>
                  <a:lnTo>
                    <a:pt x="81902" y="47002"/>
                  </a:lnTo>
                  <a:lnTo>
                    <a:pt x="82550" y="44030"/>
                  </a:lnTo>
                  <a:lnTo>
                    <a:pt x="82727" y="44030"/>
                  </a:lnTo>
                  <a:lnTo>
                    <a:pt x="83400" y="47002"/>
                  </a:lnTo>
                  <a:lnTo>
                    <a:pt x="84137" y="50647"/>
                  </a:lnTo>
                  <a:lnTo>
                    <a:pt x="84950" y="53670"/>
                  </a:lnTo>
                  <a:lnTo>
                    <a:pt x="88214" y="65366"/>
                  </a:lnTo>
                  <a:lnTo>
                    <a:pt x="88214" y="36918"/>
                  </a:lnTo>
                  <a:lnTo>
                    <a:pt x="77635" y="36830"/>
                  </a:lnTo>
                  <a:lnTo>
                    <a:pt x="63550" y="85153"/>
                  </a:lnTo>
                  <a:lnTo>
                    <a:pt x="72174" y="85153"/>
                  </a:lnTo>
                  <a:lnTo>
                    <a:pt x="75844" y="71805"/>
                  </a:lnTo>
                  <a:lnTo>
                    <a:pt x="89484" y="71805"/>
                  </a:lnTo>
                  <a:lnTo>
                    <a:pt x="93306" y="85153"/>
                  </a:lnTo>
                  <a:lnTo>
                    <a:pt x="102184" y="85153"/>
                  </a:lnTo>
                  <a:close/>
                </a:path>
                <a:path w="304800" h="423545">
                  <a:moveTo>
                    <a:pt x="140919" y="36830"/>
                  </a:moveTo>
                  <a:lnTo>
                    <a:pt x="132461" y="36830"/>
                  </a:lnTo>
                  <a:lnTo>
                    <a:pt x="132461" y="75095"/>
                  </a:lnTo>
                  <a:lnTo>
                    <a:pt x="129108" y="78892"/>
                  </a:lnTo>
                  <a:lnTo>
                    <a:pt x="118579" y="78892"/>
                  </a:lnTo>
                  <a:lnTo>
                    <a:pt x="115087" y="75069"/>
                  </a:lnTo>
                  <a:lnTo>
                    <a:pt x="115087" y="36830"/>
                  </a:lnTo>
                  <a:lnTo>
                    <a:pt x="106591" y="36830"/>
                  </a:lnTo>
                  <a:lnTo>
                    <a:pt x="106591" y="65455"/>
                  </a:lnTo>
                  <a:lnTo>
                    <a:pt x="107746" y="74663"/>
                  </a:lnTo>
                  <a:lnTo>
                    <a:pt x="111086" y="81013"/>
                  </a:lnTo>
                  <a:lnTo>
                    <a:pt x="116370" y="84696"/>
                  </a:lnTo>
                  <a:lnTo>
                    <a:pt x="123405" y="85890"/>
                  </a:lnTo>
                  <a:lnTo>
                    <a:pt x="130644" y="84658"/>
                  </a:lnTo>
                  <a:lnTo>
                    <a:pt x="136169" y="80911"/>
                  </a:lnTo>
                  <a:lnTo>
                    <a:pt x="139687" y="74498"/>
                  </a:lnTo>
                  <a:lnTo>
                    <a:pt x="140919" y="65316"/>
                  </a:lnTo>
                  <a:lnTo>
                    <a:pt x="140919" y="36830"/>
                  </a:lnTo>
                  <a:close/>
                </a:path>
                <a:path w="304800" h="423545">
                  <a:moveTo>
                    <a:pt x="187629" y="51257"/>
                  </a:moveTo>
                  <a:lnTo>
                    <a:pt x="184899" y="45326"/>
                  </a:lnTo>
                  <a:lnTo>
                    <a:pt x="182295" y="43141"/>
                  </a:lnTo>
                  <a:lnTo>
                    <a:pt x="180428" y="41592"/>
                  </a:lnTo>
                  <a:lnTo>
                    <a:pt x="178790" y="40195"/>
                  </a:lnTo>
                  <a:lnTo>
                    <a:pt x="178790" y="49352"/>
                  </a:lnTo>
                  <a:lnTo>
                    <a:pt x="178727" y="73075"/>
                  </a:lnTo>
                  <a:lnTo>
                    <a:pt x="172593" y="78778"/>
                  </a:lnTo>
                  <a:lnTo>
                    <a:pt x="159969" y="78778"/>
                  </a:lnTo>
                  <a:lnTo>
                    <a:pt x="158915" y="78600"/>
                  </a:lnTo>
                  <a:lnTo>
                    <a:pt x="158915" y="43586"/>
                  </a:lnTo>
                  <a:lnTo>
                    <a:pt x="160007" y="43357"/>
                  </a:lnTo>
                  <a:lnTo>
                    <a:pt x="161620" y="43141"/>
                  </a:lnTo>
                  <a:lnTo>
                    <a:pt x="173558" y="43141"/>
                  </a:lnTo>
                  <a:lnTo>
                    <a:pt x="178790" y="49352"/>
                  </a:lnTo>
                  <a:lnTo>
                    <a:pt x="178790" y="40195"/>
                  </a:lnTo>
                  <a:lnTo>
                    <a:pt x="176466" y="38201"/>
                  </a:lnTo>
                  <a:lnTo>
                    <a:pt x="170942" y="36474"/>
                  </a:lnTo>
                  <a:lnTo>
                    <a:pt x="158267" y="36474"/>
                  </a:lnTo>
                  <a:lnTo>
                    <a:pt x="153911" y="36855"/>
                  </a:lnTo>
                  <a:lnTo>
                    <a:pt x="150482" y="37477"/>
                  </a:lnTo>
                  <a:lnTo>
                    <a:pt x="150482" y="84950"/>
                  </a:lnTo>
                  <a:lnTo>
                    <a:pt x="153035" y="85293"/>
                  </a:lnTo>
                  <a:lnTo>
                    <a:pt x="156565" y="85534"/>
                  </a:lnTo>
                  <a:lnTo>
                    <a:pt x="169379" y="85534"/>
                  </a:lnTo>
                  <a:lnTo>
                    <a:pt x="176136" y="83502"/>
                  </a:lnTo>
                  <a:lnTo>
                    <a:pt x="181229" y="78778"/>
                  </a:lnTo>
                  <a:lnTo>
                    <a:pt x="184785" y="75514"/>
                  </a:lnTo>
                  <a:lnTo>
                    <a:pt x="187629" y="69075"/>
                  </a:lnTo>
                  <a:lnTo>
                    <a:pt x="187629" y="51257"/>
                  </a:lnTo>
                  <a:close/>
                </a:path>
                <a:path w="304800" h="423545">
                  <a:moveTo>
                    <a:pt x="203276" y="36830"/>
                  </a:moveTo>
                  <a:lnTo>
                    <a:pt x="194805" y="36830"/>
                  </a:lnTo>
                  <a:lnTo>
                    <a:pt x="194805" y="85153"/>
                  </a:lnTo>
                  <a:lnTo>
                    <a:pt x="203276" y="85153"/>
                  </a:lnTo>
                  <a:lnTo>
                    <a:pt x="203276" y="36830"/>
                  </a:lnTo>
                  <a:close/>
                </a:path>
                <a:path w="304800" h="423545">
                  <a:moveTo>
                    <a:pt x="241896" y="36830"/>
                  </a:moveTo>
                  <a:lnTo>
                    <a:pt x="208800" y="36830"/>
                  </a:lnTo>
                  <a:lnTo>
                    <a:pt x="208800" y="44119"/>
                  </a:lnTo>
                  <a:lnTo>
                    <a:pt x="221056" y="44119"/>
                  </a:lnTo>
                  <a:lnTo>
                    <a:pt x="221056" y="85153"/>
                  </a:lnTo>
                  <a:lnTo>
                    <a:pt x="229552" y="85153"/>
                  </a:lnTo>
                  <a:lnTo>
                    <a:pt x="229552" y="44119"/>
                  </a:lnTo>
                  <a:lnTo>
                    <a:pt x="241896" y="44119"/>
                  </a:lnTo>
                  <a:lnTo>
                    <a:pt x="241896" y="36830"/>
                  </a:lnTo>
                  <a:close/>
                </a:path>
                <a:path w="304800" h="423545">
                  <a:moveTo>
                    <a:pt x="304304" y="349148"/>
                  </a:moveTo>
                  <a:lnTo>
                    <a:pt x="300888" y="345732"/>
                  </a:lnTo>
                  <a:lnTo>
                    <a:pt x="296722" y="345732"/>
                  </a:lnTo>
                  <a:lnTo>
                    <a:pt x="292544" y="345732"/>
                  </a:lnTo>
                  <a:lnTo>
                    <a:pt x="289166" y="349123"/>
                  </a:lnTo>
                  <a:lnTo>
                    <a:pt x="289166" y="408343"/>
                  </a:lnTo>
                  <a:lnTo>
                    <a:pt x="15138" y="408343"/>
                  </a:lnTo>
                  <a:lnTo>
                    <a:pt x="15138" y="15138"/>
                  </a:lnTo>
                  <a:lnTo>
                    <a:pt x="289166" y="15138"/>
                  </a:lnTo>
                  <a:lnTo>
                    <a:pt x="289166" y="149733"/>
                  </a:lnTo>
                  <a:lnTo>
                    <a:pt x="292544" y="153111"/>
                  </a:lnTo>
                  <a:lnTo>
                    <a:pt x="300888" y="153111"/>
                  </a:lnTo>
                  <a:lnTo>
                    <a:pt x="304266" y="149733"/>
                  </a:lnTo>
                  <a:lnTo>
                    <a:pt x="304266" y="1117"/>
                  </a:lnTo>
                  <a:lnTo>
                    <a:pt x="303149" y="0"/>
                  </a:lnTo>
                  <a:lnTo>
                    <a:pt x="1117" y="0"/>
                  </a:lnTo>
                  <a:lnTo>
                    <a:pt x="0" y="1117"/>
                  </a:lnTo>
                  <a:lnTo>
                    <a:pt x="0" y="422402"/>
                  </a:lnTo>
                  <a:lnTo>
                    <a:pt x="1117" y="423519"/>
                  </a:lnTo>
                  <a:lnTo>
                    <a:pt x="303187" y="423519"/>
                  </a:lnTo>
                  <a:lnTo>
                    <a:pt x="304304" y="422402"/>
                  </a:lnTo>
                  <a:lnTo>
                    <a:pt x="304304" y="3491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49005" y="4972931"/>
              <a:ext cx="94063" cy="94063"/>
            </a:xfrm>
            <a:prstGeom prst="rect">
              <a:avLst/>
            </a:prstGeom>
          </p:spPr>
        </p:pic>
      </p:grpSp>
      <p:grpSp>
        <p:nvGrpSpPr>
          <p:cNvPr id="44" name="object 44"/>
          <p:cNvGrpSpPr/>
          <p:nvPr/>
        </p:nvGrpSpPr>
        <p:grpSpPr>
          <a:xfrm>
            <a:off x="1689930" y="6819182"/>
            <a:ext cx="4118610" cy="2042160"/>
            <a:chOff x="1689930" y="6819182"/>
            <a:chExt cx="4118610" cy="2042160"/>
          </a:xfrm>
        </p:grpSpPr>
        <p:sp>
          <p:nvSpPr>
            <p:cNvPr id="45" name="object 45"/>
            <p:cNvSpPr/>
            <p:nvPr/>
          </p:nvSpPr>
          <p:spPr>
            <a:xfrm>
              <a:off x="4987341" y="6819182"/>
              <a:ext cx="0" cy="2042160"/>
            </a:xfrm>
            <a:custGeom>
              <a:avLst/>
              <a:gdLst/>
              <a:ahLst/>
              <a:cxnLst/>
              <a:rect l="l" t="t" r="r" b="b"/>
              <a:pathLst>
                <a:path w="0" h="2042159">
                  <a:moveTo>
                    <a:pt x="0" y="2042153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092A3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5396190" y="7100992"/>
              <a:ext cx="412750" cy="408940"/>
            </a:xfrm>
            <a:custGeom>
              <a:avLst/>
              <a:gdLst/>
              <a:ahLst/>
              <a:cxnLst/>
              <a:rect l="l" t="t" r="r" b="b"/>
              <a:pathLst>
                <a:path w="412750" h="408940">
                  <a:moveTo>
                    <a:pt x="252686" y="101599"/>
                  </a:moveTo>
                  <a:lnTo>
                    <a:pt x="248243" y="101599"/>
                  </a:lnTo>
                  <a:lnTo>
                    <a:pt x="246029" y="100329"/>
                  </a:lnTo>
                  <a:lnTo>
                    <a:pt x="241725" y="96519"/>
                  </a:lnTo>
                  <a:lnTo>
                    <a:pt x="240688" y="92709"/>
                  </a:lnTo>
                  <a:lnTo>
                    <a:pt x="245574" y="74929"/>
                  </a:lnTo>
                  <a:lnTo>
                    <a:pt x="128780" y="43179"/>
                  </a:lnTo>
                  <a:lnTo>
                    <a:pt x="126440" y="43179"/>
                  </a:lnTo>
                  <a:lnTo>
                    <a:pt x="124482" y="41909"/>
                  </a:lnTo>
                  <a:lnTo>
                    <a:pt x="122054" y="36829"/>
                  </a:lnTo>
                  <a:lnTo>
                    <a:pt x="121731" y="34289"/>
                  </a:lnTo>
                  <a:lnTo>
                    <a:pt x="129951" y="3809"/>
                  </a:lnTo>
                  <a:lnTo>
                    <a:pt x="131454" y="2539"/>
                  </a:lnTo>
                  <a:lnTo>
                    <a:pt x="135658" y="0"/>
                  </a:lnTo>
                  <a:lnTo>
                    <a:pt x="138104" y="0"/>
                  </a:lnTo>
                  <a:lnTo>
                    <a:pt x="180993" y="11429"/>
                  </a:lnTo>
                  <a:lnTo>
                    <a:pt x="139779" y="11429"/>
                  </a:lnTo>
                  <a:lnTo>
                    <a:pt x="134044" y="33019"/>
                  </a:lnTo>
                  <a:lnTo>
                    <a:pt x="255543" y="66039"/>
                  </a:lnTo>
                  <a:lnTo>
                    <a:pt x="256794" y="66039"/>
                  </a:lnTo>
                  <a:lnTo>
                    <a:pt x="258314" y="69849"/>
                  </a:lnTo>
                  <a:lnTo>
                    <a:pt x="258520" y="71119"/>
                  </a:lnTo>
                  <a:lnTo>
                    <a:pt x="253768" y="88899"/>
                  </a:lnTo>
                  <a:lnTo>
                    <a:pt x="287028" y="88899"/>
                  </a:lnTo>
                  <a:lnTo>
                    <a:pt x="252686" y="101599"/>
                  </a:lnTo>
                  <a:close/>
                </a:path>
                <a:path w="412750" h="408940">
                  <a:moveTo>
                    <a:pt x="268992" y="31749"/>
                  </a:moveTo>
                  <a:lnTo>
                    <a:pt x="257240" y="31749"/>
                  </a:lnTo>
                  <a:lnTo>
                    <a:pt x="262124" y="12699"/>
                  </a:lnTo>
                  <a:lnTo>
                    <a:pt x="264793" y="10159"/>
                  </a:lnTo>
                  <a:lnTo>
                    <a:pt x="271580" y="8889"/>
                  </a:lnTo>
                  <a:lnTo>
                    <a:pt x="275066" y="10159"/>
                  </a:lnTo>
                  <a:lnTo>
                    <a:pt x="286531" y="24129"/>
                  </a:lnTo>
                  <a:lnTo>
                    <a:pt x="271185" y="24129"/>
                  </a:lnTo>
                  <a:lnTo>
                    <a:pt x="268992" y="31749"/>
                  </a:lnTo>
                  <a:close/>
                </a:path>
                <a:path w="412750" h="408940">
                  <a:moveTo>
                    <a:pt x="262842" y="44449"/>
                  </a:moveTo>
                  <a:lnTo>
                    <a:pt x="261277" y="44449"/>
                  </a:lnTo>
                  <a:lnTo>
                    <a:pt x="139777" y="11429"/>
                  </a:lnTo>
                  <a:lnTo>
                    <a:pt x="180993" y="11429"/>
                  </a:lnTo>
                  <a:lnTo>
                    <a:pt x="257240" y="31749"/>
                  </a:lnTo>
                  <a:lnTo>
                    <a:pt x="268992" y="31749"/>
                  </a:lnTo>
                  <a:lnTo>
                    <a:pt x="266434" y="40639"/>
                  </a:lnTo>
                  <a:lnTo>
                    <a:pt x="265474" y="41909"/>
                  </a:lnTo>
                  <a:lnTo>
                    <a:pt x="262842" y="44449"/>
                  </a:lnTo>
                  <a:close/>
                </a:path>
                <a:path w="412750" h="408940">
                  <a:moveTo>
                    <a:pt x="287028" y="88899"/>
                  </a:moveTo>
                  <a:lnTo>
                    <a:pt x="253768" y="88899"/>
                  </a:lnTo>
                  <a:lnTo>
                    <a:pt x="308182" y="68579"/>
                  </a:lnTo>
                  <a:lnTo>
                    <a:pt x="271185" y="24129"/>
                  </a:lnTo>
                  <a:lnTo>
                    <a:pt x="286531" y="24129"/>
                  </a:lnTo>
                  <a:lnTo>
                    <a:pt x="320926" y="66039"/>
                  </a:lnTo>
                  <a:lnTo>
                    <a:pt x="321584" y="68579"/>
                  </a:lnTo>
                  <a:lnTo>
                    <a:pt x="320016" y="74929"/>
                  </a:lnTo>
                  <a:lnTo>
                    <a:pt x="317936" y="77469"/>
                  </a:lnTo>
                  <a:lnTo>
                    <a:pt x="287028" y="88899"/>
                  </a:lnTo>
                  <a:close/>
                </a:path>
                <a:path w="412750" h="408940">
                  <a:moveTo>
                    <a:pt x="74461" y="201929"/>
                  </a:moveTo>
                  <a:lnTo>
                    <a:pt x="46458" y="196849"/>
                  </a:lnTo>
                  <a:lnTo>
                    <a:pt x="23567" y="180339"/>
                  </a:lnTo>
                  <a:lnTo>
                    <a:pt x="8121" y="157479"/>
                  </a:lnTo>
                  <a:lnTo>
                    <a:pt x="2453" y="129539"/>
                  </a:lnTo>
                  <a:lnTo>
                    <a:pt x="8121" y="101599"/>
                  </a:lnTo>
                  <a:lnTo>
                    <a:pt x="23568" y="78739"/>
                  </a:lnTo>
                  <a:lnTo>
                    <a:pt x="46459" y="63499"/>
                  </a:lnTo>
                  <a:lnTo>
                    <a:pt x="74461" y="58419"/>
                  </a:lnTo>
                  <a:lnTo>
                    <a:pt x="102462" y="63499"/>
                  </a:lnTo>
                  <a:lnTo>
                    <a:pt x="112000" y="69849"/>
                  </a:lnTo>
                  <a:lnTo>
                    <a:pt x="74460" y="69849"/>
                  </a:lnTo>
                  <a:lnTo>
                    <a:pt x="50915" y="73659"/>
                  </a:lnTo>
                  <a:lnTo>
                    <a:pt x="31666" y="87629"/>
                  </a:lnTo>
                  <a:lnTo>
                    <a:pt x="18678" y="106679"/>
                  </a:lnTo>
                  <a:lnTo>
                    <a:pt x="13912" y="129539"/>
                  </a:lnTo>
                  <a:lnTo>
                    <a:pt x="18678" y="153669"/>
                  </a:lnTo>
                  <a:lnTo>
                    <a:pt x="31667" y="172719"/>
                  </a:lnTo>
                  <a:lnTo>
                    <a:pt x="50915" y="185419"/>
                  </a:lnTo>
                  <a:lnTo>
                    <a:pt x="74461" y="190499"/>
                  </a:lnTo>
                  <a:lnTo>
                    <a:pt x="111266" y="190499"/>
                  </a:lnTo>
                  <a:lnTo>
                    <a:pt x="102462" y="196849"/>
                  </a:lnTo>
                  <a:lnTo>
                    <a:pt x="74461" y="201929"/>
                  </a:lnTo>
                  <a:close/>
                </a:path>
                <a:path w="412750" h="408940">
                  <a:moveTo>
                    <a:pt x="111266" y="190499"/>
                  </a:moveTo>
                  <a:lnTo>
                    <a:pt x="74461" y="190499"/>
                  </a:lnTo>
                  <a:lnTo>
                    <a:pt x="98006" y="185419"/>
                  </a:lnTo>
                  <a:lnTo>
                    <a:pt x="117255" y="172719"/>
                  </a:lnTo>
                  <a:lnTo>
                    <a:pt x="130243" y="153669"/>
                  </a:lnTo>
                  <a:lnTo>
                    <a:pt x="135009" y="129539"/>
                  </a:lnTo>
                  <a:lnTo>
                    <a:pt x="130243" y="106679"/>
                  </a:lnTo>
                  <a:lnTo>
                    <a:pt x="117255" y="87629"/>
                  </a:lnTo>
                  <a:lnTo>
                    <a:pt x="98006" y="73659"/>
                  </a:lnTo>
                  <a:lnTo>
                    <a:pt x="74461" y="69849"/>
                  </a:lnTo>
                  <a:lnTo>
                    <a:pt x="112000" y="69849"/>
                  </a:lnTo>
                  <a:lnTo>
                    <a:pt x="125354" y="78739"/>
                  </a:lnTo>
                  <a:lnTo>
                    <a:pt x="140800" y="101599"/>
                  </a:lnTo>
                  <a:lnTo>
                    <a:pt x="146468" y="129539"/>
                  </a:lnTo>
                  <a:lnTo>
                    <a:pt x="140800" y="157479"/>
                  </a:lnTo>
                  <a:lnTo>
                    <a:pt x="125353" y="180339"/>
                  </a:lnTo>
                  <a:lnTo>
                    <a:pt x="111266" y="190499"/>
                  </a:lnTo>
                  <a:close/>
                </a:path>
                <a:path w="412750" h="408940">
                  <a:moveTo>
                    <a:pt x="74461" y="186689"/>
                  </a:moveTo>
                  <a:lnTo>
                    <a:pt x="52463" y="181609"/>
                  </a:lnTo>
                  <a:lnTo>
                    <a:pt x="34480" y="170179"/>
                  </a:lnTo>
                  <a:lnTo>
                    <a:pt x="22345" y="152399"/>
                  </a:lnTo>
                  <a:lnTo>
                    <a:pt x="17893" y="129539"/>
                  </a:lnTo>
                  <a:lnTo>
                    <a:pt x="22345" y="107949"/>
                  </a:lnTo>
                  <a:lnTo>
                    <a:pt x="34480" y="90169"/>
                  </a:lnTo>
                  <a:lnTo>
                    <a:pt x="52463" y="77469"/>
                  </a:lnTo>
                  <a:lnTo>
                    <a:pt x="74461" y="73659"/>
                  </a:lnTo>
                  <a:lnTo>
                    <a:pt x="96458" y="77469"/>
                  </a:lnTo>
                  <a:lnTo>
                    <a:pt x="107248" y="85089"/>
                  </a:lnTo>
                  <a:lnTo>
                    <a:pt x="74461" y="85089"/>
                  </a:lnTo>
                  <a:lnTo>
                    <a:pt x="56919" y="88899"/>
                  </a:lnTo>
                  <a:lnTo>
                    <a:pt x="42579" y="97789"/>
                  </a:lnTo>
                  <a:lnTo>
                    <a:pt x="32902" y="113029"/>
                  </a:lnTo>
                  <a:lnTo>
                    <a:pt x="29352" y="129539"/>
                  </a:lnTo>
                  <a:lnTo>
                    <a:pt x="32902" y="147319"/>
                  </a:lnTo>
                  <a:lnTo>
                    <a:pt x="42579" y="161289"/>
                  </a:lnTo>
                  <a:lnTo>
                    <a:pt x="56919" y="171449"/>
                  </a:lnTo>
                  <a:lnTo>
                    <a:pt x="74461" y="175259"/>
                  </a:lnTo>
                  <a:lnTo>
                    <a:pt x="106449" y="175259"/>
                  </a:lnTo>
                  <a:lnTo>
                    <a:pt x="96458" y="181609"/>
                  </a:lnTo>
                  <a:lnTo>
                    <a:pt x="74461" y="186689"/>
                  </a:lnTo>
                  <a:close/>
                </a:path>
                <a:path w="412750" h="408940">
                  <a:moveTo>
                    <a:pt x="106449" y="175259"/>
                  </a:moveTo>
                  <a:lnTo>
                    <a:pt x="74461" y="175259"/>
                  </a:lnTo>
                  <a:lnTo>
                    <a:pt x="92002" y="171449"/>
                  </a:lnTo>
                  <a:lnTo>
                    <a:pt x="106343" y="161289"/>
                  </a:lnTo>
                  <a:lnTo>
                    <a:pt x="116019" y="147319"/>
                  </a:lnTo>
                  <a:lnTo>
                    <a:pt x="119570" y="129539"/>
                  </a:lnTo>
                  <a:lnTo>
                    <a:pt x="116019" y="113029"/>
                  </a:lnTo>
                  <a:lnTo>
                    <a:pt x="106343" y="97789"/>
                  </a:lnTo>
                  <a:lnTo>
                    <a:pt x="92002" y="88899"/>
                  </a:lnTo>
                  <a:lnTo>
                    <a:pt x="74461" y="85089"/>
                  </a:lnTo>
                  <a:lnTo>
                    <a:pt x="107248" y="85089"/>
                  </a:lnTo>
                  <a:lnTo>
                    <a:pt x="114442" y="90169"/>
                  </a:lnTo>
                  <a:lnTo>
                    <a:pt x="126576" y="107949"/>
                  </a:lnTo>
                  <a:lnTo>
                    <a:pt x="131028" y="129539"/>
                  </a:lnTo>
                  <a:lnTo>
                    <a:pt x="126576" y="152399"/>
                  </a:lnTo>
                  <a:lnTo>
                    <a:pt x="114442" y="170179"/>
                  </a:lnTo>
                  <a:lnTo>
                    <a:pt x="106449" y="175259"/>
                  </a:lnTo>
                  <a:close/>
                </a:path>
                <a:path w="412750" h="408940">
                  <a:moveTo>
                    <a:pt x="94416" y="147319"/>
                  </a:moveTo>
                  <a:lnTo>
                    <a:pt x="76248" y="147319"/>
                  </a:lnTo>
                  <a:lnTo>
                    <a:pt x="82685" y="143509"/>
                  </a:lnTo>
                  <a:lnTo>
                    <a:pt x="83507" y="142239"/>
                  </a:lnTo>
                  <a:lnTo>
                    <a:pt x="83656" y="140969"/>
                  </a:lnTo>
                  <a:lnTo>
                    <a:pt x="83891" y="139699"/>
                  </a:lnTo>
                  <a:lnTo>
                    <a:pt x="78979" y="137159"/>
                  </a:lnTo>
                  <a:lnTo>
                    <a:pt x="70206" y="134619"/>
                  </a:lnTo>
                  <a:lnTo>
                    <a:pt x="64616" y="133349"/>
                  </a:lnTo>
                  <a:lnTo>
                    <a:pt x="59382" y="130809"/>
                  </a:lnTo>
                  <a:lnTo>
                    <a:pt x="52802" y="120649"/>
                  </a:lnTo>
                  <a:lnTo>
                    <a:pt x="53603" y="113029"/>
                  </a:lnTo>
                  <a:lnTo>
                    <a:pt x="61045" y="105409"/>
                  </a:lnTo>
                  <a:lnTo>
                    <a:pt x="68727" y="102869"/>
                  </a:lnTo>
                  <a:lnTo>
                    <a:pt x="68727" y="96519"/>
                  </a:lnTo>
                  <a:lnTo>
                    <a:pt x="71292" y="93979"/>
                  </a:lnTo>
                  <a:lnTo>
                    <a:pt x="77621" y="93979"/>
                  </a:lnTo>
                  <a:lnTo>
                    <a:pt x="80186" y="96519"/>
                  </a:lnTo>
                  <a:lnTo>
                    <a:pt x="80186" y="102869"/>
                  </a:lnTo>
                  <a:lnTo>
                    <a:pt x="86331" y="104139"/>
                  </a:lnTo>
                  <a:lnTo>
                    <a:pt x="91138" y="107949"/>
                  </a:lnTo>
                  <a:lnTo>
                    <a:pt x="94387" y="114299"/>
                  </a:lnTo>
                  <a:lnTo>
                    <a:pt x="72077" y="114299"/>
                  </a:lnTo>
                  <a:lnTo>
                    <a:pt x="67971" y="115569"/>
                  </a:lnTo>
                  <a:lnTo>
                    <a:pt x="65785" y="116839"/>
                  </a:lnTo>
                  <a:lnTo>
                    <a:pt x="65122" y="118109"/>
                  </a:lnTo>
                  <a:lnTo>
                    <a:pt x="66790" y="120649"/>
                  </a:lnTo>
                  <a:lnTo>
                    <a:pt x="68571" y="121919"/>
                  </a:lnTo>
                  <a:lnTo>
                    <a:pt x="73074" y="123189"/>
                  </a:lnTo>
                  <a:lnTo>
                    <a:pt x="83303" y="125729"/>
                  </a:lnTo>
                  <a:lnTo>
                    <a:pt x="92968" y="132079"/>
                  </a:lnTo>
                  <a:lnTo>
                    <a:pt x="95769" y="137159"/>
                  </a:lnTo>
                  <a:lnTo>
                    <a:pt x="94416" y="147319"/>
                  </a:lnTo>
                  <a:close/>
                </a:path>
                <a:path w="412750" h="408940">
                  <a:moveTo>
                    <a:pt x="88423" y="121919"/>
                  </a:moveTo>
                  <a:lnTo>
                    <a:pt x="84949" y="120649"/>
                  </a:lnTo>
                  <a:lnTo>
                    <a:pt x="82607" y="115569"/>
                  </a:lnTo>
                  <a:lnTo>
                    <a:pt x="79982" y="114299"/>
                  </a:lnTo>
                  <a:lnTo>
                    <a:pt x="94387" y="114299"/>
                  </a:lnTo>
                  <a:lnTo>
                    <a:pt x="95037" y="115569"/>
                  </a:lnTo>
                  <a:lnTo>
                    <a:pt x="93996" y="118109"/>
                  </a:lnTo>
                  <a:lnTo>
                    <a:pt x="88423" y="121919"/>
                  </a:lnTo>
                  <a:close/>
                </a:path>
                <a:path w="412750" h="408940">
                  <a:moveTo>
                    <a:pt x="334078" y="271779"/>
                  </a:moveTo>
                  <a:lnTo>
                    <a:pt x="303640" y="265429"/>
                  </a:lnTo>
                  <a:lnTo>
                    <a:pt x="278757" y="248919"/>
                  </a:lnTo>
                  <a:lnTo>
                    <a:pt x="261966" y="223519"/>
                  </a:lnTo>
                  <a:lnTo>
                    <a:pt x="255806" y="193039"/>
                  </a:lnTo>
                  <a:lnTo>
                    <a:pt x="261966" y="162559"/>
                  </a:lnTo>
                  <a:lnTo>
                    <a:pt x="278757" y="137159"/>
                  </a:lnTo>
                  <a:lnTo>
                    <a:pt x="303640" y="120649"/>
                  </a:lnTo>
                  <a:lnTo>
                    <a:pt x="334078" y="114299"/>
                  </a:lnTo>
                  <a:lnTo>
                    <a:pt x="364515" y="120649"/>
                  </a:lnTo>
                  <a:lnTo>
                    <a:pt x="372172" y="125729"/>
                  </a:lnTo>
                  <a:lnTo>
                    <a:pt x="334078" y="125729"/>
                  </a:lnTo>
                  <a:lnTo>
                    <a:pt x="308096" y="130809"/>
                  </a:lnTo>
                  <a:lnTo>
                    <a:pt x="286856" y="146049"/>
                  </a:lnTo>
                  <a:lnTo>
                    <a:pt x="272523" y="167639"/>
                  </a:lnTo>
                  <a:lnTo>
                    <a:pt x="267265" y="193039"/>
                  </a:lnTo>
                  <a:lnTo>
                    <a:pt x="272523" y="218439"/>
                  </a:lnTo>
                  <a:lnTo>
                    <a:pt x="286856" y="240029"/>
                  </a:lnTo>
                  <a:lnTo>
                    <a:pt x="308096" y="253999"/>
                  </a:lnTo>
                  <a:lnTo>
                    <a:pt x="334078" y="260349"/>
                  </a:lnTo>
                  <a:lnTo>
                    <a:pt x="372172" y="260349"/>
                  </a:lnTo>
                  <a:lnTo>
                    <a:pt x="364515" y="265429"/>
                  </a:lnTo>
                  <a:lnTo>
                    <a:pt x="334078" y="271779"/>
                  </a:lnTo>
                  <a:close/>
                </a:path>
                <a:path w="412750" h="408940">
                  <a:moveTo>
                    <a:pt x="372172" y="260349"/>
                  </a:moveTo>
                  <a:lnTo>
                    <a:pt x="334078" y="260349"/>
                  </a:lnTo>
                  <a:lnTo>
                    <a:pt x="360059" y="253999"/>
                  </a:lnTo>
                  <a:lnTo>
                    <a:pt x="381299" y="240029"/>
                  </a:lnTo>
                  <a:lnTo>
                    <a:pt x="395632" y="218439"/>
                  </a:lnTo>
                  <a:lnTo>
                    <a:pt x="400891" y="193039"/>
                  </a:lnTo>
                  <a:lnTo>
                    <a:pt x="395632" y="167639"/>
                  </a:lnTo>
                  <a:lnTo>
                    <a:pt x="381299" y="146049"/>
                  </a:lnTo>
                  <a:lnTo>
                    <a:pt x="360059" y="130809"/>
                  </a:lnTo>
                  <a:lnTo>
                    <a:pt x="334078" y="125729"/>
                  </a:lnTo>
                  <a:lnTo>
                    <a:pt x="372172" y="125729"/>
                  </a:lnTo>
                  <a:lnTo>
                    <a:pt x="389398" y="137159"/>
                  </a:lnTo>
                  <a:lnTo>
                    <a:pt x="406189" y="162559"/>
                  </a:lnTo>
                  <a:lnTo>
                    <a:pt x="412350" y="193039"/>
                  </a:lnTo>
                  <a:lnTo>
                    <a:pt x="406189" y="223519"/>
                  </a:lnTo>
                  <a:lnTo>
                    <a:pt x="389398" y="248919"/>
                  </a:lnTo>
                  <a:lnTo>
                    <a:pt x="372172" y="260349"/>
                  </a:lnTo>
                  <a:close/>
                </a:path>
                <a:path w="412750" h="408940">
                  <a:moveTo>
                    <a:pt x="334078" y="253999"/>
                  </a:moveTo>
                  <a:lnTo>
                    <a:pt x="310211" y="248919"/>
                  </a:lnTo>
                  <a:lnTo>
                    <a:pt x="290700" y="236219"/>
                  </a:lnTo>
                  <a:lnTo>
                    <a:pt x="277534" y="217169"/>
                  </a:lnTo>
                  <a:lnTo>
                    <a:pt x="272704" y="193039"/>
                  </a:lnTo>
                  <a:lnTo>
                    <a:pt x="277534" y="168909"/>
                  </a:lnTo>
                  <a:lnTo>
                    <a:pt x="290700" y="149859"/>
                  </a:lnTo>
                  <a:lnTo>
                    <a:pt x="310211" y="135889"/>
                  </a:lnTo>
                  <a:lnTo>
                    <a:pt x="334078" y="132079"/>
                  </a:lnTo>
                  <a:lnTo>
                    <a:pt x="357944" y="135889"/>
                  </a:lnTo>
                  <a:lnTo>
                    <a:pt x="368587" y="143509"/>
                  </a:lnTo>
                  <a:lnTo>
                    <a:pt x="334078" y="143509"/>
                  </a:lnTo>
                  <a:lnTo>
                    <a:pt x="314667" y="147319"/>
                  </a:lnTo>
                  <a:lnTo>
                    <a:pt x="298799" y="157479"/>
                  </a:lnTo>
                  <a:lnTo>
                    <a:pt x="288091" y="173989"/>
                  </a:lnTo>
                  <a:lnTo>
                    <a:pt x="284162" y="193039"/>
                  </a:lnTo>
                  <a:lnTo>
                    <a:pt x="288091" y="212089"/>
                  </a:lnTo>
                  <a:lnTo>
                    <a:pt x="298799" y="228599"/>
                  </a:lnTo>
                  <a:lnTo>
                    <a:pt x="314667" y="238759"/>
                  </a:lnTo>
                  <a:lnTo>
                    <a:pt x="334078" y="242569"/>
                  </a:lnTo>
                  <a:lnTo>
                    <a:pt x="367700" y="242569"/>
                  </a:lnTo>
                  <a:lnTo>
                    <a:pt x="357944" y="248919"/>
                  </a:lnTo>
                  <a:lnTo>
                    <a:pt x="334078" y="253999"/>
                  </a:lnTo>
                  <a:close/>
                </a:path>
                <a:path w="412750" h="408940">
                  <a:moveTo>
                    <a:pt x="77621" y="166369"/>
                  </a:moveTo>
                  <a:lnTo>
                    <a:pt x="71292" y="166369"/>
                  </a:lnTo>
                  <a:lnTo>
                    <a:pt x="68727" y="163829"/>
                  </a:lnTo>
                  <a:lnTo>
                    <a:pt x="68727" y="156209"/>
                  </a:lnTo>
                  <a:lnTo>
                    <a:pt x="62671" y="154939"/>
                  </a:lnTo>
                  <a:lnTo>
                    <a:pt x="57180" y="152399"/>
                  </a:lnTo>
                  <a:lnTo>
                    <a:pt x="52958" y="144779"/>
                  </a:lnTo>
                  <a:lnTo>
                    <a:pt x="53976" y="140969"/>
                  </a:lnTo>
                  <a:lnTo>
                    <a:pt x="59528" y="138429"/>
                  </a:lnTo>
                  <a:lnTo>
                    <a:pt x="63010" y="138429"/>
                  </a:lnTo>
                  <a:lnTo>
                    <a:pt x="66597" y="144779"/>
                  </a:lnTo>
                  <a:lnTo>
                    <a:pt x="76248" y="147319"/>
                  </a:lnTo>
                  <a:lnTo>
                    <a:pt x="94416" y="147319"/>
                  </a:lnTo>
                  <a:lnTo>
                    <a:pt x="91249" y="152399"/>
                  </a:lnTo>
                  <a:lnTo>
                    <a:pt x="84648" y="154939"/>
                  </a:lnTo>
                  <a:lnTo>
                    <a:pt x="82479" y="156209"/>
                  </a:lnTo>
                  <a:lnTo>
                    <a:pt x="80186" y="156209"/>
                  </a:lnTo>
                  <a:lnTo>
                    <a:pt x="80186" y="163829"/>
                  </a:lnTo>
                  <a:lnTo>
                    <a:pt x="77621" y="166369"/>
                  </a:lnTo>
                  <a:close/>
                </a:path>
                <a:path w="412750" h="408940">
                  <a:moveTo>
                    <a:pt x="367700" y="242569"/>
                  </a:moveTo>
                  <a:lnTo>
                    <a:pt x="334078" y="242569"/>
                  </a:lnTo>
                  <a:lnTo>
                    <a:pt x="353488" y="238759"/>
                  </a:lnTo>
                  <a:lnTo>
                    <a:pt x="369357" y="228599"/>
                  </a:lnTo>
                  <a:lnTo>
                    <a:pt x="380064" y="212089"/>
                  </a:lnTo>
                  <a:lnTo>
                    <a:pt x="383993" y="193039"/>
                  </a:lnTo>
                  <a:lnTo>
                    <a:pt x="380064" y="173989"/>
                  </a:lnTo>
                  <a:lnTo>
                    <a:pt x="369356" y="157479"/>
                  </a:lnTo>
                  <a:lnTo>
                    <a:pt x="353488" y="147319"/>
                  </a:lnTo>
                  <a:lnTo>
                    <a:pt x="334078" y="143509"/>
                  </a:lnTo>
                  <a:lnTo>
                    <a:pt x="368587" y="143509"/>
                  </a:lnTo>
                  <a:lnTo>
                    <a:pt x="377455" y="149859"/>
                  </a:lnTo>
                  <a:lnTo>
                    <a:pt x="390621" y="168909"/>
                  </a:lnTo>
                  <a:lnTo>
                    <a:pt x="395452" y="193039"/>
                  </a:lnTo>
                  <a:lnTo>
                    <a:pt x="390621" y="217169"/>
                  </a:lnTo>
                  <a:lnTo>
                    <a:pt x="377455" y="236219"/>
                  </a:lnTo>
                  <a:lnTo>
                    <a:pt x="367700" y="242569"/>
                  </a:lnTo>
                  <a:close/>
                </a:path>
                <a:path w="412750" h="408940">
                  <a:moveTo>
                    <a:pt x="355404" y="212089"/>
                  </a:moveTo>
                  <a:lnTo>
                    <a:pt x="336075" y="212089"/>
                  </a:lnTo>
                  <a:lnTo>
                    <a:pt x="343485" y="208279"/>
                  </a:lnTo>
                  <a:lnTo>
                    <a:pt x="344496" y="207009"/>
                  </a:lnTo>
                  <a:lnTo>
                    <a:pt x="344680" y="205739"/>
                  </a:lnTo>
                  <a:lnTo>
                    <a:pt x="344981" y="203199"/>
                  </a:lnTo>
                  <a:lnTo>
                    <a:pt x="339228" y="199389"/>
                  </a:lnTo>
                  <a:lnTo>
                    <a:pt x="329557" y="196849"/>
                  </a:lnTo>
                  <a:lnTo>
                    <a:pt x="323542" y="195579"/>
                  </a:lnTo>
                  <a:lnTo>
                    <a:pt x="317934" y="193039"/>
                  </a:lnTo>
                  <a:lnTo>
                    <a:pt x="310966" y="182879"/>
                  </a:lnTo>
                  <a:lnTo>
                    <a:pt x="311814" y="175259"/>
                  </a:lnTo>
                  <a:lnTo>
                    <a:pt x="319463" y="167639"/>
                  </a:lnTo>
                  <a:lnTo>
                    <a:pt x="323624" y="165099"/>
                  </a:lnTo>
                  <a:lnTo>
                    <a:pt x="328344" y="163829"/>
                  </a:lnTo>
                  <a:lnTo>
                    <a:pt x="328344" y="156209"/>
                  </a:lnTo>
                  <a:lnTo>
                    <a:pt x="330909" y="153669"/>
                  </a:lnTo>
                  <a:lnTo>
                    <a:pt x="337238" y="153669"/>
                  </a:lnTo>
                  <a:lnTo>
                    <a:pt x="339803" y="156209"/>
                  </a:lnTo>
                  <a:lnTo>
                    <a:pt x="339803" y="163829"/>
                  </a:lnTo>
                  <a:lnTo>
                    <a:pt x="346579" y="165099"/>
                  </a:lnTo>
                  <a:lnTo>
                    <a:pt x="351877" y="168909"/>
                  </a:lnTo>
                  <a:lnTo>
                    <a:pt x="355297" y="175259"/>
                  </a:lnTo>
                  <a:lnTo>
                    <a:pt x="331934" y="175259"/>
                  </a:lnTo>
                  <a:lnTo>
                    <a:pt x="327012" y="176529"/>
                  </a:lnTo>
                  <a:lnTo>
                    <a:pt x="324221" y="179069"/>
                  </a:lnTo>
                  <a:lnTo>
                    <a:pt x="323155" y="180339"/>
                  </a:lnTo>
                  <a:lnTo>
                    <a:pt x="325301" y="184149"/>
                  </a:lnTo>
                  <a:lnTo>
                    <a:pt x="327344" y="185419"/>
                  </a:lnTo>
                  <a:lnTo>
                    <a:pt x="332425" y="186689"/>
                  </a:lnTo>
                  <a:lnTo>
                    <a:pt x="343551" y="189229"/>
                  </a:lnTo>
                  <a:lnTo>
                    <a:pt x="353862" y="195579"/>
                  </a:lnTo>
                  <a:lnTo>
                    <a:pt x="356835" y="200659"/>
                  </a:lnTo>
                  <a:lnTo>
                    <a:pt x="355404" y="212089"/>
                  </a:lnTo>
                  <a:close/>
                </a:path>
                <a:path w="412750" h="408940">
                  <a:moveTo>
                    <a:pt x="349367" y="182879"/>
                  </a:moveTo>
                  <a:lnTo>
                    <a:pt x="345893" y="181609"/>
                  </a:lnTo>
                  <a:lnTo>
                    <a:pt x="343377" y="177799"/>
                  </a:lnTo>
                  <a:lnTo>
                    <a:pt x="340417" y="176529"/>
                  </a:lnTo>
                  <a:lnTo>
                    <a:pt x="331934" y="175259"/>
                  </a:lnTo>
                  <a:lnTo>
                    <a:pt x="355297" y="175259"/>
                  </a:lnTo>
                  <a:lnTo>
                    <a:pt x="355981" y="176529"/>
                  </a:lnTo>
                  <a:lnTo>
                    <a:pt x="354939" y="180339"/>
                  </a:lnTo>
                  <a:lnTo>
                    <a:pt x="349367" y="182879"/>
                  </a:lnTo>
                  <a:close/>
                </a:path>
                <a:path w="412750" h="408940">
                  <a:moveTo>
                    <a:pt x="231472" y="408939"/>
                  </a:moveTo>
                  <a:lnTo>
                    <a:pt x="147344" y="408939"/>
                  </a:lnTo>
                  <a:lnTo>
                    <a:pt x="126314" y="405129"/>
                  </a:lnTo>
                  <a:lnTo>
                    <a:pt x="120530" y="400049"/>
                  </a:lnTo>
                  <a:lnTo>
                    <a:pt x="113115" y="387349"/>
                  </a:lnTo>
                  <a:lnTo>
                    <a:pt x="112328" y="379729"/>
                  </a:lnTo>
                  <a:lnTo>
                    <a:pt x="114548" y="373379"/>
                  </a:lnTo>
                  <a:lnTo>
                    <a:pt x="124441" y="346709"/>
                  </a:lnTo>
                  <a:lnTo>
                    <a:pt x="137178" y="321309"/>
                  </a:lnTo>
                  <a:lnTo>
                    <a:pt x="152565" y="298449"/>
                  </a:lnTo>
                  <a:lnTo>
                    <a:pt x="170404" y="276859"/>
                  </a:lnTo>
                  <a:lnTo>
                    <a:pt x="171077" y="275589"/>
                  </a:lnTo>
                  <a:lnTo>
                    <a:pt x="171781" y="275589"/>
                  </a:lnTo>
                  <a:lnTo>
                    <a:pt x="172510" y="274319"/>
                  </a:lnTo>
                  <a:lnTo>
                    <a:pt x="13390" y="231139"/>
                  </a:lnTo>
                  <a:lnTo>
                    <a:pt x="6889" y="228599"/>
                  </a:lnTo>
                  <a:lnTo>
                    <a:pt x="2286" y="223519"/>
                  </a:lnTo>
                  <a:lnTo>
                    <a:pt x="0" y="217169"/>
                  </a:lnTo>
                  <a:lnTo>
                    <a:pt x="300" y="212089"/>
                  </a:lnTo>
                  <a:lnTo>
                    <a:pt x="375" y="210819"/>
                  </a:lnTo>
                  <a:lnTo>
                    <a:pt x="450" y="209549"/>
                  </a:lnTo>
                  <a:lnTo>
                    <a:pt x="3683" y="203199"/>
                  </a:lnTo>
                  <a:lnTo>
                    <a:pt x="8981" y="198119"/>
                  </a:lnTo>
                  <a:lnTo>
                    <a:pt x="15617" y="195579"/>
                  </a:lnTo>
                  <a:lnTo>
                    <a:pt x="22863" y="196849"/>
                  </a:lnTo>
                  <a:lnTo>
                    <a:pt x="61080" y="207009"/>
                  </a:lnTo>
                  <a:lnTo>
                    <a:pt x="15173" y="207009"/>
                  </a:lnTo>
                  <a:lnTo>
                    <a:pt x="12327" y="209549"/>
                  </a:lnTo>
                  <a:lnTo>
                    <a:pt x="10543" y="215899"/>
                  </a:lnTo>
                  <a:lnTo>
                    <a:pt x="12712" y="219709"/>
                  </a:lnTo>
                  <a:lnTo>
                    <a:pt x="235838" y="279399"/>
                  </a:lnTo>
                  <a:lnTo>
                    <a:pt x="185166" y="279399"/>
                  </a:lnTo>
                  <a:lnTo>
                    <a:pt x="181710" y="280669"/>
                  </a:lnTo>
                  <a:lnTo>
                    <a:pt x="178842" y="284479"/>
                  </a:lnTo>
                  <a:lnTo>
                    <a:pt x="161799" y="304799"/>
                  </a:lnTo>
                  <a:lnTo>
                    <a:pt x="147101" y="327659"/>
                  </a:lnTo>
                  <a:lnTo>
                    <a:pt x="134932" y="351789"/>
                  </a:lnTo>
                  <a:lnTo>
                    <a:pt x="125482" y="377189"/>
                  </a:lnTo>
                  <a:lnTo>
                    <a:pt x="124212" y="380999"/>
                  </a:lnTo>
                  <a:lnTo>
                    <a:pt x="124626" y="384809"/>
                  </a:lnTo>
                  <a:lnTo>
                    <a:pt x="162540" y="398779"/>
                  </a:lnTo>
                  <a:lnTo>
                    <a:pt x="189408" y="401319"/>
                  </a:lnTo>
                  <a:lnTo>
                    <a:pt x="256840" y="401319"/>
                  </a:lnTo>
                  <a:lnTo>
                    <a:pt x="252501" y="405129"/>
                  </a:lnTo>
                  <a:lnTo>
                    <a:pt x="231472" y="408939"/>
                  </a:lnTo>
                  <a:close/>
                </a:path>
                <a:path w="412750" h="408940">
                  <a:moveTo>
                    <a:pt x="337238" y="232409"/>
                  </a:moveTo>
                  <a:lnTo>
                    <a:pt x="330909" y="232409"/>
                  </a:lnTo>
                  <a:lnTo>
                    <a:pt x="328344" y="228599"/>
                  </a:lnTo>
                  <a:lnTo>
                    <a:pt x="328344" y="220979"/>
                  </a:lnTo>
                  <a:lnTo>
                    <a:pt x="321695" y="219709"/>
                  </a:lnTo>
                  <a:lnTo>
                    <a:pt x="315631" y="217169"/>
                  </a:lnTo>
                  <a:lnTo>
                    <a:pt x="311162" y="208279"/>
                  </a:lnTo>
                  <a:lnTo>
                    <a:pt x="312180" y="205739"/>
                  </a:lnTo>
                  <a:lnTo>
                    <a:pt x="317732" y="201929"/>
                  </a:lnTo>
                  <a:lnTo>
                    <a:pt x="321213" y="203199"/>
                  </a:lnTo>
                  <a:lnTo>
                    <a:pt x="325104" y="210819"/>
                  </a:lnTo>
                  <a:lnTo>
                    <a:pt x="336075" y="212089"/>
                  </a:lnTo>
                  <a:lnTo>
                    <a:pt x="355404" y="212089"/>
                  </a:lnTo>
                  <a:lnTo>
                    <a:pt x="352048" y="217169"/>
                  </a:lnTo>
                  <a:lnTo>
                    <a:pt x="344906" y="220979"/>
                  </a:lnTo>
                  <a:lnTo>
                    <a:pt x="342425" y="220979"/>
                  </a:lnTo>
                  <a:lnTo>
                    <a:pt x="339803" y="222249"/>
                  </a:lnTo>
                  <a:lnTo>
                    <a:pt x="339803" y="228599"/>
                  </a:lnTo>
                  <a:lnTo>
                    <a:pt x="337238" y="232409"/>
                  </a:lnTo>
                  <a:close/>
                </a:path>
                <a:path w="412750" h="408940">
                  <a:moveTo>
                    <a:pt x="388569" y="316229"/>
                  </a:moveTo>
                  <a:lnTo>
                    <a:pt x="373511" y="316229"/>
                  </a:lnTo>
                  <a:lnTo>
                    <a:pt x="377348" y="313689"/>
                  </a:lnTo>
                  <a:lnTo>
                    <a:pt x="378309" y="311149"/>
                  </a:lnTo>
                  <a:lnTo>
                    <a:pt x="378778" y="308609"/>
                  </a:lnTo>
                  <a:lnTo>
                    <a:pt x="378530" y="307339"/>
                  </a:lnTo>
                  <a:lnTo>
                    <a:pt x="376693" y="303529"/>
                  </a:lnTo>
                  <a:lnTo>
                    <a:pt x="375223" y="302259"/>
                  </a:lnTo>
                  <a:lnTo>
                    <a:pt x="19332" y="207009"/>
                  </a:lnTo>
                  <a:lnTo>
                    <a:pt x="61080" y="207009"/>
                  </a:lnTo>
                  <a:lnTo>
                    <a:pt x="381144" y="292099"/>
                  </a:lnTo>
                  <a:lnTo>
                    <a:pt x="385086" y="295909"/>
                  </a:lnTo>
                  <a:lnTo>
                    <a:pt x="389985" y="303529"/>
                  </a:lnTo>
                  <a:lnTo>
                    <a:pt x="390639" y="308609"/>
                  </a:lnTo>
                  <a:lnTo>
                    <a:pt x="388569" y="316229"/>
                  </a:lnTo>
                  <a:close/>
                </a:path>
                <a:path w="412750" h="408940">
                  <a:moveTo>
                    <a:pt x="256840" y="401319"/>
                  </a:moveTo>
                  <a:lnTo>
                    <a:pt x="189408" y="401319"/>
                  </a:lnTo>
                  <a:lnTo>
                    <a:pt x="216276" y="398779"/>
                  </a:lnTo>
                  <a:lnTo>
                    <a:pt x="242768" y="394969"/>
                  </a:lnTo>
                  <a:lnTo>
                    <a:pt x="254603" y="380999"/>
                  </a:lnTo>
                  <a:lnTo>
                    <a:pt x="253333" y="377189"/>
                  </a:lnTo>
                  <a:lnTo>
                    <a:pt x="243882" y="351789"/>
                  </a:lnTo>
                  <a:lnTo>
                    <a:pt x="231714" y="327659"/>
                  </a:lnTo>
                  <a:lnTo>
                    <a:pt x="217015" y="304799"/>
                  </a:lnTo>
                  <a:lnTo>
                    <a:pt x="199973" y="284479"/>
                  </a:lnTo>
                  <a:lnTo>
                    <a:pt x="197104" y="280669"/>
                  </a:lnTo>
                  <a:lnTo>
                    <a:pt x="193649" y="279399"/>
                  </a:lnTo>
                  <a:lnTo>
                    <a:pt x="235838" y="279399"/>
                  </a:lnTo>
                  <a:lnTo>
                    <a:pt x="259575" y="285749"/>
                  </a:lnTo>
                  <a:lnTo>
                    <a:pt x="217009" y="285749"/>
                  </a:lnTo>
                  <a:lnTo>
                    <a:pt x="231911" y="306069"/>
                  </a:lnTo>
                  <a:lnTo>
                    <a:pt x="244845" y="327659"/>
                  </a:lnTo>
                  <a:lnTo>
                    <a:pt x="255676" y="350519"/>
                  </a:lnTo>
                  <a:lnTo>
                    <a:pt x="264267" y="373379"/>
                  </a:lnTo>
                  <a:lnTo>
                    <a:pt x="266486" y="379729"/>
                  </a:lnTo>
                  <a:lnTo>
                    <a:pt x="265700" y="387349"/>
                  </a:lnTo>
                  <a:lnTo>
                    <a:pt x="258286" y="400049"/>
                  </a:lnTo>
                  <a:lnTo>
                    <a:pt x="256840" y="401319"/>
                  </a:lnTo>
                  <a:close/>
                </a:path>
                <a:path w="412750" h="408940">
                  <a:moveTo>
                    <a:pt x="379775" y="327659"/>
                  </a:moveTo>
                  <a:lnTo>
                    <a:pt x="370132" y="327659"/>
                  </a:lnTo>
                  <a:lnTo>
                    <a:pt x="368545" y="326389"/>
                  </a:lnTo>
                  <a:lnTo>
                    <a:pt x="217009" y="285749"/>
                  </a:lnTo>
                  <a:lnTo>
                    <a:pt x="259575" y="285749"/>
                  </a:lnTo>
                  <a:lnTo>
                    <a:pt x="373511" y="316229"/>
                  </a:lnTo>
                  <a:lnTo>
                    <a:pt x="388569" y="316229"/>
                  </a:lnTo>
                  <a:lnTo>
                    <a:pt x="387189" y="321309"/>
                  </a:lnTo>
                  <a:lnTo>
                    <a:pt x="379775" y="3276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31040" y="7206136"/>
              <a:ext cx="206546" cy="168887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1689930" y="7159225"/>
              <a:ext cx="237490" cy="296545"/>
            </a:xfrm>
            <a:custGeom>
              <a:avLst/>
              <a:gdLst/>
              <a:ahLst/>
              <a:cxnLst/>
              <a:rect l="l" t="t" r="r" b="b"/>
              <a:pathLst>
                <a:path w="237489" h="296545">
                  <a:moveTo>
                    <a:pt x="119857" y="296353"/>
                  </a:moveTo>
                  <a:lnTo>
                    <a:pt x="118530" y="296354"/>
                  </a:lnTo>
                  <a:lnTo>
                    <a:pt x="117202" y="296354"/>
                  </a:lnTo>
                  <a:lnTo>
                    <a:pt x="77639" y="277857"/>
                  </a:lnTo>
                  <a:lnTo>
                    <a:pt x="41452" y="247638"/>
                  </a:lnTo>
                  <a:lnTo>
                    <a:pt x="15287" y="207994"/>
                  </a:lnTo>
                  <a:lnTo>
                    <a:pt x="1730" y="162840"/>
                  </a:lnTo>
                  <a:lnTo>
                    <a:pt x="0" y="139089"/>
                  </a:lnTo>
                  <a:lnTo>
                    <a:pt x="0" y="35425"/>
                  </a:lnTo>
                  <a:lnTo>
                    <a:pt x="1187" y="32751"/>
                  </a:lnTo>
                  <a:lnTo>
                    <a:pt x="5349" y="28989"/>
                  </a:lnTo>
                  <a:lnTo>
                    <a:pt x="8128" y="28078"/>
                  </a:lnTo>
                  <a:lnTo>
                    <a:pt x="10921" y="28360"/>
                  </a:lnTo>
                  <a:lnTo>
                    <a:pt x="34239" y="28857"/>
                  </a:lnTo>
                  <a:lnTo>
                    <a:pt x="56248" y="25441"/>
                  </a:lnTo>
                  <a:lnTo>
                    <a:pt x="77098" y="18074"/>
                  </a:lnTo>
                  <a:lnTo>
                    <a:pt x="96939" y="6718"/>
                  </a:lnTo>
                  <a:lnTo>
                    <a:pt x="103315" y="2324"/>
                  </a:lnTo>
                  <a:lnTo>
                    <a:pt x="110781" y="0"/>
                  </a:lnTo>
                  <a:lnTo>
                    <a:pt x="126278" y="0"/>
                  </a:lnTo>
                  <a:lnTo>
                    <a:pt x="133743" y="2322"/>
                  </a:lnTo>
                  <a:lnTo>
                    <a:pt x="140121" y="6718"/>
                  </a:lnTo>
                  <a:lnTo>
                    <a:pt x="154277" y="15282"/>
                  </a:lnTo>
                  <a:lnTo>
                    <a:pt x="168899" y="21760"/>
                  </a:lnTo>
                  <a:lnTo>
                    <a:pt x="184093" y="26191"/>
                  </a:lnTo>
                  <a:lnTo>
                    <a:pt x="199964" y="28613"/>
                  </a:lnTo>
                  <a:lnTo>
                    <a:pt x="198223" y="48376"/>
                  </a:lnTo>
                  <a:lnTo>
                    <a:pt x="153226" y="36771"/>
                  </a:lnTo>
                  <a:lnTo>
                    <a:pt x="122683" y="18795"/>
                  </a:lnTo>
                  <a:lnTo>
                    <a:pt x="114377" y="18795"/>
                  </a:lnTo>
                  <a:lnTo>
                    <a:pt x="74042" y="40693"/>
                  </a:lnTo>
                  <a:lnTo>
                    <a:pt x="30718" y="48858"/>
                  </a:lnTo>
                  <a:lnTo>
                    <a:pt x="19838" y="48847"/>
                  </a:lnTo>
                  <a:lnTo>
                    <a:pt x="19838" y="139088"/>
                  </a:lnTo>
                  <a:lnTo>
                    <a:pt x="25983" y="180640"/>
                  </a:lnTo>
                  <a:lnTo>
                    <a:pt x="43453" y="217860"/>
                  </a:lnTo>
                  <a:lnTo>
                    <a:pt x="70806" y="248557"/>
                  </a:lnTo>
                  <a:lnTo>
                    <a:pt x="106597" y="270543"/>
                  </a:lnTo>
                  <a:lnTo>
                    <a:pt x="118530" y="275645"/>
                  </a:lnTo>
                  <a:lnTo>
                    <a:pt x="130463" y="270543"/>
                  </a:lnTo>
                  <a:lnTo>
                    <a:pt x="166253" y="248556"/>
                  </a:lnTo>
                  <a:lnTo>
                    <a:pt x="193606" y="217859"/>
                  </a:lnTo>
                  <a:lnTo>
                    <a:pt x="211077" y="180640"/>
                  </a:lnTo>
                  <a:lnTo>
                    <a:pt x="217222" y="139088"/>
                  </a:lnTo>
                  <a:lnTo>
                    <a:pt x="217222" y="126652"/>
                  </a:lnTo>
                  <a:lnTo>
                    <a:pt x="237060" y="126652"/>
                  </a:lnTo>
                  <a:lnTo>
                    <a:pt x="237060" y="139088"/>
                  </a:lnTo>
                  <a:lnTo>
                    <a:pt x="235330" y="162838"/>
                  </a:lnTo>
                  <a:lnTo>
                    <a:pt x="221773" y="207993"/>
                  </a:lnTo>
                  <a:lnTo>
                    <a:pt x="195608" y="247637"/>
                  </a:lnTo>
                  <a:lnTo>
                    <a:pt x="159420" y="277856"/>
                  </a:lnTo>
                  <a:lnTo>
                    <a:pt x="121185" y="296086"/>
                  </a:lnTo>
                  <a:lnTo>
                    <a:pt x="119857" y="2963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9" name="object 49"/>
          <p:cNvGrpSpPr/>
          <p:nvPr/>
        </p:nvGrpSpPr>
        <p:grpSpPr>
          <a:xfrm>
            <a:off x="9819826" y="6803744"/>
            <a:ext cx="3373120" cy="2042160"/>
            <a:chOff x="9819826" y="6803744"/>
            <a:chExt cx="3373120" cy="2042160"/>
          </a:xfrm>
        </p:grpSpPr>
        <p:sp>
          <p:nvSpPr>
            <p:cNvPr id="50" name="object 50"/>
            <p:cNvSpPr/>
            <p:nvPr/>
          </p:nvSpPr>
          <p:spPr>
            <a:xfrm>
              <a:off x="13187822" y="6803744"/>
              <a:ext cx="0" cy="2042160"/>
            </a:xfrm>
            <a:custGeom>
              <a:avLst/>
              <a:gdLst/>
              <a:ahLst/>
              <a:cxnLst/>
              <a:rect l="l" t="t" r="r" b="b"/>
              <a:pathLst>
                <a:path w="0" h="2042159">
                  <a:moveTo>
                    <a:pt x="0" y="2042153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092A3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819826" y="7120340"/>
              <a:ext cx="341114" cy="321267"/>
            </a:xfrm>
            <a:prstGeom prst="rect">
              <a:avLst/>
            </a:prstGeom>
          </p:spPr>
        </p:pic>
      </p:grpSp>
      <p:grpSp>
        <p:nvGrpSpPr>
          <p:cNvPr id="52" name="object 52"/>
          <p:cNvGrpSpPr/>
          <p:nvPr/>
        </p:nvGrpSpPr>
        <p:grpSpPr>
          <a:xfrm>
            <a:off x="9196258" y="4353984"/>
            <a:ext cx="7810500" cy="2066925"/>
            <a:chOff x="9196258" y="4353984"/>
            <a:chExt cx="7810500" cy="2066925"/>
          </a:xfrm>
        </p:grpSpPr>
        <p:pic>
          <p:nvPicPr>
            <p:cNvPr id="53" name="object 5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839819" y="6224892"/>
              <a:ext cx="162169" cy="191235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9205783" y="4363509"/>
              <a:ext cx="7791450" cy="2047875"/>
            </a:xfrm>
            <a:custGeom>
              <a:avLst/>
              <a:gdLst/>
              <a:ahLst/>
              <a:cxnLst/>
              <a:rect l="l" t="t" r="r" b="b"/>
              <a:pathLst>
                <a:path w="7791450" h="2047875">
                  <a:moveTo>
                    <a:pt x="153259" y="2047877"/>
                  </a:moveTo>
                  <a:lnTo>
                    <a:pt x="84904" y="2019590"/>
                  </a:lnTo>
                  <a:lnTo>
                    <a:pt x="32102" y="1966788"/>
                  </a:lnTo>
                  <a:lnTo>
                    <a:pt x="3791" y="1898439"/>
                  </a:lnTo>
                  <a:lnTo>
                    <a:pt x="0" y="1861103"/>
                  </a:lnTo>
                  <a:lnTo>
                    <a:pt x="0" y="190482"/>
                  </a:lnTo>
                  <a:lnTo>
                    <a:pt x="14597" y="117594"/>
                  </a:lnTo>
                  <a:lnTo>
                    <a:pt x="55891" y="55794"/>
                  </a:lnTo>
                  <a:lnTo>
                    <a:pt x="117691" y="14500"/>
                  </a:lnTo>
                  <a:lnTo>
                    <a:pt x="190589" y="0"/>
                  </a:lnTo>
                  <a:lnTo>
                    <a:pt x="7601454" y="0"/>
                  </a:lnTo>
                  <a:lnTo>
                    <a:pt x="7638791" y="3693"/>
                  </a:lnTo>
                  <a:lnTo>
                    <a:pt x="7707140" y="32004"/>
                  </a:lnTo>
                  <a:lnTo>
                    <a:pt x="7759942" y="84806"/>
                  </a:lnTo>
                  <a:lnTo>
                    <a:pt x="7788253" y="153155"/>
                  </a:lnTo>
                  <a:lnTo>
                    <a:pt x="7791449" y="185467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9756367" y="4623753"/>
              <a:ext cx="516890" cy="516890"/>
            </a:xfrm>
            <a:custGeom>
              <a:avLst/>
              <a:gdLst/>
              <a:ahLst/>
              <a:cxnLst/>
              <a:rect l="l" t="t" r="r" b="b"/>
              <a:pathLst>
                <a:path w="516890" h="516889">
                  <a:moveTo>
                    <a:pt x="459603" y="516753"/>
                  </a:moveTo>
                  <a:lnTo>
                    <a:pt x="57150" y="516753"/>
                  </a:lnTo>
                  <a:lnTo>
                    <a:pt x="45948" y="515645"/>
                  </a:lnTo>
                  <a:lnTo>
                    <a:pt x="9601" y="491310"/>
                  </a:lnTo>
                  <a:lnTo>
                    <a:pt x="0" y="459603"/>
                  </a:lnTo>
                  <a:lnTo>
                    <a:pt x="0" y="57150"/>
                  </a:lnTo>
                  <a:lnTo>
                    <a:pt x="16738" y="16738"/>
                  </a:lnTo>
                  <a:lnTo>
                    <a:pt x="57150" y="0"/>
                  </a:lnTo>
                  <a:lnTo>
                    <a:pt x="459603" y="0"/>
                  </a:lnTo>
                  <a:lnTo>
                    <a:pt x="500014" y="16738"/>
                  </a:lnTo>
                  <a:lnTo>
                    <a:pt x="516753" y="57150"/>
                  </a:lnTo>
                  <a:lnTo>
                    <a:pt x="516753" y="459603"/>
                  </a:lnTo>
                  <a:lnTo>
                    <a:pt x="500014" y="500014"/>
                  </a:lnTo>
                  <a:lnTo>
                    <a:pt x="459603" y="516753"/>
                  </a:lnTo>
                  <a:close/>
                </a:path>
              </a:pathLst>
            </a:custGeom>
            <a:solidFill>
              <a:srgbClr val="F166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9757440" y="5296757"/>
              <a:ext cx="2968625" cy="0"/>
            </a:xfrm>
            <a:custGeom>
              <a:avLst/>
              <a:gdLst/>
              <a:ahLst/>
              <a:cxnLst/>
              <a:rect l="l" t="t" r="r" b="b"/>
              <a:pathLst>
                <a:path w="2968625" h="0">
                  <a:moveTo>
                    <a:pt x="0" y="0"/>
                  </a:moveTo>
                  <a:lnTo>
                    <a:pt x="2968294" y="0"/>
                  </a:lnTo>
                </a:path>
              </a:pathLst>
            </a:custGeom>
            <a:ln w="9524">
              <a:solidFill>
                <a:srgbClr val="092A3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13568922" y="4623753"/>
              <a:ext cx="516890" cy="516890"/>
            </a:xfrm>
            <a:custGeom>
              <a:avLst/>
              <a:gdLst/>
              <a:ahLst/>
              <a:cxnLst/>
              <a:rect l="l" t="t" r="r" b="b"/>
              <a:pathLst>
                <a:path w="516890" h="516889">
                  <a:moveTo>
                    <a:pt x="459603" y="516753"/>
                  </a:moveTo>
                  <a:lnTo>
                    <a:pt x="57150" y="516753"/>
                  </a:lnTo>
                  <a:lnTo>
                    <a:pt x="45948" y="515645"/>
                  </a:lnTo>
                  <a:lnTo>
                    <a:pt x="9602" y="491310"/>
                  </a:lnTo>
                  <a:lnTo>
                    <a:pt x="0" y="459603"/>
                  </a:lnTo>
                  <a:lnTo>
                    <a:pt x="0" y="57150"/>
                  </a:lnTo>
                  <a:lnTo>
                    <a:pt x="16738" y="16738"/>
                  </a:lnTo>
                  <a:lnTo>
                    <a:pt x="57150" y="0"/>
                  </a:lnTo>
                  <a:lnTo>
                    <a:pt x="459603" y="0"/>
                  </a:lnTo>
                  <a:lnTo>
                    <a:pt x="500014" y="16738"/>
                  </a:lnTo>
                  <a:lnTo>
                    <a:pt x="516753" y="57150"/>
                  </a:lnTo>
                  <a:lnTo>
                    <a:pt x="516753" y="459603"/>
                  </a:lnTo>
                  <a:lnTo>
                    <a:pt x="500014" y="500014"/>
                  </a:lnTo>
                  <a:lnTo>
                    <a:pt x="459603" y="516753"/>
                  </a:lnTo>
                  <a:close/>
                </a:path>
              </a:pathLst>
            </a:custGeom>
            <a:solidFill>
              <a:srgbClr val="F166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13569997" y="5296757"/>
              <a:ext cx="2968625" cy="0"/>
            </a:xfrm>
            <a:custGeom>
              <a:avLst/>
              <a:gdLst/>
              <a:ahLst/>
              <a:cxnLst/>
              <a:rect l="l" t="t" r="r" b="b"/>
              <a:pathLst>
                <a:path w="2968625" h="0">
                  <a:moveTo>
                    <a:pt x="0" y="0"/>
                  </a:moveTo>
                  <a:lnTo>
                    <a:pt x="2968294" y="0"/>
                  </a:lnTo>
                </a:path>
              </a:pathLst>
            </a:custGeom>
            <a:ln w="9524">
              <a:solidFill>
                <a:srgbClr val="092A3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/>
          <p:cNvSpPr txBox="1"/>
          <p:nvPr/>
        </p:nvSpPr>
        <p:spPr>
          <a:xfrm>
            <a:off x="9736432" y="5460786"/>
            <a:ext cx="2780030" cy="7562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8400"/>
              </a:lnSpc>
              <a:spcBef>
                <a:spcPts val="95"/>
              </a:spcBef>
            </a:pPr>
            <a:r>
              <a:rPr dirty="0" sz="1350">
                <a:solidFill>
                  <a:srgbClr val="092A3B"/>
                </a:solidFill>
                <a:latin typeface="Trebuchet MS"/>
                <a:cs typeface="Trebuchet MS"/>
              </a:rPr>
              <a:t>Ensure</a:t>
            </a:r>
            <a:r>
              <a:rPr dirty="0" sz="1350" spc="-6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 spc="-50">
                <a:solidFill>
                  <a:srgbClr val="092A3B"/>
                </a:solidFill>
                <a:latin typeface="Trebuchet MS"/>
                <a:cs typeface="Trebuchet MS"/>
              </a:rPr>
              <a:t>timely</a:t>
            </a:r>
            <a:r>
              <a:rPr dirty="0" sz="1350" spc="-6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 spc="80">
                <a:solidFill>
                  <a:srgbClr val="092A3B"/>
                </a:solidFill>
                <a:latin typeface="Trebuchet MS"/>
                <a:cs typeface="Trebuchet MS"/>
              </a:rPr>
              <a:t>VAT</a:t>
            </a:r>
            <a:r>
              <a:rPr dirty="0" sz="1350" spc="-6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 spc="-55">
                <a:solidFill>
                  <a:srgbClr val="092A3B"/>
                </a:solidFill>
                <a:latin typeface="Trebuchet MS"/>
                <a:cs typeface="Trebuchet MS"/>
              </a:rPr>
              <a:t>filing</a:t>
            </a:r>
            <a:r>
              <a:rPr dirty="0" sz="1350" spc="-6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092A3B"/>
                </a:solidFill>
                <a:latin typeface="Trebuchet MS"/>
                <a:cs typeface="Trebuchet MS"/>
              </a:rPr>
              <a:t>and</a:t>
            </a:r>
            <a:r>
              <a:rPr dirty="0" sz="1350" spc="-6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092A3B"/>
                </a:solidFill>
                <a:latin typeface="Trebuchet MS"/>
                <a:cs typeface="Trebuchet MS"/>
              </a:rPr>
              <a:t>register </a:t>
            </a:r>
            <a:r>
              <a:rPr dirty="0" sz="1350" spc="-30">
                <a:solidFill>
                  <a:srgbClr val="092A3B"/>
                </a:solidFill>
                <a:latin typeface="Trebuchet MS"/>
                <a:cs typeface="Trebuchet MS"/>
              </a:rPr>
              <a:t>with</a:t>
            </a:r>
            <a:r>
              <a:rPr dirty="0" sz="1350" spc="-8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092A3B"/>
                </a:solidFill>
                <a:latin typeface="Trebuchet MS"/>
                <a:cs typeface="Trebuchet MS"/>
              </a:rPr>
              <a:t>the</a:t>
            </a:r>
            <a:r>
              <a:rPr dirty="0" sz="1350" spc="-8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 spc="-20">
                <a:solidFill>
                  <a:srgbClr val="092A3B"/>
                </a:solidFill>
                <a:latin typeface="Trebuchet MS"/>
                <a:cs typeface="Trebuchet MS"/>
              </a:rPr>
              <a:t>Federal</a:t>
            </a:r>
            <a:r>
              <a:rPr dirty="0" sz="1350" spc="-7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092A3B"/>
                </a:solidFill>
                <a:latin typeface="Trebuchet MS"/>
                <a:cs typeface="Trebuchet MS"/>
              </a:rPr>
              <a:t>Tax</a:t>
            </a:r>
            <a:r>
              <a:rPr dirty="0" sz="1350" spc="-8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 spc="-25">
                <a:solidFill>
                  <a:srgbClr val="092A3B"/>
                </a:solidFill>
                <a:latin typeface="Trebuchet MS"/>
                <a:cs typeface="Trebuchet MS"/>
              </a:rPr>
              <a:t>Authority</a:t>
            </a:r>
            <a:r>
              <a:rPr dirty="0" sz="1350" spc="-8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 spc="-25">
                <a:solidFill>
                  <a:srgbClr val="092A3B"/>
                </a:solidFill>
                <a:latin typeface="Trebuchet MS"/>
                <a:cs typeface="Trebuchet MS"/>
              </a:rPr>
              <a:t>for </a:t>
            </a:r>
            <a:r>
              <a:rPr dirty="0" sz="1350" spc="-10">
                <a:solidFill>
                  <a:srgbClr val="092A3B"/>
                </a:solidFill>
                <a:latin typeface="Trebuchet MS"/>
                <a:cs typeface="Trebuchet MS"/>
              </a:rPr>
              <a:t>compliance.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0436735" y="4537879"/>
            <a:ext cx="1784985" cy="568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95"/>
              </a:spcBef>
            </a:pPr>
            <a:r>
              <a:rPr dirty="0" sz="1550" spc="130" b="1">
                <a:solidFill>
                  <a:srgbClr val="092A3B"/>
                </a:solidFill>
                <a:latin typeface="Trebuchet MS"/>
                <a:cs typeface="Trebuchet MS"/>
              </a:rPr>
              <a:t>VAT</a:t>
            </a:r>
            <a:r>
              <a:rPr dirty="0" sz="1550" spc="-120" b="1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550" b="1">
                <a:solidFill>
                  <a:srgbClr val="092A3B"/>
                </a:solidFill>
                <a:latin typeface="Trebuchet MS"/>
                <a:cs typeface="Trebuchet MS"/>
              </a:rPr>
              <a:t>Registration</a:t>
            </a:r>
            <a:r>
              <a:rPr dirty="0" sz="1550" spc="-120" b="1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550" spc="-50" b="1">
                <a:solidFill>
                  <a:srgbClr val="092A3B"/>
                </a:solidFill>
                <a:latin typeface="Trebuchet MS"/>
                <a:cs typeface="Trebuchet MS"/>
              </a:rPr>
              <a:t>&amp; </a:t>
            </a:r>
            <a:r>
              <a:rPr dirty="0" sz="1550" spc="-10" b="1">
                <a:solidFill>
                  <a:srgbClr val="092A3B"/>
                </a:solidFill>
                <a:latin typeface="Trebuchet MS"/>
                <a:cs typeface="Trebuchet MS"/>
              </a:rPr>
              <a:t>Filing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3548988" y="5460786"/>
            <a:ext cx="2989580" cy="7562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18400"/>
              </a:lnSpc>
              <a:spcBef>
                <a:spcPts val="95"/>
              </a:spcBef>
            </a:pPr>
            <a:r>
              <a:rPr dirty="0" sz="1350">
                <a:solidFill>
                  <a:srgbClr val="092A3B"/>
                </a:solidFill>
                <a:latin typeface="Trebuchet MS"/>
                <a:cs typeface="Trebuchet MS"/>
              </a:rPr>
              <a:t>Ensure</a:t>
            </a:r>
            <a:r>
              <a:rPr dirty="0" sz="1350" spc="-1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092A3B"/>
                </a:solidFill>
                <a:latin typeface="Trebuchet MS"/>
                <a:cs typeface="Trebuchet MS"/>
              </a:rPr>
              <a:t>your</a:t>
            </a:r>
            <a:r>
              <a:rPr dirty="0" sz="1350" spc="-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092A3B"/>
                </a:solidFill>
                <a:latin typeface="Trebuchet MS"/>
                <a:cs typeface="Trebuchet MS"/>
              </a:rPr>
              <a:t>business</a:t>
            </a:r>
            <a:r>
              <a:rPr dirty="0" sz="1350" spc="-1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092A3B"/>
                </a:solidFill>
                <a:latin typeface="Trebuchet MS"/>
                <a:cs typeface="Trebuchet MS"/>
              </a:rPr>
              <a:t>is</a:t>
            </a:r>
            <a:r>
              <a:rPr dirty="0" sz="1350" spc="-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092A3B"/>
                </a:solidFill>
                <a:latin typeface="Trebuchet MS"/>
                <a:cs typeface="Trebuchet MS"/>
              </a:rPr>
              <a:t>registered</a:t>
            </a:r>
            <a:r>
              <a:rPr dirty="0" sz="1350" spc="-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 spc="-25">
                <a:solidFill>
                  <a:srgbClr val="092A3B"/>
                </a:solidFill>
                <a:latin typeface="Trebuchet MS"/>
                <a:cs typeface="Trebuchet MS"/>
              </a:rPr>
              <a:t>and </a:t>
            </a:r>
            <a:r>
              <a:rPr dirty="0" sz="1350" spc="-100">
                <a:solidFill>
                  <a:srgbClr val="092A3B"/>
                </a:solidFill>
                <a:latin typeface="Trebuchet MS"/>
                <a:cs typeface="Trebuchet MS"/>
              </a:rPr>
              <a:t>file</a:t>
            </a:r>
            <a:r>
              <a:rPr dirty="0" sz="1350" spc="-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092A3B"/>
                </a:solidFill>
                <a:latin typeface="Trebuchet MS"/>
                <a:cs typeface="Trebuchet MS"/>
              </a:rPr>
              <a:t>corporate</a:t>
            </a:r>
            <a:r>
              <a:rPr dirty="0" sz="1350" spc="-7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092A3B"/>
                </a:solidFill>
                <a:latin typeface="Trebuchet MS"/>
                <a:cs typeface="Trebuchet MS"/>
              </a:rPr>
              <a:t>taxes</a:t>
            </a:r>
            <a:r>
              <a:rPr dirty="0" sz="1350" spc="-3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 spc="-25">
                <a:solidFill>
                  <a:srgbClr val="092A3B"/>
                </a:solidFill>
                <a:latin typeface="Trebuchet MS"/>
                <a:cs typeface="Trebuchet MS"/>
              </a:rPr>
              <a:t>accurately</a:t>
            </a:r>
            <a:r>
              <a:rPr dirty="0" sz="1350" spc="-4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 spc="-35">
                <a:solidFill>
                  <a:srgbClr val="092A3B"/>
                </a:solidFill>
                <a:latin typeface="Trebuchet MS"/>
                <a:cs typeface="Trebuchet MS"/>
              </a:rPr>
              <a:t>to</a:t>
            </a:r>
            <a:r>
              <a:rPr dirty="0" sz="1350" spc="-4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350" spc="-20">
                <a:solidFill>
                  <a:srgbClr val="092A3B"/>
                </a:solidFill>
                <a:latin typeface="Trebuchet MS"/>
                <a:cs typeface="Trebuchet MS"/>
              </a:rPr>
              <a:t>avoid </a:t>
            </a:r>
            <a:r>
              <a:rPr dirty="0" sz="1350" spc="-10">
                <a:solidFill>
                  <a:srgbClr val="092A3B"/>
                </a:solidFill>
                <a:latin typeface="Trebuchet MS"/>
                <a:cs typeface="Trebuchet MS"/>
              </a:rPr>
              <a:t>penalties.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4249291" y="4572148"/>
            <a:ext cx="1865630" cy="568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95"/>
              </a:spcBef>
            </a:pPr>
            <a:r>
              <a:rPr dirty="0" sz="1550" b="1">
                <a:solidFill>
                  <a:srgbClr val="092A3B"/>
                </a:solidFill>
                <a:latin typeface="Trebuchet MS"/>
                <a:cs typeface="Trebuchet MS"/>
              </a:rPr>
              <a:t>Corporate</a:t>
            </a:r>
            <a:r>
              <a:rPr dirty="0" sz="1550" spc="25" b="1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550" spc="-25" b="1">
                <a:solidFill>
                  <a:srgbClr val="092A3B"/>
                </a:solidFill>
                <a:latin typeface="Trebuchet MS"/>
                <a:cs typeface="Trebuchet MS"/>
              </a:rPr>
              <a:t>Tax </a:t>
            </a:r>
            <a:r>
              <a:rPr dirty="0" sz="1550" b="1">
                <a:solidFill>
                  <a:srgbClr val="092A3B"/>
                </a:solidFill>
                <a:latin typeface="Trebuchet MS"/>
                <a:cs typeface="Trebuchet MS"/>
              </a:rPr>
              <a:t>Registration</a:t>
            </a:r>
            <a:r>
              <a:rPr dirty="0" sz="1550" spc="-120" b="1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550" spc="-50" b="1">
                <a:solidFill>
                  <a:srgbClr val="092A3B"/>
                </a:solidFill>
                <a:latin typeface="Trebuchet MS"/>
                <a:cs typeface="Trebuchet MS"/>
              </a:rPr>
              <a:t>&amp;</a:t>
            </a:r>
            <a:r>
              <a:rPr dirty="0" sz="1550" spc="-114" b="1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550" spc="-10" b="1">
                <a:solidFill>
                  <a:srgbClr val="092A3B"/>
                </a:solidFill>
                <a:latin typeface="Trebuchet MS"/>
                <a:cs typeface="Trebuchet MS"/>
              </a:rPr>
              <a:t>Filing</a:t>
            </a:r>
            <a:endParaRPr sz="1550">
              <a:latin typeface="Trebuchet MS"/>
              <a:cs typeface="Trebuchet MS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9842311" y="4368230"/>
            <a:ext cx="4143375" cy="2042160"/>
            <a:chOff x="9842311" y="4368230"/>
            <a:chExt cx="4143375" cy="2042160"/>
          </a:xfrm>
        </p:grpSpPr>
        <p:sp>
          <p:nvSpPr>
            <p:cNvPr id="64" name="object 64"/>
            <p:cNvSpPr/>
            <p:nvPr/>
          </p:nvSpPr>
          <p:spPr>
            <a:xfrm>
              <a:off x="13175439" y="4368230"/>
              <a:ext cx="0" cy="2042160"/>
            </a:xfrm>
            <a:custGeom>
              <a:avLst/>
              <a:gdLst/>
              <a:ahLst/>
              <a:cxnLst/>
              <a:rect l="l" t="t" r="r" b="b"/>
              <a:pathLst>
                <a:path w="0" h="2042160">
                  <a:moveTo>
                    <a:pt x="0" y="2042153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092A3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9842310" y="4706047"/>
              <a:ext cx="4143375" cy="352425"/>
            </a:xfrm>
            <a:custGeom>
              <a:avLst/>
              <a:gdLst/>
              <a:ahLst/>
              <a:cxnLst/>
              <a:rect l="l" t="t" r="r" b="b"/>
              <a:pathLst>
                <a:path w="4143375" h="352425">
                  <a:moveTo>
                    <a:pt x="69799" y="165239"/>
                  </a:moveTo>
                  <a:lnTo>
                    <a:pt x="68453" y="161429"/>
                  </a:lnTo>
                  <a:lnTo>
                    <a:pt x="68008" y="160159"/>
                  </a:lnTo>
                  <a:lnTo>
                    <a:pt x="64427" y="156349"/>
                  </a:lnTo>
                  <a:lnTo>
                    <a:pt x="60248" y="152539"/>
                  </a:lnTo>
                  <a:lnTo>
                    <a:pt x="57861" y="151904"/>
                  </a:lnTo>
                  <a:lnTo>
                    <a:pt x="57861" y="167779"/>
                  </a:lnTo>
                  <a:lnTo>
                    <a:pt x="57861" y="177939"/>
                  </a:lnTo>
                  <a:lnTo>
                    <a:pt x="54292" y="183019"/>
                  </a:lnTo>
                  <a:lnTo>
                    <a:pt x="52501" y="184289"/>
                  </a:lnTo>
                  <a:lnTo>
                    <a:pt x="47726" y="184289"/>
                  </a:lnTo>
                  <a:lnTo>
                    <a:pt x="45339" y="183019"/>
                  </a:lnTo>
                  <a:lnTo>
                    <a:pt x="44145" y="181749"/>
                  </a:lnTo>
                  <a:lnTo>
                    <a:pt x="42354" y="180479"/>
                  </a:lnTo>
                  <a:lnTo>
                    <a:pt x="41757" y="177939"/>
                  </a:lnTo>
                  <a:lnTo>
                    <a:pt x="41757" y="175399"/>
                  </a:lnTo>
                  <a:lnTo>
                    <a:pt x="41160" y="175399"/>
                  </a:lnTo>
                  <a:lnTo>
                    <a:pt x="41160" y="167779"/>
                  </a:lnTo>
                  <a:lnTo>
                    <a:pt x="43548" y="163969"/>
                  </a:lnTo>
                  <a:lnTo>
                    <a:pt x="47129" y="161429"/>
                  </a:lnTo>
                  <a:lnTo>
                    <a:pt x="51904" y="161429"/>
                  </a:lnTo>
                  <a:lnTo>
                    <a:pt x="54292" y="162699"/>
                  </a:lnTo>
                  <a:lnTo>
                    <a:pt x="55486" y="163969"/>
                  </a:lnTo>
                  <a:lnTo>
                    <a:pt x="57264" y="165239"/>
                  </a:lnTo>
                  <a:lnTo>
                    <a:pt x="57861" y="167779"/>
                  </a:lnTo>
                  <a:lnTo>
                    <a:pt x="57861" y="151904"/>
                  </a:lnTo>
                  <a:lnTo>
                    <a:pt x="55486" y="151269"/>
                  </a:lnTo>
                  <a:lnTo>
                    <a:pt x="43548" y="151269"/>
                  </a:lnTo>
                  <a:lnTo>
                    <a:pt x="38773" y="152539"/>
                  </a:lnTo>
                  <a:lnTo>
                    <a:pt x="31610" y="160159"/>
                  </a:lnTo>
                  <a:lnTo>
                    <a:pt x="29819" y="163969"/>
                  </a:lnTo>
                  <a:lnTo>
                    <a:pt x="29819" y="180479"/>
                  </a:lnTo>
                  <a:lnTo>
                    <a:pt x="31610" y="185559"/>
                  </a:lnTo>
                  <a:lnTo>
                    <a:pt x="35191" y="189369"/>
                  </a:lnTo>
                  <a:lnTo>
                    <a:pt x="39370" y="193179"/>
                  </a:lnTo>
                  <a:lnTo>
                    <a:pt x="44145" y="194449"/>
                  </a:lnTo>
                  <a:lnTo>
                    <a:pt x="56070" y="194449"/>
                  </a:lnTo>
                  <a:lnTo>
                    <a:pt x="60845" y="193179"/>
                  </a:lnTo>
                  <a:lnTo>
                    <a:pt x="68008" y="185559"/>
                  </a:lnTo>
                  <a:lnTo>
                    <a:pt x="68605" y="184289"/>
                  </a:lnTo>
                  <a:lnTo>
                    <a:pt x="69799" y="181749"/>
                  </a:lnTo>
                  <a:lnTo>
                    <a:pt x="69799" y="165239"/>
                  </a:lnTo>
                  <a:close/>
                </a:path>
                <a:path w="4143375" h="352425">
                  <a:moveTo>
                    <a:pt x="99034" y="166509"/>
                  </a:moveTo>
                  <a:lnTo>
                    <a:pt x="90081" y="161429"/>
                  </a:lnTo>
                  <a:lnTo>
                    <a:pt x="44742" y="233819"/>
                  </a:lnTo>
                  <a:lnTo>
                    <a:pt x="53695" y="237629"/>
                  </a:lnTo>
                  <a:lnTo>
                    <a:pt x="99034" y="166509"/>
                  </a:lnTo>
                  <a:close/>
                </a:path>
                <a:path w="4143375" h="352425">
                  <a:moveTo>
                    <a:pt x="113944" y="217309"/>
                  </a:moveTo>
                  <a:lnTo>
                    <a:pt x="113055" y="214769"/>
                  </a:lnTo>
                  <a:lnTo>
                    <a:pt x="112153" y="212229"/>
                  </a:lnTo>
                  <a:lnTo>
                    <a:pt x="105003" y="205879"/>
                  </a:lnTo>
                  <a:lnTo>
                    <a:pt x="102019" y="204292"/>
                  </a:lnTo>
                  <a:lnTo>
                    <a:pt x="102019" y="219849"/>
                  </a:lnTo>
                  <a:lnTo>
                    <a:pt x="102019" y="233819"/>
                  </a:lnTo>
                  <a:lnTo>
                    <a:pt x="99631" y="236359"/>
                  </a:lnTo>
                  <a:lnTo>
                    <a:pt x="90081" y="236359"/>
                  </a:lnTo>
                  <a:lnTo>
                    <a:pt x="86499" y="232549"/>
                  </a:lnTo>
                  <a:lnTo>
                    <a:pt x="85902" y="230009"/>
                  </a:lnTo>
                  <a:lnTo>
                    <a:pt x="85902" y="219849"/>
                  </a:lnTo>
                  <a:lnTo>
                    <a:pt x="88290" y="217309"/>
                  </a:lnTo>
                  <a:lnTo>
                    <a:pt x="90081" y="214769"/>
                  </a:lnTo>
                  <a:lnTo>
                    <a:pt x="99034" y="214769"/>
                  </a:lnTo>
                  <a:lnTo>
                    <a:pt x="100228" y="217309"/>
                  </a:lnTo>
                  <a:lnTo>
                    <a:pt x="101422" y="217309"/>
                  </a:lnTo>
                  <a:lnTo>
                    <a:pt x="102019" y="219849"/>
                  </a:lnTo>
                  <a:lnTo>
                    <a:pt x="102019" y="204292"/>
                  </a:lnTo>
                  <a:lnTo>
                    <a:pt x="100228" y="203339"/>
                  </a:lnTo>
                  <a:lnTo>
                    <a:pt x="88290" y="203339"/>
                  </a:lnTo>
                  <a:lnTo>
                    <a:pt x="83515" y="205879"/>
                  </a:lnTo>
                  <a:lnTo>
                    <a:pt x="79349" y="208419"/>
                  </a:lnTo>
                  <a:lnTo>
                    <a:pt x="75768" y="212229"/>
                  </a:lnTo>
                  <a:lnTo>
                    <a:pt x="73977" y="217309"/>
                  </a:lnTo>
                  <a:lnTo>
                    <a:pt x="73977" y="232549"/>
                  </a:lnTo>
                  <a:lnTo>
                    <a:pt x="75768" y="237629"/>
                  </a:lnTo>
                  <a:lnTo>
                    <a:pt x="79349" y="241439"/>
                  </a:lnTo>
                  <a:lnTo>
                    <a:pt x="83515" y="245249"/>
                  </a:lnTo>
                  <a:lnTo>
                    <a:pt x="88290" y="246519"/>
                  </a:lnTo>
                  <a:lnTo>
                    <a:pt x="100228" y="246519"/>
                  </a:lnTo>
                  <a:lnTo>
                    <a:pt x="105003" y="245249"/>
                  </a:lnTo>
                  <a:lnTo>
                    <a:pt x="112153" y="237629"/>
                  </a:lnTo>
                  <a:lnTo>
                    <a:pt x="112750" y="236359"/>
                  </a:lnTo>
                  <a:lnTo>
                    <a:pt x="113944" y="233819"/>
                  </a:lnTo>
                  <a:lnTo>
                    <a:pt x="113944" y="217309"/>
                  </a:lnTo>
                  <a:close/>
                </a:path>
                <a:path w="4143375" h="352425">
                  <a:moveTo>
                    <a:pt x="143179" y="199529"/>
                  </a:moveTo>
                  <a:lnTo>
                    <a:pt x="137528" y="171589"/>
                  </a:lnTo>
                  <a:lnTo>
                    <a:pt x="131254" y="162267"/>
                  </a:lnTo>
                  <a:lnTo>
                    <a:pt x="131254" y="199529"/>
                  </a:lnTo>
                  <a:lnTo>
                    <a:pt x="126542" y="222389"/>
                  </a:lnTo>
                  <a:lnTo>
                    <a:pt x="113728" y="241439"/>
                  </a:lnTo>
                  <a:lnTo>
                    <a:pt x="94754" y="254139"/>
                  </a:lnTo>
                  <a:lnTo>
                    <a:pt x="71589" y="259219"/>
                  </a:lnTo>
                  <a:lnTo>
                    <a:pt x="48425" y="254139"/>
                  </a:lnTo>
                  <a:lnTo>
                    <a:pt x="29451" y="241439"/>
                  </a:lnTo>
                  <a:lnTo>
                    <a:pt x="16637" y="222389"/>
                  </a:lnTo>
                  <a:lnTo>
                    <a:pt x="11925" y="199529"/>
                  </a:lnTo>
                  <a:lnTo>
                    <a:pt x="16637" y="175399"/>
                  </a:lnTo>
                  <a:lnTo>
                    <a:pt x="29451" y="157619"/>
                  </a:lnTo>
                  <a:lnTo>
                    <a:pt x="48425" y="144919"/>
                  </a:lnTo>
                  <a:lnTo>
                    <a:pt x="71589" y="139839"/>
                  </a:lnTo>
                  <a:lnTo>
                    <a:pt x="94754" y="144919"/>
                  </a:lnTo>
                  <a:lnTo>
                    <a:pt x="113728" y="157619"/>
                  </a:lnTo>
                  <a:lnTo>
                    <a:pt x="126542" y="176669"/>
                  </a:lnTo>
                  <a:lnTo>
                    <a:pt x="131254" y="199529"/>
                  </a:lnTo>
                  <a:lnTo>
                    <a:pt x="131254" y="162267"/>
                  </a:lnTo>
                  <a:lnTo>
                    <a:pt x="122148" y="148729"/>
                  </a:lnTo>
                  <a:lnTo>
                    <a:pt x="108877" y="139839"/>
                  </a:lnTo>
                  <a:lnTo>
                    <a:pt x="99390" y="133489"/>
                  </a:lnTo>
                  <a:lnTo>
                    <a:pt x="71589" y="128409"/>
                  </a:lnTo>
                  <a:lnTo>
                    <a:pt x="43789" y="133489"/>
                  </a:lnTo>
                  <a:lnTo>
                    <a:pt x="21031" y="148729"/>
                  </a:lnTo>
                  <a:lnTo>
                    <a:pt x="5638" y="171589"/>
                  </a:lnTo>
                  <a:lnTo>
                    <a:pt x="0" y="199529"/>
                  </a:lnTo>
                  <a:lnTo>
                    <a:pt x="5638" y="227469"/>
                  </a:lnTo>
                  <a:lnTo>
                    <a:pt x="21031" y="250329"/>
                  </a:lnTo>
                  <a:lnTo>
                    <a:pt x="43789" y="265569"/>
                  </a:lnTo>
                  <a:lnTo>
                    <a:pt x="71589" y="270649"/>
                  </a:lnTo>
                  <a:lnTo>
                    <a:pt x="99390" y="265569"/>
                  </a:lnTo>
                  <a:lnTo>
                    <a:pt x="108877" y="259219"/>
                  </a:lnTo>
                  <a:lnTo>
                    <a:pt x="122148" y="250329"/>
                  </a:lnTo>
                  <a:lnTo>
                    <a:pt x="137528" y="227469"/>
                  </a:lnTo>
                  <a:lnTo>
                    <a:pt x="143179" y="199529"/>
                  </a:lnTo>
                  <a:close/>
                </a:path>
                <a:path w="4143375" h="352425">
                  <a:moveTo>
                    <a:pt x="148551" y="68719"/>
                  </a:moveTo>
                  <a:lnTo>
                    <a:pt x="133642" y="68719"/>
                  </a:lnTo>
                  <a:lnTo>
                    <a:pt x="119913" y="116979"/>
                  </a:lnTo>
                  <a:lnTo>
                    <a:pt x="105600" y="68719"/>
                  </a:lnTo>
                  <a:lnTo>
                    <a:pt x="90678" y="68719"/>
                  </a:lnTo>
                  <a:lnTo>
                    <a:pt x="112750" y="132219"/>
                  </a:lnTo>
                  <a:lnTo>
                    <a:pt x="126479" y="132219"/>
                  </a:lnTo>
                  <a:lnTo>
                    <a:pt x="131775" y="116979"/>
                  </a:lnTo>
                  <a:lnTo>
                    <a:pt x="148551" y="68719"/>
                  </a:lnTo>
                  <a:close/>
                </a:path>
                <a:path w="4143375" h="352425">
                  <a:moveTo>
                    <a:pt x="205828" y="132219"/>
                  </a:moveTo>
                  <a:lnTo>
                    <a:pt x="200571" y="118249"/>
                  </a:lnTo>
                  <a:lnTo>
                    <a:pt x="196761" y="108089"/>
                  </a:lnTo>
                  <a:lnTo>
                    <a:pt x="187693" y="83959"/>
                  </a:lnTo>
                  <a:lnTo>
                    <a:pt x="183756" y="73494"/>
                  </a:lnTo>
                  <a:lnTo>
                    <a:pt x="183756" y="108089"/>
                  </a:lnTo>
                  <a:lnTo>
                    <a:pt x="168236" y="108089"/>
                  </a:lnTo>
                  <a:lnTo>
                    <a:pt x="175996" y="83959"/>
                  </a:lnTo>
                  <a:lnTo>
                    <a:pt x="183756" y="108089"/>
                  </a:lnTo>
                  <a:lnTo>
                    <a:pt x="183756" y="73494"/>
                  </a:lnTo>
                  <a:lnTo>
                    <a:pt x="181965" y="68719"/>
                  </a:lnTo>
                  <a:lnTo>
                    <a:pt x="170027" y="68719"/>
                  </a:lnTo>
                  <a:lnTo>
                    <a:pt x="146164" y="132219"/>
                  </a:lnTo>
                  <a:lnTo>
                    <a:pt x="159893" y="132219"/>
                  </a:lnTo>
                  <a:lnTo>
                    <a:pt x="164655" y="118249"/>
                  </a:lnTo>
                  <a:lnTo>
                    <a:pt x="187921" y="118249"/>
                  </a:lnTo>
                  <a:lnTo>
                    <a:pt x="192100" y="132219"/>
                  </a:lnTo>
                  <a:lnTo>
                    <a:pt x="205828" y="132219"/>
                  </a:lnTo>
                  <a:close/>
                </a:path>
                <a:path w="4143375" h="352425">
                  <a:moveTo>
                    <a:pt x="210604" y="263029"/>
                  </a:moveTo>
                  <a:lnTo>
                    <a:pt x="208216" y="260489"/>
                  </a:lnTo>
                  <a:lnTo>
                    <a:pt x="118122" y="260489"/>
                  </a:lnTo>
                  <a:lnTo>
                    <a:pt x="115735" y="263029"/>
                  </a:lnTo>
                  <a:lnTo>
                    <a:pt x="115735" y="269379"/>
                  </a:lnTo>
                  <a:lnTo>
                    <a:pt x="118122" y="271919"/>
                  </a:lnTo>
                  <a:lnTo>
                    <a:pt x="208216" y="271919"/>
                  </a:lnTo>
                  <a:lnTo>
                    <a:pt x="210604" y="269379"/>
                  </a:lnTo>
                  <a:lnTo>
                    <a:pt x="210604" y="263029"/>
                  </a:lnTo>
                  <a:close/>
                </a:path>
                <a:path w="4143375" h="352425">
                  <a:moveTo>
                    <a:pt x="248780" y="191909"/>
                  </a:moveTo>
                  <a:lnTo>
                    <a:pt x="246392" y="189369"/>
                  </a:lnTo>
                  <a:lnTo>
                    <a:pt x="152133" y="189369"/>
                  </a:lnTo>
                  <a:lnTo>
                    <a:pt x="149745" y="191909"/>
                  </a:lnTo>
                  <a:lnTo>
                    <a:pt x="149745" y="199529"/>
                  </a:lnTo>
                  <a:lnTo>
                    <a:pt x="152133" y="202069"/>
                  </a:lnTo>
                  <a:lnTo>
                    <a:pt x="246392" y="202069"/>
                  </a:lnTo>
                  <a:lnTo>
                    <a:pt x="248780" y="199529"/>
                  </a:lnTo>
                  <a:lnTo>
                    <a:pt x="248780" y="191909"/>
                  </a:lnTo>
                  <a:close/>
                </a:path>
                <a:path w="4143375" h="352425">
                  <a:moveTo>
                    <a:pt x="254749" y="68719"/>
                  </a:moveTo>
                  <a:lnTo>
                    <a:pt x="202844" y="68719"/>
                  </a:lnTo>
                  <a:lnTo>
                    <a:pt x="202844" y="78879"/>
                  </a:lnTo>
                  <a:lnTo>
                    <a:pt x="221932" y="78879"/>
                  </a:lnTo>
                  <a:lnTo>
                    <a:pt x="221932" y="132219"/>
                  </a:lnTo>
                  <a:lnTo>
                    <a:pt x="235064" y="132219"/>
                  </a:lnTo>
                  <a:lnTo>
                    <a:pt x="235064" y="78879"/>
                  </a:lnTo>
                  <a:lnTo>
                    <a:pt x="254749" y="78879"/>
                  </a:lnTo>
                  <a:lnTo>
                    <a:pt x="254749" y="68719"/>
                  </a:lnTo>
                  <a:close/>
                </a:path>
                <a:path w="4143375" h="352425">
                  <a:moveTo>
                    <a:pt x="261315" y="227469"/>
                  </a:moveTo>
                  <a:lnTo>
                    <a:pt x="258927" y="224929"/>
                  </a:lnTo>
                  <a:lnTo>
                    <a:pt x="146164" y="224929"/>
                  </a:lnTo>
                  <a:lnTo>
                    <a:pt x="143776" y="227469"/>
                  </a:lnTo>
                  <a:lnTo>
                    <a:pt x="143776" y="235089"/>
                  </a:lnTo>
                  <a:lnTo>
                    <a:pt x="146164" y="236359"/>
                  </a:lnTo>
                  <a:lnTo>
                    <a:pt x="258927" y="236359"/>
                  </a:lnTo>
                  <a:lnTo>
                    <a:pt x="261315" y="233819"/>
                  </a:lnTo>
                  <a:lnTo>
                    <a:pt x="261315" y="227469"/>
                  </a:lnTo>
                  <a:close/>
                </a:path>
                <a:path w="4143375" h="352425">
                  <a:moveTo>
                    <a:pt x="261315" y="156349"/>
                  </a:moveTo>
                  <a:lnTo>
                    <a:pt x="258927" y="153809"/>
                  </a:lnTo>
                  <a:lnTo>
                    <a:pt x="142582" y="153809"/>
                  </a:lnTo>
                  <a:lnTo>
                    <a:pt x="140195" y="156349"/>
                  </a:lnTo>
                  <a:lnTo>
                    <a:pt x="140195" y="163969"/>
                  </a:lnTo>
                  <a:lnTo>
                    <a:pt x="142582" y="166509"/>
                  </a:lnTo>
                  <a:lnTo>
                    <a:pt x="258927" y="166509"/>
                  </a:lnTo>
                  <a:lnTo>
                    <a:pt x="261315" y="163969"/>
                  </a:lnTo>
                  <a:lnTo>
                    <a:pt x="261315" y="156349"/>
                  </a:lnTo>
                  <a:close/>
                </a:path>
                <a:path w="4143375" h="352425">
                  <a:moveTo>
                    <a:pt x="344830" y="54749"/>
                  </a:moveTo>
                  <a:lnTo>
                    <a:pt x="331114" y="20434"/>
                  </a:lnTo>
                  <a:lnTo>
                    <a:pt x="331114" y="45859"/>
                  </a:lnTo>
                  <a:lnTo>
                    <a:pt x="331114" y="67449"/>
                  </a:lnTo>
                  <a:lnTo>
                    <a:pt x="279209" y="67449"/>
                  </a:lnTo>
                  <a:lnTo>
                    <a:pt x="279209" y="54749"/>
                  </a:lnTo>
                  <a:lnTo>
                    <a:pt x="281203" y="42049"/>
                  </a:lnTo>
                  <a:lnTo>
                    <a:pt x="286664" y="31889"/>
                  </a:lnTo>
                  <a:lnTo>
                    <a:pt x="294817" y="24269"/>
                  </a:lnTo>
                  <a:lnTo>
                    <a:pt x="304863" y="21729"/>
                  </a:lnTo>
                  <a:lnTo>
                    <a:pt x="312026" y="21729"/>
                  </a:lnTo>
                  <a:lnTo>
                    <a:pt x="318579" y="25539"/>
                  </a:lnTo>
                  <a:lnTo>
                    <a:pt x="323354" y="30619"/>
                  </a:lnTo>
                  <a:lnTo>
                    <a:pt x="328129" y="38239"/>
                  </a:lnTo>
                  <a:lnTo>
                    <a:pt x="331114" y="45859"/>
                  </a:lnTo>
                  <a:lnTo>
                    <a:pt x="331114" y="20434"/>
                  </a:lnTo>
                  <a:lnTo>
                    <a:pt x="328218" y="17919"/>
                  </a:lnTo>
                  <a:lnTo>
                    <a:pt x="321487" y="12839"/>
                  </a:lnTo>
                  <a:lnTo>
                    <a:pt x="314210" y="10299"/>
                  </a:lnTo>
                  <a:lnTo>
                    <a:pt x="105003" y="10299"/>
                  </a:lnTo>
                  <a:lnTo>
                    <a:pt x="90220" y="12839"/>
                  </a:lnTo>
                  <a:lnTo>
                    <a:pt x="78079" y="22999"/>
                  </a:lnTo>
                  <a:lnTo>
                    <a:pt x="69850" y="36969"/>
                  </a:lnTo>
                  <a:lnTo>
                    <a:pt x="66814" y="54749"/>
                  </a:lnTo>
                  <a:lnTo>
                    <a:pt x="66814" y="118249"/>
                  </a:lnTo>
                  <a:lnTo>
                    <a:pt x="69202" y="120789"/>
                  </a:lnTo>
                  <a:lnTo>
                    <a:pt x="76365" y="120789"/>
                  </a:lnTo>
                  <a:lnTo>
                    <a:pt x="78752" y="118249"/>
                  </a:lnTo>
                  <a:lnTo>
                    <a:pt x="78752" y="54749"/>
                  </a:lnTo>
                  <a:lnTo>
                    <a:pt x="80746" y="42049"/>
                  </a:lnTo>
                  <a:lnTo>
                    <a:pt x="86207" y="31889"/>
                  </a:lnTo>
                  <a:lnTo>
                    <a:pt x="94348" y="24269"/>
                  </a:lnTo>
                  <a:lnTo>
                    <a:pt x="104406" y="21729"/>
                  </a:lnTo>
                  <a:lnTo>
                    <a:pt x="279209" y="21729"/>
                  </a:lnTo>
                  <a:lnTo>
                    <a:pt x="273977" y="28079"/>
                  </a:lnTo>
                  <a:lnTo>
                    <a:pt x="270040" y="36969"/>
                  </a:lnTo>
                  <a:lnTo>
                    <a:pt x="267550" y="45859"/>
                  </a:lnTo>
                  <a:lnTo>
                    <a:pt x="266674" y="54749"/>
                  </a:lnTo>
                  <a:lnTo>
                    <a:pt x="266674" y="306209"/>
                  </a:lnTo>
                  <a:lnTo>
                    <a:pt x="264591" y="320179"/>
                  </a:lnTo>
                  <a:lnTo>
                    <a:pt x="258927" y="330339"/>
                  </a:lnTo>
                  <a:lnTo>
                    <a:pt x="250571" y="337959"/>
                  </a:lnTo>
                  <a:lnTo>
                    <a:pt x="240423" y="340499"/>
                  </a:lnTo>
                  <a:lnTo>
                    <a:pt x="239826" y="340499"/>
                  </a:lnTo>
                  <a:lnTo>
                    <a:pt x="233273" y="339229"/>
                  </a:lnTo>
                  <a:lnTo>
                    <a:pt x="226707" y="336689"/>
                  </a:lnTo>
                  <a:lnTo>
                    <a:pt x="217157" y="323989"/>
                  </a:lnTo>
                  <a:lnTo>
                    <a:pt x="215366" y="318655"/>
                  </a:lnTo>
                  <a:lnTo>
                    <a:pt x="215366" y="340499"/>
                  </a:lnTo>
                  <a:lnTo>
                    <a:pt x="33401" y="340499"/>
                  </a:lnTo>
                  <a:lnTo>
                    <a:pt x="26847" y="336689"/>
                  </a:lnTo>
                  <a:lnTo>
                    <a:pt x="21475" y="330339"/>
                  </a:lnTo>
                  <a:lnTo>
                    <a:pt x="16700" y="323989"/>
                  </a:lnTo>
                  <a:lnTo>
                    <a:pt x="13716" y="315099"/>
                  </a:lnTo>
                  <a:lnTo>
                    <a:pt x="13716" y="294779"/>
                  </a:lnTo>
                  <a:lnTo>
                    <a:pt x="202844" y="294779"/>
                  </a:lnTo>
                  <a:lnTo>
                    <a:pt x="202844" y="306209"/>
                  </a:lnTo>
                  <a:lnTo>
                    <a:pt x="203517" y="315099"/>
                  </a:lnTo>
                  <a:lnTo>
                    <a:pt x="205524" y="323989"/>
                  </a:lnTo>
                  <a:lnTo>
                    <a:pt x="208876" y="331609"/>
                  </a:lnTo>
                  <a:lnTo>
                    <a:pt x="213575" y="337959"/>
                  </a:lnTo>
                  <a:lnTo>
                    <a:pt x="215366" y="340499"/>
                  </a:lnTo>
                  <a:lnTo>
                    <a:pt x="215366" y="318655"/>
                  </a:lnTo>
                  <a:lnTo>
                    <a:pt x="214172" y="315099"/>
                  </a:lnTo>
                  <a:lnTo>
                    <a:pt x="214172" y="294779"/>
                  </a:lnTo>
                  <a:lnTo>
                    <a:pt x="214172" y="285889"/>
                  </a:lnTo>
                  <a:lnTo>
                    <a:pt x="211797" y="283349"/>
                  </a:lnTo>
                  <a:lnTo>
                    <a:pt x="77558" y="283349"/>
                  </a:lnTo>
                  <a:lnTo>
                    <a:pt x="77558" y="279539"/>
                  </a:lnTo>
                  <a:lnTo>
                    <a:pt x="75171" y="276999"/>
                  </a:lnTo>
                  <a:lnTo>
                    <a:pt x="68008" y="276999"/>
                  </a:lnTo>
                  <a:lnTo>
                    <a:pt x="65620" y="279539"/>
                  </a:lnTo>
                  <a:lnTo>
                    <a:pt x="65620" y="283349"/>
                  </a:lnTo>
                  <a:lnTo>
                    <a:pt x="4165" y="283349"/>
                  </a:lnTo>
                  <a:lnTo>
                    <a:pt x="1790" y="285889"/>
                  </a:lnTo>
                  <a:lnTo>
                    <a:pt x="1790" y="306209"/>
                  </a:lnTo>
                  <a:lnTo>
                    <a:pt x="18402" y="344309"/>
                  </a:lnTo>
                  <a:lnTo>
                    <a:pt x="39966" y="351929"/>
                  </a:lnTo>
                  <a:lnTo>
                    <a:pt x="241020" y="351929"/>
                  </a:lnTo>
                  <a:lnTo>
                    <a:pt x="276174" y="323989"/>
                  </a:lnTo>
                  <a:lnTo>
                    <a:pt x="279209" y="306209"/>
                  </a:lnTo>
                  <a:lnTo>
                    <a:pt x="279209" y="78879"/>
                  </a:lnTo>
                  <a:lnTo>
                    <a:pt x="339471" y="78879"/>
                  </a:lnTo>
                  <a:lnTo>
                    <a:pt x="341858" y="77609"/>
                  </a:lnTo>
                  <a:lnTo>
                    <a:pt x="343636" y="75069"/>
                  </a:lnTo>
                  <a:lnTo>
                    <a:pt x="344830" y="72529"/>
                  </a:lnTo>
                  <a:lnTo>
                    <a:pt x="344830" y="67449"/>
                  </a:lnTo>
                  <a:lnTo>
                    <a:pt x="344830" y="54749"/>
                  </a:lnTo>
                  <a:close/>
                </a:path>
                <a:path w="4143375" h="352425">
                  <a:moveTo>
                    <a:pt x="3882796" y="68478"/>
                  </a:moveTo>
                  <a:lnTo>
                    <a:pt x="3882110" y="66827"/>
                  </a:lnTo>
                  <a:lnTo>
                    <a:pt x="3879354" y="64071"/>
                  </a:lnTo>
                  <a:lnTo>
                    <a:pt x="3877691" y="63385"/>
                  </a:lnTo>
                  <a:lnTo>
                    <a:pt x="3873804" y="63385"/>
                  </a:lnTo>
                  <a:lnTo>
                    <a:pt x="3872141" y="64071"/>
                  </a:lnTo>
                  <a:lnTo>
                    <a:pt x="3869398" y="66827"/>
                  </a:lnTo>
                  <a:lnTo>
                    <a:pt x="3868712" y="68478"/>
                  </a:lnTo>
                  <a:lnTo>
                    <a:pt x="3868712" y="72377"/>
                  </a:lnTo>
                  <a:lnTo>
                    <a:pt x="3869398" y="74028"/>
                  </a:lnTo>
                  <a:lnTo>
                    <a:pt x="3872141" y="76784"/>
                  </a:lnTo>
                  <a:lnTo>
                    <a:pt x="3873804" y="77470"/>
                  </a:lnTo>
                  <a:lnTo>
                    <a:pt x="3877691" y="77470"/>
                  </a:lnTo>
                  <a:lnTo>
                    <a:pt x="3879354" y="76784"/>
                  </a:lnTo>
                  <a:lnTo>
                    <a:pt x="3882110" y="74028"/>
                  </a:lnTo>
                  <a:lnTo>
                    <a:pt x="3882796" y="72377"/>
                  </a:lnTo>
                  <a:lnTo>
                    <a:pt x="3882796" y="70421"/>
                  </a:lnTo>
                  <a:lnTo>
                    <a:pt x="3882796" y="68478"/>
                  </a:lnTo>
                  <a:close/>
                </a:path>
                <a:path w="4143375" h="352425">
                  <a:moveTo>
                    <a:pt x="3961142" y="129921"/>
                  </a:moveTo>
                  <a:lnTo>
                    <a:pt x="3957980" y="126771"/>
                  </a:lnTo>
                  <a:lnTo>
                    <a:pt x="3954094" y="126771"/>
                  </a:lnTo>
                  <a:lnTo>
                    <a:pt x="3914991" y="126771"/>
                  </a:lnTo>
                  <a:lnTo>
                    <a:pt x="3911841" y="129921"/>
                  </a:lnTo>
                  <a:lnTo>
                    <a:pt x="3911841" y="137706"/>
                  </a:lnTo>
                  <a:lnTo>
                    <a:pt x="3914991" y="140855"/>
                  </a:lnTo>
                  <a:lnTo>
                    <a:pt x="3929443" y="140855"/>
                  </a:lnTo>
                  <a:lnTo>
                    <a:pt x="3929443" y="179959"/>
                  </a:lnTo>
                  <a:lnTo>
                    <a:pt x="3932605" y="183108"/>
                  </a:lnTo>
                  <a:lnTo>
                    <a:pt x="3940378" y="183108"/>
                  </a:lnTo>
                  <a:lnTo>
                    <a:pt x="3943527" y="179959"/>
                  </a:lnTo>
                  <a:lnTo>
                    <a:pt x="3943527" y="140855"/>
                  </a:lnTo>
                  <a:lnTo>
                    <a:pt x="3957980" y="140855"/>
                  </a:lnTo>
                  <a:lnTo>
                    <a:pt x="3961142" y="137706"/>
                  </a:lnTo>
                  <a:lnTo>
                    <a:pt x="3961142" y="129921"/>
                  </a:lnTo>
                  <a:close/>
                </a:path>
                <a:path w="4143375" h="352425">
                  <a:moveTo>
                    <a:pt x="4011384" y="176936"/>
                  </a:moveTo>
                  <a:lnTo>
                    <a:pt x="4011015" y="176060"/>
                  </a:lnTo>
                  <a:lnTo>
                    <a:pt x="4005148" y="161975"/>
                  </a:lnTo>
                  <a:lnTo>
                    <a:pt x="4001046" y="152120"/>
                  </a:lnTo>
                  <a:lnTo>
                    <a:pt x="3991191" y="128473"/>
                  </a:lnTo>
                  <a:lnTo>
                    <a:pt x="3989895" y="127622"/>
                  </a:lnTo>
                  <a:lnTo>
                    <a:pt x="3989895" y="161975"/>
                  </a:lnTo>
                  <a:lnTo>
                    <a:pt x="3981678" y="161975"/>
                  </a:lnTo>
                  <a:lnTo>
                    <a:pt x="3985780" y="152120"/>
                  </a:lnTo>
                  <a:lnTo>
                    <a:pt x="3989895" y="161975"/>
                  </a:lnTo>
                  <a:lnTo>
                    <a:pt x="3989895" y="127622"/>
                  </a:lnTo>
                  <a:lnTo>
                    <a:pt x="3988625" y="126771"/>
                  </a:lnTo>
                  <a:lnTo>
                    <a:pt x="3982948" y="126771"/>
                  </a:lnTo>
                  <a:lnTo>
                    <a:pt x="3980383" y="128473"/>
                  </a:lnTo>
                  <a:lnTo>
                    <a:pt x="3960190" y="176936"/>
                  </a:lnTo>
                  <a:lnTo>
                    <a:pt x="3961879" y="181063"/>
                  </a:lnTo>
                  <a:lnTo>
                    <a:pt x="3968927" y="184010"/>
                  </a:lnTo>
                  <a:lnTo>
                    <a:pt x="3969245" y="184010"/>
                  </a:lnTo>
                  <a:lnTo>
                    <a:pt x="3973182" y="182359"/>
                  </a:lnTo>
                  <a:lnTo>
                    <a:pt x="3973245" y="182219"/>
                  </a:lnTo>
                  <a:lnTo>
                    <a:pt x="3975811" y="176060"/>
                  </a:lnTo>
                  <a:lnTo>
                    <a:pt x="3995763" y="176060"/>
                  </a:lnTo>
                  <a:lnTo>
                    <a:pt x="3998328" y="182219"/>
                  </a:lnTo>
                  <a:lnTo>
                    <a:pt x="4002646" y="184010"/>
                  </a:lnTo>
                  <a:lnTo>
                    <a:pt x="4009694" y="181063"/>
                  </a:lnTo>
                  <a:lnTo>
                    <a:pt x="4011384" y="176936"/>
                  </a:lnTo>
                  <a:close/>
                </a:path>
                <a:path w="4143375" h="352425">
                  <a:moveTo>
                    <a:pt x="4065943" y="134924"/>
                  </a:moveTo>
                  <a:lnTo>
                    <a:pt x="4065308" y="130505"/>
                  </a:lnTo>
                  <a:lnTo>
                    <a:pt x="4059085" y="125844"/>
                  </a:lnTo>
                  <a:lnTo>
                    <a:pt x="4054678" y="126466"/>
                  </a:lnTo>
                  <a:lnTo>
                    <a:pt x="4042130" y="143205"/>
                  </a:lnTo>
                  <a:lnTo>
                    <a:pt x="4029583" y="126466"/>
                  </a:lnTo>
                  <a:lnTo>
                    <a:pt x="4025176" y="125844"/>
                  </a:lnTo>
                  <a:lnTo>
                    <a:pt x="4018940" y="130505"/>
                  </a:lnTo>
                  <a:lnTo>
                    <a:pt x="4018318" y="134924"/>
                  </a:lnTo>
                  <a:lnTo>
                    <a:pt x="4033329" y="154940"/>
                  </a:lnTo>
                  <a:lnTo>
                    <a:pt x="4018318" y="174942"/>
                  </a:lnTo>
                  <a:lnTo>
                    <a:pt x="4018940" y="179362"/>
                  </a:lnTo>
                  <a:lnTo>
                    <a:pt x="4024973" y="183883"/>
                  </a:lnTo>
                  <a:lnTo>
                    <a:pt x="4029595" y="183375"/>
                  </a:lnTo>
                  <a:lnTo>
                    <a:pt x="4029697" y="183248"/>
                  </a:lnTo>
                  <a:lnTo>
                    <a:pt x="4042130" y="166662"/>
                  </a:lnTo>
                  <a:lnTo>
                    <a:pt x="4054564" y="183248"/>
                  </a:lnTo>
                  <a:lnTo>
                    <a:pt x="4059059" y="184048"/>
                  </a:lnTo>
                  <a:lnTo>
                    <a:pt x="4065308" y="179362"/>
                  </a:lnTo>
                  <a:lnTo>
                    <a:pt x="4065943" y="174942"/>
                  </a:lnTo>
                  <a:lnTo>
                    <a:pt x="4059720" y="166662"/>
                  </a:lnTo>
                  <a:lnTo>
                    <a:pt x="4050919" y="154940"/>
                  </a:lnTo>
                  <a:lnTo>
                    <a:pt x="4059720" y="143205"/>
                  </a:lnTo>
                  <a:lnTo>
                    <a:pt x="4065943" y="134924"/>
                  </a:lnTo>
                  <a:close/>
                </a:path>
                <a:path w="4143375" h="352425">
                  <a:moveTo>
                    <a:pt x="4115193" y="313016"/>
                  </a:moveTo>
                  <a:lnTo>
                    <a:pt x="4112031" y="309867"/>
                  </a:lnTo>
                  <a:lnTo>
                    <a:pt x="4108145" y="309867"/>
                  </a:lnTo>
                  <a:lnTo>
                    <a:pt x="4062006" y="309867"/>
                  </a:lnTo>
                  <a:lnTo>
                    <a:pt x="4058856" y="313016"/>
                  </a:lnTo>
                  <a:lnTo>
                    <a:pt x="4058856" y="320802"/>
                  </a:lnTo>
                  <a:lnTo>
                    <a:pt x="4062006" y="323951"/>
                  </a:lnTo>
                  <a:lnTo>
                    <a:pt x="4112031" y="323951"/>
                  </a:lnTo>
                  <a:lnTo>
                    <a:pt x="4115193" y="320802"/>
                  </a:lnTo>
                  <a:lnTo>
                    <a:pt x="4115193" y="313016"/>
                  </a:lnTo>
                  <a:close/>
                </a:path>
                <a:path w="4143375" h="352425">
                  <a:moveTo>
                    <a:pt x="4143362" y="173037"/>
                  </a:moveTo>
                  <a:lnTo>
                    <a:pt x="4142448" y="165900"/>
                  </a:lnTo>
                  <a:lnTo>
                    <a:pt x="4139831" y="159359"/>
                  </a:lnTo>
                  <a:lnTo>
                    <a:pt x="4135640" y="153657"/>
                  </a:lnTo>
                  <a:lnTo>
                    <a:pt x="4133710" y="152095"/>
                  </a:lnTo>
                  <a:lnTo>
                    <a:pt x="4130027" y="149085"/>
                  </a:lnTo>
                  <a:lnTo>
                    <a:pt x="4129278" y="148628"/>
                  </a:lnTo>
                  <a:lnTo>
                    <a:pt x="4129278" y="168148"/>
                  </a:lnTo>
                  <a:lnTo>
                    <a:pt x="4129278" y="185699"/>
                  </a:lnTo>
                  <a:lnTo>
                    <a:pt x="4129278" y="201295"/>
                  </a:lnTo>
                  <a:lnTo>
                    <a:pt x="4129278" y="331711"/>
                  </a:lnTo>
                  <a:lnTo>
                    <a:pt x="4122953" y="338035"/>
                  </a:lnTo>
                  <a:lnTo>
                    <a:pt x="3853904" y="338035"/>
                  </a:lnTo>
                  <a:lnTo>
                    <a:pt x="3847579" y="331711"/>
                  </a:lnTo>
                  <a:lnTo>
                    <a:pt x="3847579" y="201295"/>
                  </a:lnTo>
                  <a:lnTo>
                    <a:pt x="3973284" y="261150"/>
                  </a:lnTo>
                  <a:lnTo>
                    <a:pt x="3980535" y="263626"/>
                  </a:lnTo>
                  <a:lnTo>
                    <a:pt x="3988282" y="264490"/>
                  </a:lnTo>
                  <a:lnTo>
                    <a:pt x="3996652" y="263626"/>
                  </a:lnTo>
                  <a:lnTo>
                    <a:pt x="3996271" y="263626"/>
                  </a:lnTo>
                  <a:lnTo>
                    <a:pt x="4003573" y="261150"/>
                  </a:lnTo>
                  <a:lnTo>
                    <a:pt x="4024490" y="251193"/>
                  </a:lnTo>
                  <a:lnTo>
                    <a:pt x="4129278" y="201295"/>
                  </a:lnTo>
                  <a:lnTo>
                    <a:pt x="4129278" y="185699"/>
                  </a:lnTo>
                  <a:lnTo>
                    <a:pt x="4108145" y="195757"/>
                  </a:lnTo>
                  <a:lnTo>
                    <a:pt x="4108145" y="152095"/>
                  </a:lnTo>
                  <a:lnTo>
                    <a:pt x="4126763" y="163664"/>
                  </a:lnTo>
                  <a:lnTo>
                    <a:pt x="4129278" y="168148"/>
                  </a:lnTo>
                  <a:lnTo>
                    <a:pt x="4129278" y="148628"/>
                  </a:lnTo>
                  <a:lnTo>
                    <a:pt x="4108145" y="135521"/>
                  </a:lnTo>
                  <a:lnTo>
                    <a:pt x="4108145" y="56337"/>
                  </a:lnTo>
                  <a:lnTo>
                    <a:pt x="4108145" y="54470"/>
                  </a:lnTo>
                  <a:lnTo>
                    <a:pt x="4107408" y="52679"/>
                  </a:lnTo>
                  <a:lnTo>
                    <a:pt x="4091140" y="36423"/>
                  </a:lnTo>
                  <a:lnTo>
                    <a:pt x="4091140" y="56337"/>
                  </a:lnTo>
                  <a:lnTo>
                    <a:pt x="4065892" y="56337"/>
                  </a:lnTo>
                  <a:lnTo>
                    <a:pt x="4065892" y="70421"/>
                  </a:lnTo>
                  <a:lnTo>
                    <a:pt x="4065892" y="98590"/>
                  </a:lnTo>
                  <a:lnTo>
                    <a:pt x="3910965" y="98590"/>
                  </a:lnTo>
                  <a:lnTo>
                    <a:pt x="3910965" y="42252"/>
                  </a:lnTo>
                  <a:lnTo>
                    <a:pt x="4037723" y="42252"/>
                  </a:lnTo>
                  <a:lnTo>
                    <a:pt x="4037723" y="67271"/>
                  </a:lnTo>
                  <a:lnTo>
                    <a:pt x="4040873" y="70421"/>
                  </a:lnTo>
                  <a:lnTo>
                    <a:pt x="4065892" y="70421"/>
                  </a:lnTo>
                  <a:lnTo>
                    <a:pt x="4065892" y="56337"/>
                  </a:lnTo>
                  <a:lnTo>
                    <a:pt x="4051808" y="56337"/>
                  </a:lnTo>
                  <a:lnTo>
                    <a:pt x="4051808" y="42252"/>
                  </a:lnTo>
                  <a:lnTo>
                    <a:pt x="4051808" y="17005"/>
                  </a:lnTo>
                  <a:lnTo>
                    <a:pt x="4091140" y="56337"/>
                  </a:lnTo>
                  <a:lnTo>
                    <a:pt x="4091140" y="36423"/>
                  </a:lnTo>
                  <a:lnTo>
                    <a:pt x="4071721" y="17005"/>
                  </a:lnTo>
                  <a:lnTo>
                    <a:pt x="4068813" y="14084"/>
                  </a:lnTo>
                  <a:lnTo>
                    <a:pt x="4055465" y="749"/>
                  </a:lnTo>
                  <a:lnTo>
                    <a:pt x="4053675" y="0"/>
                  </a:lnTo>
                  <a:lnTo>
                    <a:pt x="3871861" y="0"/>
                  </a:lnTo>
                  <a:lnTo>
                    <a:pt x="3868712" y="3149"/>
                  </a:lnTo>
                  <a:lnTo>
                    <a:pt x="3868712" y="46151"/>
                  </a:lnTo>
                  <a:lnTo>
                    <a:pt x="3871861" y="49301"/>
                  </a:lnTo>
                  <a:lnTo>
                    <a:pt x="3879634" y="49301"/>
                  </a:lnTo>
                  <a:lnTo>
                    <a:pt x="3882796" y="46151"/>
                  </a:lnTo>
                  <a:lnTo>
                    <a:pt x="3882796" y="14084"/>
                  </a:lnTo>
                  <a:lnTo>
                    <a:pt x="4037723" y="14084"/>
                  </a:lnTo>
                  <a:lnTo>
                    <a:pt x="4037723" y="28168"/>
                  </a:lnTo>
                  <a:lnTo>
                    <a:pt x="3900030" y="28168"/>
                  </a:lnTo>
                  <a:lnTo>
                    <a:pt x="3896880" y="31318"/>
                  </a:lnTo>
                  <a:lnTo>
                    <a:pt x="3896880" y="109524"/>
                  </a:lnTo>
                  <a:lnTo>
                    <a:pt x="3900030" y="112674"/>
                  </a:lnTo>
                  <a:lnTo>
                    <a:pt x="4076827" y="112674"/>
                  </a:lnTo>
                  <a:lnTo>
                    <a:pt x="4079976" y="109524"/>
                  </a:lnTo>
                  <a:lnTo>
                    <a:pt x="4079976" y="98590"/>
                  </a:lnTo>
                  <a:lnTo>
                    <a:pt x="4079976" y="70421"/>
                  </a:lnTo>
                  <a:lnTo>
                    <a:pt x="4094061" y="70421"/>
                  </a:lnTo>
                  <a:lnTo>
                    <a:pt x="4094061" y="202463"/>
                  </a:lnTo>
                  <a:lnTo>
                    <a:pt x="3991737" y="251193"/>
                  </a:lnTo>
                  <a:lnTo>
                    <a:pt x="3985107" y="251193"/>
                  </a:lnTo>
                  <a:lnTo>
                    <a:pt x="3882796" y="202463"/>
                  </a:lnTo>
                  <a:lnTo>
                    <a:pt x="3882796" y="201295"/>
                  </a:lnTo>
                  <a:lnTo>
                    <a:pt x="3882796" y="195757"/>
                  </a:lnTo>
                  <a:lnTo>
                    <a:pt x="3882796" y="152095"/>
                  </a:lnTo>
                  <a:lnTo>
                    <a:pt x="3882796" y="94703"/>
                  </a:lnTo>
                  <a:lnTo>
                    <a:pt x="3879634" y="91554"/>
                  </a:lnTo>
                  <a:lnTo>
                    <a:pt x="3871861" y="91554"/>
                  </a:lnTo>
                  <a:lnTo>
                    <a:pt x="3868712" y="94703"/>
                  </a:lnTo>
                  <a:lnTo>
                    <a:pt x="3868712" y="135521"/>
                  </a:lnTo>
                  <a:lnTo>
                    <a:pt x="3868712" y="152095"/>
                  </a:lnTo>
                  <a:lnTo>
                    <a:pt x="3868712" y="195757"/>
                  </a:lnTo>
                  <a:lnTo>
                    <a:pt x="3847579" y="185699"/>
                  </a:lnTo>
                  <a:lnTo>
                    <a:pt x="3847579" y="168148"/>
                  </a:lnTo>
                  <a:lnTo>
                    <a:pt x="3850081" y="163664"/>
                  </a:lnTo>
                  <a:lnTo>
                    <a:pt x="3868712" y="152095"/>
                  </a:lnTo>
                  <a:lnTo>
                    <a:pt x="3868712" y="135521"/>
                  </a:lnTo>
                  <a:lnTo>
                    <a:pt x="3837025" y="159359"/>
                  </a:lnTo>
                  <a:lnTo>
                    <a:pt x="3833495" y="173037"/>
                  </a:lnTo>
                  <a:lnTo>
                    <a:pt x="3833495" y="323951"/>
                  </a:lnTo>
                  <a:lnTo>
                    <a:pt x="3835717" y="334899"/>
                  </a:lnTo>
                  <a:lnTo>
                    <a:pt x="3841762" y="343865"/>
                  </a:lnTo>
                  <a:lnTo>
                    <a:pt x="3850716" y="349897"/>
                  </a:lnTo>
                  <a:lnTo>
                    <a:pt x="3861663" y="352120"/>
                  </a:lnTo>
                  <a:lnTo>
                    <a:pt x="4115193" y="352120"/>
                  </a:lnTo>
                  <a:lnTo>
                    <a:pt x="4143362" y="323951"/>
                  </a:lnTo>
                  <a:lnTo>
                    <a:pt x="4143362" y="201295"/>
                  </a:lnTo>
                  <a:lnTo>
                    <a:pt x="4143362" y="195757"/>
                  </a:lnTo>
                  <a:lnTo>
                    <a:pt x="4143362" y="1730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6" name="object 66"/>
          <p:cNvSpPr txBox="1"/>
          <p:nvPr/>
        </p:nvSpPr>
        <p:spPr>
          <a:xfrm>
            <a:off x="1016000" y="9647656"/>
            <a:ext cx="1519555" cy="208279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200" spc="-10">
                <a:solidFill>
                  <a:srgbClr val="092A3B"/>
                </a:solidFill>
                <a:latin typeface="Trebuchet MS"/>
                <a:cs typeface="Trebuchet MS"/>
                <a:hlinkClick r:id="rId10"/>
              </a:rPr>
              <a:t>www.finanshels.com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7150717" y="9690726"/>
            <a:ext cx="268605" cy="268605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600" spc="85">
                <a:solidFill>
                  <a:srgbClr val="0D2E32"/>
                </a:solidFill>
                <a:latin typeface="Trebuchet MS"/>
                <a:cs typeface="Trebuchet MS"/>
              </a:rPr>
              <a:t>04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F6E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931544" y="3846194"/>
            <a:ext cx="3143250" cy="3767454"/>
            <a:chOff x="931544" y="3846194"/>
            <a:chExt cx="3143250" cy="3767454"/>
          </a:xfrm>
        </p:grpSpPr>
        <p:sp>
          <p:nvSpPr>
            <p:cNvPr id="4" name="object 4"/>
            <p:cNvSpPr/>
            <p:nvPr/>
          </p:nvSpPr>
          <p:spPr>
            <a:xfrm>
              <a:off x="950594" y="3865245"/>
              <a:ext cx="3101340" cy="3729354"/>
            </a:xfrm>
            <a:custGeom>
              <a:avLst/>
              <a:gdLst/>
              <a:ahLst/>
              <a:cxnLst/>
              <a:rect l="l" t="t" r="r" b="b"/>
              <a:pathLst>
                <a:path w="3101340" h="3729354">
                  <a:moveTo>
                    <a:pt x="2967132" y="3729189"/>
                  </a:moveTo>
                  <a:lnTo>
                    <a:pt x="138017" y="3729189"/>
                  </a:lnTo>
                  <a:lnTo>
                    <a:pt x="84305" y="3720010"/>
                  </a:lnTo>
                  <a:lnTo>
                    <a:pt x="40433" y="3694983"/>
                  </a:lnTo>
                  <a:lnTo>
                    <a:pt x="10849" y="3657869"/>
                  </a:lnTo>
                  <a:lnTo>
                    <a:pt x="0" y="3612430"/>
                  </a:lnTo>
                  <a:lnTo>
                    <a:pt x="0" y="116758"/>
                  </a:lnTo>
                  <a:lnTo>
                    <a:pt x="10849" y="71319"/>
                  </a:lnTo>
                  <a:lnTo>
                    <a:pt x="40433" y="34205"/>
                  </a:lnTo>
                  <a:lnTo>
                    <a:pt x="84305" y="9178"/>
                  </a:lnTo>
                  <a:lnTo>
                    <a:pt x="138017" y="0"/>
                  </a:lnTo>
                  <a:lnTo>
                    <a:pt x="2967132" y="0"/>
                  </a:lnTo>
                  <a:lnTo>
                    <a:pt x="3020844" y="9178"/>
                  </a:lnTo>
                  <a:lnTo>
                    <a:pt x="3064716" y="34205"/>
                  </a:lnTo>
                  <a:lnTo>
                    <a:pt x="3094300" y="71319"/>
                  </a:lnTo>
                  <a:lnTo>
                    <a:pt x="3101315" y="100701"/>
                  </a:lnTo>
                  <a:lnTo>
                    <a:pt x="3101315" y="3628488"/>
                  </a:lnTo>
                  <a:lnTo>
                    <a:pt x="3094300" y="3657869"/>
                  </a:lnTo>
                  <a:lnTo>
                    <a:pt x="3064716" y="3694983"/>
                  </a:lnTo>
                  <a:lnTo>
                    <a:pt x="3020844" y="3720010"/>
                  </a:lnTo>
                  <a:lnTo>
                    <a:pt x="2967132" y="37291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950594" y="3865244"/>
              <a:ext cx="3105150" cy="3729354"/>
            </a:xfrm>
            <a:custGeom>
              <a:avLst/>
              <a:gdLst/>
              <a:ahLst/>
              <a:cxnLst/>
              <a:rect l="l" t="t" r="r" b="b"/>
              <a:pathLst>
                <a:path w="3105150" h="3729354">
                  <a:moveTo>
                    <a:pt x="0" y="116758"/>
                  </a:moveTo>
                  <a:lnTo>
                    <a:pt x="10850" y="71319"/>
                  </a:lnTo>
                  <a:lnTo>
                    <a:pt x="40434" y="34205"/>
                  </a:lnTo>
                  <a:lnTo>
                    <a:pt x="84306" y="9178"/>
                  </a:lnTo>
                  <a:lnTo>
                    <a:pt x="138018" y="0"/>
                  </a:lnTo>
                  <a:lnTo>
                    <a:pt x="2967131" y="0"/>
                  </a:lnTo>
                  <a:lnTo>
                    <a:pt x="3020843" y="9177"/>
                  </a:lnTo>
                  <a:lnTo>
                    <a:pt x="3064715" y="34204"/>
                  </a:lnTo>
                  <a:lnTo>
                    <a:pt x="3094300" y="71319"/>
                  </a:lnTo>
                  <a:lnTo>
                    <a:pt x="3105149" y="116758"/>
                  </a:lnTo>
                  <a:lnTo>
                    <a:pt x="3105150" y="3612427"/>
                  </a:lnTo>
                  <a:lnTo>
                    <a:pt x="3094301" y="3657868"/>
                  </a:lnTo>
                  <a:lnTo>
                    <a:pt x="3064716" y="3694983"/>
                  </a:lnTo>
                  <a:lnTo>
                    <a:pt x="3020843" y="3720010"/>
                  </a:lnTo>
                  <a:lnTo>
                    <a:pt x="2967131" y="3729189"/>
                  </a:lnTo>
                  <a:lnTo>
                    <a:pt x="138017" y="3729189"/>
                  </a:lnTo>
                  <a:lnTo>
                    <a:pt x="84304" y="3720010"/>
                  </a:lnTo>
                  <a:lnTo>
                    <a:pt x="40432" y="3694982"/>
                  </a:lnTo>
                  <a:lnTo>
                    <a:pt x="10848" y="3657866"/>
                  </a:lnTo>
                  <a:lnTo>
                    <a:pt x="0" y="3612426"/>
                  </a:lnTo>
                  <a:lnTo>
                    <a:pt x="0" y="116758"/>
                  </a:lnTo>
                </a:path>
              </a:pathLst>
            </a:custGeom>
            <a:ln w="38099">
              <a:solidFill>
                <a:srgbClr val="ECE3D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4291965" y="3846194"/>
            <a:ext cx="3143250" cy="3767454"/>
            <a:chOff x="4291965" y="3846194"/>
            <a:chExt cx="3143250" cy="3767454"/>
          </a:xfrm>
        </p:grpSpPr>
        <p:sp>
          <p:nvSpPr>
            <p:cNvPr id="7" name="object 7"/>
            <p:cNvSpPr/>
            <p:nvPr/>
          </p:nvSpPr>
          <p:spPr>
            <a:xfrm>
              <a:off x="4311014" y="3865245"/>
              <a:ext cx="3101340" cy="3729354"/>
            </a:xfrm>
            <a:custGeom>
              <a:avLst/>
              <a:gdLst/>
              <a:ahLst/>
              <a:cxnLst/>
              <a:rect l="l" t="t" r="r" b="b"/>
              <a:pathLst>
                <a:path w="3101340" h="3729354">
                  <a:moveTo>
                    <a:pt x="2967132" y="3729189"/>
                  </a:moveTo>
                  <a:lnTo>
                    <a:pt x="138017" y="3729189"/>
                  </a:lnTo>
                  <a:lnTo>
                    <a:pt x="84305" y="3720010"/>
                  </a:lnTo>
                  <a:lnTo>
                    <a:pt x="40433" y="3694983"/>
                  </a:lnTo>
                  <a:lnTo>
                    <a:pt x="10849" y="3657869"/>
                  </a:lnTo>
                  <a:lnTo>
                    <a:pt x="0" y="3612430"/>
                  </a:lnTo>
                  <a:lnTo>
                    <a:pt x="0" y="116758"/>
                  </a:lnTo>
                  <a:lnTo>
                    <a:pt x="10849" y="71319"/>
                  </a:lnTo>
                  <a:lnTo>
                    <a:pt x="40433" y="34205"/>
                  </a:lnTo>
                  <a:lnTo>
                    <a:pt x="84305" y="9178"/>
                  </a:lnTo>
                  <a:lnTo>
                    <a:pt x="138017" y="0"/>
                  </a:lnTo>
                  <a:lnTo>
                    <a:pt x="2967132" y="0"/>
                  </a:lnTo>
                  <a:lnTo>
                    <a:pt x="3020844" y="9178"/>
                  </a:lnTo>
                  <a:lnTo>
                    <a:pt x="3064716" y="34205"/>
                  </a:lnTo>
                  <a:lnTo>
                    <a:pt x="3094300" y="71319"/>
                  </a:lnTo>
                  <a:lnTo>
                    <a:pt x="3101315" y="100700"/>
                  </a:lnTo>
                  <a:lnTo>
                    <a:pt x="3101315" y="3628488"/>
                  </a:lnTo>
                  <a:lnTo>
                    <a:pt x="3094300" y="3657869"/>
                  </a:lnTo>
                  <a:lnTo>
                    <a:pt x="3064716" y="3694983"/>
                  </a:lnTo>
                  <a:lnTo>
                    <a:pt x="3020844" y="3720010"/>
                  </a:lnTo>
                  <a:lnTo>
                    <a:pt x="2967132" y="37291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311015" y="3865244"/>
              <a:ext cx="3105150" cy="3729354"/>
            </a:xfrm>
            <a:custGeom>
              <a:avLst/>
              <a:gdLst/>
              <a:ahLst/>
              <a:cxnLst/>
              <a:rect l="l" t="t" r="r" b="b"/>
              <a:pathLst>
                <a:path w="3105150" h="3729354">
                  <a:moveTo>
                    <a:pt x="0" y="116758"/>
                  </a:moveTo>
                  <a:lnTo>
                    <a:pt x="10850" y="71319"/>
                  </a:lnTo>
                  <a:lnTo>
                    <a:pt x="40434" y="34205"/>
                  </a:lnTo>
                  <a:lnTo>
                    <a:pt x="84306" y="9178"/>
                  </a:lnTo>
                  <a:lnTo>
                    <a:pt x="138018" y="0"/>
                  </a:lnTo>
                  <a:lnTo>
                    <a:pt x="2967130" y="0"/>
                  </a:lnTo>
                  <a:lnTo>
                    <a:pt x="3020843" y="9177"/>
                  </a:lnTo>
                  <a:lnTo>
                    <a:pt x="3064715" y="34204"/>
                  </a:lnTo>
                  <a:lnTo>
                    <a:pt x="3094300" y="71319"/>
                  </a:lnTo>
                  <a:lnTo>
                    <a:pt x="3105149" y="116758"/>
                  </a:lnTo>
                  <a:lnTo>
                    <a:pt x="3105150" y="3612427"/>
                  </a:lnTo>
                  <a:lnTo>
                    <a:pt x="3094301" y="3657868"/>
                  </a:lnTo>
                  <a:lnTo>
                    <a:pt x="3064716" y="3694983"/>
                  </a:lnTo>
                  <a:lnTo>
                    <a:pt x="3020843" y="3720010"/>
                  </a:lnTo>
                  <a:lnTo>
                    <a:pt x="2967130" y="3729189"/>
                  </a:lnTo>
                  <a:lnTo>
                    <a:pt x="138017" y="3729189"/>
                  </a:lnTo>
                  <a:lnTo>
                    <a:pt x="84304" y="3720010"/>
                  </a:lnTo>
                  <a:lnTo>
                    <a:pt x="40432" y="3694982"/>
                  </a:lnTo>
                  <a:lnTo>
                    <a:pt x="10848" y="3657866"/>
                  </a:lnTo>
                  <a:lnTo>
                    <a:pt x="0" y="3612426"/>
                  </a:lnTo>
                  <a:lnTo>
                    <a:pt x="0" y="116758"/>
                  </a:lnTo>
                </a:path>
              </a:pathLst>
            </a:custGeom>
            <a:ln w="38099">
              <a:solidFill>
                <a:srgbClr val="ECE3D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7652384" y="3846194"/>
            <a:ext cx="3143250" cy="3767454"/>
            <a:chOff x="7652384" y="3846194"/>
            <a:chExt cx="3143250" cy="3767454"/>
          </a:xfrm>
        </p:grpSpPr>
        <p:sp>
          <p:nvSpPr>
            <p:cNvPr id="10" name="object 10"/>
            <p:cNvSpPr/>
            <p:nvPr/>
          </p:nvSpPr>
          <p:spPr>
            <a:xfrm>
              <a:off x="7671434" y="3865245"/>
              <a:ext cx="3101340" cy="3729354"/>
            </a:xfrm>
            <a:custGeom>
              <a:avLst/>
              <a:gdLst/>
              <a:ahLst/>
              <a:cxnLst/>
              <a:rect l="l" t="t" r="r" b="b"/>
              <a:pathLst>
                <a:path w="3101340" h="3729354">
                  <a:moveTo>
                    <a:pt x="2967132" y="3729189"/>
                  </a:moveTo>
                  <a:lnTo>
                    <a:pt x="138017" y="3729189"/>
                  </a:lnTo>
                  <a:lnTo>
                    <a:pt x="84305" y="3720010"/>
                  </a:lnTo>
                  <a:lnTo>
                    <a:pt x="40433" y="3694983"/>
                  </a:lnTo>
                  <a:lnTo>
                    <a:pt x="10849" y="3657869"/>
                  </a:lnTo>
                  <a:lnTo>
                    <a:pt x="0" y="3612430"/>
                  </a:lnTo>
                  <a:lnTo>
                    <a:pt x="0" y="116758"/>
                  </a:lnTo>
                  <a:lnTo>
                    <a:pt x="10849" y="71319"/>
                  </a:lnTo>
                  <a:lnTo>
                    <a:pt x="40433" y="34205"/>
                  </a:lnTo>
                  <a:lnTo>
                    <a:pt x="84305" y="9178"/>
                  </a:lnTo>
                  <a:lnTo>
                    <a:pt x="138017" y="0"/>
                  </a:lnTo>
                  <a:lnTo>
                    <a:pt x="2967132" y="0"/>
                  </a:lnTo>
                  <a:lnTo>
                    <a:pt x="3020844" y="9178"/>
                  </a:lnTo>
                  <a:lnTo>
                    <a:pt x="3064716" y="34205"/>
                  </a:lnTo>
                  <a:lnTo>
                    <a:pt x="3094300" y="71319"/>
                  </a:lnTo>
                  <a:lnTo>
                    <a:pt x="3101315" y="100700"/>
                  </a:lnTo>
                  <a:lnTo>
                    <a:pt x="3101315" y="3628488"/>
                  </a:lnTo>
                  <a:lnTo>
                    <a:pt x="3094300" y="3657869"/>
                  </a:lnTo>
                  <a:lnTo>
                    <a:pt x="3064716" y="3694983"/>
                  </a:lnTo>
                  <a:lnTo>
                    <a:pt x="3020844" y="3720010"/>
                  </a:lnTo>
                  <a:lnTo>
                    <a:pt x="2967132" y="37291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7671434" y="3865244"/>
              <a:ext cx="3105150" cy="3729354"/>
            </a:xfrm>
            <a:custGeom>
              <a:avLst/>
              <a:gdLst/>
              <a:ahLst/>
              <a:cxnLst/>
              <a:rect l="l" t="t" r="r" b="b"/>
              <a:pathLst>
                <a:path w="3105150" h="3729354">
                  <a:moveTo>
                    <a:pt x="0" y="116758"/>
                  </a:moveTo>
                  <a:lnTo>
                    <a:pt x="10850" y="71319"/>
                  </a:lnTo>
                  <a:lnTo>
                    <a:pt x="40434" y="34205"/>
                  </a:lnTo>
                  <a:lnTo>
                    <a:pt x="84306" y="9178"/>
                  </a:lnTo>
                  <a:lnTo>
                    <a:pt x="138018" y="0"/>
                  </a:lnTo>
                  <a:lnTo>
                    <a:pt x="2967130" y="0"/>
                  </a:lnTo>
                  <a:lnTo>
                    <a:pt x="3020843" y="9177"/>
                  </a:lnTo>
                  <a:lnTo>
                    <a:pt x="3064715" y="34204"/>
                  </a:lnTo>
                  <a:lnTo>
                    <a:pt x="3094300" y="71319"/>
                  </a:lnTo>
                  <a:lnTo>
                    <a:pt x="3105149" y="116758"/>
                  </a:lnTo>
                  <a:lnTo>
                    <a:pt x="3105150" y="3612427"/>
                  </a:lnTo>
                  <a:lnTo>
                    <a:pt x="3094301" y="3657868"/>
                  </a:lnTo>
                  <a:lnTo>
                    <a:pt x="3064716" y="3694983"/>
                  </a:lnTo>
                  <a:lnTo>
                    <a:pt x="3020843" y="3720010"/>
                  </a:lnTo>
                  <a:lnTo>
                    <a:pt x="2967130" y="3729189"/>
                  </a:lnTo>
                  <a:lnTo>
                    <a:pt x="138017" y="3729189"/>
                  </a:lnTo>
                  <a:lnTo>
                    <a:pt x="84304" y="3720010"/>
                  </a:lnTo>
                  <a:lnTo>
                    <a:pt x="40432" y="3694982"/>
                  </a:lnTo>
                  <a:lnTo>
                    <a:pt x="10848" y="3657866"/>
                  </a:lnTo>
                  <a:lnTo>
                    <a:pt x="0" y="3612426"/>
                  </a:lnTo>
                  <a:lnTo>
                    <a:pt x="0" y="116758"/>
                  </a:lnTo>
                </a:path>
              </a:pathLst>
            </a:custGeom>
            <a:ln w="38099">
              <a:solidFill>
                <a:srgbClr val="ECE3D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11012804" y="3846194"/>
            <a:ext cx="3143250" cy="3767454"/>
            <a:chOff x="11012804" y="3846194"/>
            <a:chExt cx="3143250" cy="3767454"/>
          </a:xfrm>
        </p:grpSpPr>
        <p:sp>
          <p:nvSpPr>
            <p:cNvPr id="13" name="object 13"/>
            <p:cNvSpPr/>
            <p:nvPr/>
          </p:nvSpPr>
          <p:spPr>
            <a:xfrm>
              <a:off x="11031853" y="3865245"/>
              <a:ext cx="3101340" cy="3729354"/>
            </a:xfrm>
            <a:custGeom>
              <a:avLst/>
              <a:gdLst/>
              <a:ahLst/>
              <a:cxnLst/>
              <a:rect l="l" t="t" r="r" b="b"/>
              <a:pathLst>
                <a:path w="3101340" h="3729354">
                  <a:moveTo>
                    <a:pt x="2967133" y="3729189"/>
                  </a:moveTo>
                  <a:lnTo>
                    <a:pt x="138017" y="3729189"/>
                  </a:lnTo>
                  <a:lnTo>
                    <a:pt x="84305" y="3720010"/>
                  </a:lnTo>
                  <a:lnTo>
                    <a:pt x="40433" y="3694983"/>
                  </a:lnTo>
                  <a:lnTo>
                    <a:pt x="10849" y="3657869"/>
                  </a:lnTo>
                  <a:lnTo>
                    <a:pt x="0" y="3612430"/>
                  </a:lnTo>
                  <a:lnTo>
                    <a:pt x="0" y="116758"/>
                  </a:lnTo>
                  <a:lnTo>
                    <a:pt x="10849" y="71319"/>
                  </a:lnTo>
                  <a:lnTo>
                    <a:pt x="40433" y="34205"/>
                  </a:lnTo>
                  <a:lnTo>
                    <a:pt x="84305" y="9178"/>
                  </a:lnTo>
                  <a:lnTo>
                    <a:pt x="138017" y="0"/>
                  </a:lnTo>
                  <a:lnTo>
                    <a:pt x="2967133" y="0"/>
                  </a:lnTo>
                  <a:lnTo>
                    <a:pt x="3020845" y="9178"/>
                  </a:lnTo>
                  <a:lnTo>
                    <a:pt x="3064717" y="34205"/>
                  </a:lnTo>
                  <a:lnTo>
                    <a:pt x="3094301" y="71319"/>
                  </a:lnTo>
                  <a:lnTo>
                    <a:pt x="3101315" y="100697"/>
                  </a:lnTo>
                  <a:lnTo>
                    <a:pt x="3101315" y="3628492"/>
                  </a:lnTo>
                  <a:lnTo>
                    <a:pt x="3094301" y="3657869"/>
                  </a:lnTo>
                  <a:lnTo>
                    <a:pt x="3064717" y="3694983"/>
                  </a:lnTo>
                  <a:lnTo>
                    <a:pt x="3020845" y="3720010"/>
                  </a:lnTo>
                  <a:lnTo>
                    <a:pt x="2967133" y="37291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1031854" y="3865244"/>
              <a:ext cx="3105150" cy="3729354"/>
            </a:xfrm>
            <a:custGeom>
              <a:avLst/>
              <a:gdLst/>
              <a:ahLst/>
              <a:cxnLst/>
              <a:rect l="l" t="t" r="r" b="b"/>
              <a:pathLst>
                <a:path w="3105150" h="3729354">
                  <a:moveTo>
                    <a:pt x="0" y="116758"/>
                  </a:moveTo>
                  <a:lnTo>
                    <a:pt x="10850" y="71319"/>
                  </a:lnTo>
                  <a:lnTo>
                    <a:pt x="40434" y="34205"/>
                  </a:lnTo>
                  <a:lnTo>
                    <a:pt x="84306" y="9178"/>
                  </a:lnTo>
                  <a:lnTo>
                    <a:pt x="138018" y="0"/>
                  </a:lnTo>
                  <a:lnTo>
                    <a:pt x="2967130" y="0"/>
                  </a:lnTo>
                  <a:lnTo>
                    <a:pt x="3020843" y="9177"/>
                  </a:lnTo>
                  <a:lnTo>
                    <a:pt x="3064715" y="34204"/>
                  </a:lnTo>
                  <a:lnTo>
                    <a:pt x="3094300" y="71319"/>
                  </a:lnTo>
                  <a:lnTo>
                    <a:pt x="3105150" y="116758"/>
                  </a:lnTo>
                  <a:lnTo>
                    <a:pt x="3105151" y="3612427"/>
                  </a:lnTo>
                  <a:lnTo>
                    <a:pt x="3094301" y="3657868"/>
                  </a:lnTo>
                  <a:lnTo>
                    <a:pt x="3064716" y="3694983"/>
                  </a:lnTo>
                  <a:lnTo>
                    <a:pt x="3020843" y="3720010"/>
                  </a:lnTo>
                  <a:lnTo>
                    <a:pt x="2967130" y="3729189"/>
                  </a:lnTo>
                  <a:lnTo>
                    <a:pt x="138017" y="3729189"/>
                  </a:lnTo>
                  <a:lnTo>
                    <a:pt x="84304" y="3720010"/>
                  </a:lnTo>
                  <a:lnTo>
                    <a:pt x="40432" y="3694982"/>
                  </a:lnTo>
                  <a:lnTo>
                    <a:pt x="10848" y="3657866"/>
                  </a:lnTo>
                  <a:lnTo>
                    <a:pt x="0" y="3612426"/>
                  </a:lnTo>
                  <a:lnTo>
                    <a:pt x="0" y="116758"/>
                  </a:lnTo>
                </a:path>
              </a:pathLst>
            </a:custGeom>
            <a:ln w="38099">
              <a:solidFill>
                <a:srgbClr val="ECE3D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/>
          <p:cNvGrpSpPr/>
          <p:nvPr/>
        </p:nvGrpSpPr>
        <p:grpSpPr>
          <a:xfrm>
            <a:off x="14373223" y="3846194"/>
            <a:ext cx="3143250" cy="3767454"/>
            <a:chOff x="14373223" y="3846194"/>
            <a:chExt cx="3143250" cy="3767454"/>
          </a:xfrm>
        </p:grpSpPr>
        <p:sp>
          <p:nvSpPr>
            <p:cNvPr id="16" name="object 16"/>
            <p:cNvSpPr/>
            <p:nvPr/>
          </p:nvSpPr>
          <p:spPr>
            <a:xfrm>
              <a:off x="14392273" y="3865245"/>
              <a:ext cx="3101340" cy="3729354"/>
            </a:xfrm>
            <a:custGeom>
              <a:avLst/>
              <a:gdLst/>
              <a:ahLst/>
              <a:cxnLst/>
              <a:rect l="l" t="t" r="r" b="b"/>
              <a:pathLst>
                <a:path w="3101340" h="3729354">
                  <a:moveTo>
                    <a:pt x="2967132" y="3729189"/>
                  </a:moveTo>
                  <a:lnTo>
                    <a:pt x="138017" y="3729189"/>
                  </a:lnTo>
                  <a:lnTo>
                    <a:pt x="84305" y="3720010"/>
                  </a:lnTo>
                  <a:lnTo>
                    <a:pt x="40433" y="3694983"/>
                  </a:lnTo>
                  <a:lnTo>
                    <a:pt x="10849" y="3657869"/>
                  </a:lnTo>
                  <a:lnTo>
                    <a:pt x="0" y="3612430"/>
                  </a:lnTo>
                  <a:lnTo>
                    <a:pt x="0" y="116758"/>
                  </a:lnTo>
                  <a:lnTo>
                    <a:pt x="10849" y="71319"/>
                  </a:lnTo>
                  <a:lnTo>
                    <a:pt x="40433" y="34205"/>
                  </a:lnTo>
                  <a:lnTo>
                    <a:pt x="84305" y="9178"/>
                  </a:lnTo>
                  <a:lnTo>
                    <a:pt x="138017" y="0"/>
                  </a:lnTo>
                  <a:lnTo>
                    <a:pt x="2967132" y="0"/>
                  </a:lnTo>
                  <a:lnTo>
                    <a:pt x="3020844" y="9178"/>
                  </a:lnTo>
                  <a:lnTo>
                    <a:pt x="3064716" y="34205"/>
                  </a:lnTo>
                  <a:lnTo>
                    <a:pt x="3094300" y="71319"/>
                  </a:lnTo>
                  <a:lnTo>
                    <a:pt x="3101315" y="100700"/>
                  </a:lnTo>
                  <a:lnTo>
                    <a:pt x="3101315" y="3628489"/>
                  </a:lnTo>
                  <a:lnTo>
                    <a:pt x="3094300" y="3657869"/>
                  </a:lnTo>
                  <a:lnTo>
                    <a:pt x="3064716" y="3694983"/>
                  </a:lnTo>
                  <a:lnTo>
                    <a:pt x="3020844" y="3720010"/>
                  </a:lnTo>
                  <a:lnTo>
                    <a:pt x="2967132" y="37291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4392273" y="3865244"/>
              <a:ext cx="3105150" cy="3729354"/>
            </a:xfrm>
            <a:custGeom>
              <a:avLst/>
              <a:gdLst/>
              <a:ahLst/>
              <a:cxnLst/>
              <a:rect l="l" t="t" r="r" b="b"/>
              <a:pathLst>
                <a:path w="3105150" h="3729354">
                  <a:moveTo>
                    <a:pt x="0" y="116758"/>
                  </a:moveTo>
                  <a:lnTo>
                    <a:pt x="10850" y="71319"/>
                  </a:lnTo>
                  <a:lnTo>
                    <a:pt x="40434" y="34205"/>
                  </a:lnTo>
                  <a:lnTo>
                    <a:pt x="84306" y="9178"/>
                  </a:lnTo>
                  <a:lnTo>
                    <a:pt x="138018" y="0"/>
                  </a:lnTo>
                  <a:lnTo>
                    <a:pt x="2967130" y="0"/>
                  </a:lnTo>
                  <a:lnTo>
                    <a:pt x="3020843" y="9177"/>
                  </a:lnTo>
                  <a:lnTo>
                    <a:pt x="3064715" y="34204"/>
                  </a:lnTo>
                  <a:lnTo>
                    <a:pt x="3094300" y="71319"/>
                  </a:lnTo>
                  <a:lnTo>
                    <a:pt x="3105149" y="116758"/>
                  </a:lnTo>
                  <a:lnTo>
                    <a:pt x="3105150" y="3612427"/>
                  </a:lnTo>
                  <a:lnTo>
                    <a:pt x="3094301" y="3657868"/>
                  </a:lnTo>
                  <a:lnTo>
                    <a:pt x="3064716" y="3694983"/>
                  </a:lnTo>
                  <a:lnTo>
                    <a:pt x="3020843" y="3720010"/>
                  </a:lnTo>
                  <a:lnTo>
                    <a:pt x="2967130" y="3729189"/>
                  </a:lnTo>
                  <a:lnTo>
                    <a:pt x="138017" y="3729189"/>
                  </a:lnTo>
                  <a:lnTo>
                    <a:pt x="84304" y="3720010"/>
                  </a:lnTo>
                  <a:lnTo>
                    <a:pt x="40432" y="3694981"/>
                  </a:lnTo>
                  <a:lnTo>
                    <a:pt x="10848" y="3657866"/>
                  </a:lnTo>
                  <a:lnTo>
                    <a:pt x="0" y="3612426"/>
                  </a:lnTo>
                  <a:lnTo>
                    <a:pt x="0" y="116758"/>
                  </a:lnTo>
                </a:path>
              </a:pathLst>
            </a:custGeom>
            <a:ln w="38099">
              <a:solidFill>
                <a:srgbClr val="ECE3D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/>
          <p:nvPr/>
        </p:nvSpPr>
        <p:spPr>
          <a:xfrm>
            <a:off x="1028700" y="698618"/>
            <a:ext cx="179705" cy="1083310"/>
          </a:xfrm>
          <a:custGeom>
            <a:avLst/>
            <a:gdLst/>
            <a:ahLst/>
            <a:cxnLst/>
            <a:rect l="l" t="t" r="r" b="b"/>
            <a:pathLst>
              <a:path w="179705" h="1083310">
                <a:moveTo>
                  <a:pt x="179550" y="1082912"/>
                </a:moveTo>
                <a:lnTo>
                  <a:pt x="0" y="1082912"/>
                </a:lnTo>
                <a:lnTo>
                  <a:pt x="0" y="0"/>
                </a:lnTo>
                <a:lnTo>
                  <a:pt x="179550" y="0"/>
                </a:lnTo>
                <a:lnTo>
                  <a:pt x="179550" y="1082912"/>
                </a:lnTo>
                <a:close/>
              </a:path>
            </a:pathLst>
          </a:custGeom>
          <a:solidFill>
            <a:srgbClr val="F1660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9" name="object 19"/>
          <p:cNvGrpSpPr/>
          <p:nvPr/>
        </p:nvGrpSpPr>
        <p:grpSpPr>
          <a:xfrm>
            <a:off x="1380563" y="698618"/>
            <a:ext cx="3108325" cy="945515"/>
            <a:chOff x="1380563" y="698618"/>
            <a:chExt cx="3108325" cy="945515"/>
          </a:xfrm>
        </p:grpSpPr>
        <p:sp>
          <p:nvSpPr>
            <p:cNvPr id="20" name="object 20"/>
            <p:cNvSpPr/>
            <p:nvPr/>
          </p:nvSpPr>
          <p:spPr>
            <a:xfrm>
              <a:off x="1380563" y="698618"/>
              <a:ext cx="3108325" cy="945515"/>
            </a:xfrm>
            <a:custGeom>
              <a:avLst/>
              <a:gdLst/>
              <a:ahLst/>
              <a:cxnLst/>
              <a:rect l="l" t="t" r="r" b="b"/>
              <a:pathLst>
                <a:path w="3108325" h="945514">
                  <a:moveTo>
                    <a:pt x="3107860" y="944907"/>
                  </a:moveTo>
                  <a:lnTo>
                    <a:pt x="0" y="944907"/>
                  </a:lnTo>
                  <a:lnTo>
                    <a:pt x="0" y="0"/>
                  </a:lnTo>
                  <a:lnTo>
                    <a:pt x="3107860" y="0"/>
                  </a:lnTo>
                  <a:lnTo>
                    <a:pt x="3107860" y="9449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10357" y="838028"/>
              <a:ext cx="2647949" cy="35242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0564" y="1279641"/>
              <a:ext cx="1428749" cy="228599"/>
            </a:xfrm>
            <a:prstGeom prst="rect">
              <a:avLst/>
            </a:prstGeom>
          </p:spPr>
        </p:pic>
      </p:grpSp>
      <p:pic>
        <p:nvPicPr>
          <p:cNvPr id="23" name="object 2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84659" y="9722024"/>
            <a:ext cx="225674" cy="225673"/>
          </a:xfrm>
          <a:prstGeom prst="rect">
            <a:avLst/>
          </a:prstGeom>
        </p:spPr>
      </p:pic>
      <p:grpSp>
        <p:nvGrpSpPr>
          <p:cNvPr id="24" name="object 24"/>
          <p:cNvGrpSpPr/>
          <p:nvPr/>
        </p:nvGrpSpPr>
        <p:grpSpPr>
          <a:xfrm>
            <a:off x="2305659" y="5104273"/>
            <a:ext cx="394970" cy="415925"/>
            <a:chOff x="2305659" y="5104273"/>
            <a:chExt cx="394970" cy="415925"/>
          </a:xfrm>
        </p:grpSpPr>
        <p:sp>
          <p:nvSpPr>
            <p:cNvPr id="25" name="object 25"/>
            <p:cNvSpPr/>
            <p:nvPr/>
          </p:nvSpPr>
          <p:spPr>
            <a:xfrm>
              <a:off x="2414257" y="5104273"/>
              <a:ext cx="200025" cy="262890"/>
            </a:xfrm>
            <a:custGeom>
              <a:avLst/>
              <a:gdLst/>
              <a:ahLst/>
              <a:cxnLst/>
              <a:rect l="l" t="t" r="r" b="b"/>
              <a:pathLst>
                <a:path w="200025" h="262889">
                  <a:moveTo>
                    <a:pt x="126844" y="262591"/>
                  </a:moveTo>
                  <a:lnTo>
                    <a:pt x="123406" y="262591"/>
                  </a:lnTo>
                  <a:lnTo>
                    <a:pt x="122260" y="262327"/>
                  </a:lnTo>
                  <a:lnTo>
                    <a:pt x="1145" y="192426"/>
                  </a:lnTo>
                  <a:lnTo>
                    <a:pt x="0" y="188547"/>
                  </a:lnTo>
                  <a:lnTo>
                    <a:pt x="1674" y="185286"/>
                  </a:lnTo>
                  <a:lnTo>
                    <a:pt x="32793" y="133217"/>
                  </a:lnTo>
                  <a:lnTo>
                    <a:pt x="64920" y="91816"/>
                  </a:lnTo>
                  <a:lnTo>
                    <a:pt x="95857" y="60151"/>
                  </a:lnTo>
                  <a:lnTo>
                    <a:pt x="148800" y="20078"/>
                  </a:lnTo>
                  <a:lnTo>
                    <a:pt x="182695" y="2652"/>
                  </a:lnTo>
                  <a:lnTo>
                    <a:pt x="189958" y="0"/>
                  </a:lnTo>
                  <a:lnTo>
                    <a:pt x="191897" y="264"/>
                  </a:lnTo>
                  <a:lnTo>
                    <a:pt x="198291" y="16483"/>
                  </a:lnTo>
                  <a:lnTo>
                    <a:pt x="184933" y="16483"/>
                  </a:lnTo>
                  <a:lnTo>
                    <a:pt x="175563" y="20840"/>
                  </a:lnTo>
                  <a:lnTo>
                    <a:pt x="131075" y="48569"/>
                  </a:lnTo>
                  <a:lnTo>
                    <a:pt x="76324" y="99397"/>
                  </a:lnTo>
                  <a:lnTo>
                    <a:pt x="46176" y="137707"/>
                  </a:lnTo>
                  <a:lnTo>
                    <a:pt x="16748" y="185727"/>
                  </a:lnTo>
                  <a:lnTo>
                    <a:pt x="122348" y="246725"/>
                  </a:lnTo>
                  <a:lnTo>
                    <a:pt x="137356" y="246725"/>
                  </a:lnTo>
                  <a:lnTo>
                    <a:pt x="130194" y="259594"/>
                  </a:lnTo>
                  <a:lnTo>
                    <a:pt x="129048" y="261534"/>
                  </a:lnTo>
                  <a:lnTo>
                    <a:pt x="126844" y="262591"/>
                  </a:lnTo>
                  <a:close/>
                </a:path>
                <a:path w="200025" h="262889">
                  <a:moveTo>
                    <a:pt x="137356" y="246725"/>
                  </a:moveTo>
                  <a:lnTo>
                    <a:pt x="122348" y="246725"/>
                  </a:lnTo>
                  <a:lnTo>
                    <a:pt x="149345" y="197004"/>
                  </a:lnTo>
                  <a:lnTo>
                    <a:pt x="167491" y="151547"/>
                  </a:lnTo>
                  <a:lnTo>
                    <a:pt x="178514" y="111611"/>
                  </a:lnTo>
                  <a:lnTo>
                    <a:pt x="185888" y="57922"/>
                  </a:lnTo>
                  <a:lnTo>
                    <a:pt x="186154" y="36626"/>
                  </a:lnTo>
                  <a:lnTo>
                    <a:pt x="185841" y="27469"/>
                  </a:lnTo>
                  <a:lnTo>
                    <a:pt x="185786" y="26334"/>
                  </a:lnTo>
                  <a:lnTo>
                    <a:pt x="184933" y="16483"/>
                  </a:lnTo>
                  <a:lnTo>
                    <a:pt x="198291" y="16483"/>
                  </a:lnTo>
                  <a:lnTo>
                    <a:pt x="199257" y="26334"/>
                  </a:lnTo>
                  <a:lnTo>
                    <a:pt x="199643" y="48569"/>
                  </a:lnTo>
                  <a:lnTo>
                    <a:pt x="199659" y="49511"/>
                  </a:lnTo>
                  <a:lnTo>
                    <a:pt x="197571" y="78451"/>
                  </a:lnTo>
                  <a:lnTo>
                    <a:pt x="197450" y="80126"/>
                  </a:lnTo>
                  <a:lnTo>
                    <a:pt x="191416" y="115456"/>
                  </a:lnTo>
                  <a:lnTo>
                    <a:pt x="179457" y="158092"/>
                  </a:lnTo>
                  <a:lnTo>
                    <a:pt x="159680" y="206612"/>
                  </a:lnTo>
                  <a:lnTo>
                    <a:pt x="137356" y="246725"/>
                  </a:lnTo>
                  <a:close/>
                </a:path>
              </a:pathLst>
            </a:custGeom>
            <a:solidFill>
              <a:srgbClr val="F1660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91779" y="5134596"/>
              <a:ext cx="221779" cy="248311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305659" y="5125164"/>
              <a:ext cx="394970" cy="394970"/>
            </a:xfrm>
            <a:custGeom>
              <a:avLst/>
              <a:gdLst/>
              <a:ahLst/>
              <a:cxnLst/>
              <a:rect l="l" t="t" r="r" b="b"/>
              <a:pathLst>
                <a:path w="394969" h="394970">
                  <a:moveTo>
                    <a:pt x="197450" y="394901"/>
                  </a:moveTo>
                  <a:lnTo>
                    <a:pt x="158639" y="391109"/>
                  </a:lnTo>
                  <a:lnTo>
                    <a:pt x="121853" y="379971"/>
                  </a:lnTo>
                  <a:lnTo>
                    <a:pt x="87958" y="361842"/>
                  </a:lnTo>
                  <a:lnTo>
                    <a:pt x="57824" y="337076"/>
                  </a:lnTo>
                  <a:lnTo>
                    <a:pt x="33059" y="306942"/>
                  </a:lnTo>
                  <a:lnTo>
                    <a:pt x="14930" y="273048"/>
                  </a:lnTo>
                  <a:lnTo>
                    <a:pt x="3791" y="236261"/>
                  </a:lnTo>
                  <a:lnTo>
                    <a:pt x="0" y="197450"/>
                  </a:lnTo>
                  <a:lnTo>
                    <a:pt x="3791" y="158639"/>
                  </a:lnTo>
                  <a:lnTo>
                    <a:pt x="14930" y="121853"/>
                  </a:lnTo>
                  <a:lnTo>
                    <a:pt x="33059" y="87958"/>
                  </a:lnTo>
                  <a:lnTo>
                    <a:pt x="57824" y="57824"/>
                  </a:lnTo>
                  <a:lnTo>
                    <a:pt x="87958" y="33059"/>
                  </a:lnTo>
                  <a:lnTo>
                    <a:pt x="121853" y="14930"/>
                  </a:lnTo>
                  <a:lnTo>
                    <a:pt x="158639" y="3791"/>
                  </a:lnTo>
                  <a:lnTo>
                    <a:pt x="197450" y="0"/>
                  </a:lnTo>
                  <a:lnTo>
                    <a:pt x="210649" y="443"/>
                  </a:lnTo>
                  <a:lnTo>
                    <a:pt x="249634" y="6963"/>
                  </a:lnTo>
                  <a:lnTo>
                    <a:pt x="255363" y="11635"/>
                  </a:lnTo>
                  <a:lnTo>
                    <a:pt x="253424" y="18863"/>
                  </a:lnTo>
                  <a:lnTo>
                    <a:pt x="249722" y="20979"/>
                  </a:lnTo>
                  <a:lnTo>
                    <a:pt x="246108" y="20009"/>
                  </a:lnTo>
                  <a:lnTo>
                    <a:pt x="234168" y="17168"/>
                  </a:lnTo>
                  <a:lnTo>
                    <a:pt x="222055" y="15128"/>
                  </a:lnTo>
                  <a:lnTo>
                    <a:pt x="209825" y="13898"/>
                  </a:lnTo>
                  <a:lnTo>
                    <a:pt x="197538" y="13486"/>
                  </a:lnTo>
                  <a:lnTo>
                    <a:pt x="148720" y="20067"/>
                  </a:lnTo>
                  <a:lnTo>
                    <a:pt x="104814" y="38631"/>
                  </a:lnTo>
                  <a:lnTo>
                    <a:pt x="67587" y="67410"/>
                  </a:lnTo>
                  <a:lnTo>
                    <a:pt x="38807" y="104637"/>
                  </a:lnTo>
                  <a:lnTo>
                    <a:pt x="20243" y="148544"/>
                  </a:lnTo>
                  <a:lnTo>
                    <a:pt x="13662" y="197362"/>
                  </a:lnTo>
                  <a:lnTo>
                    <a:pt x="20243" y="246180"/>
                  </a:lnTo>
                  <a:lnTo>
                    <a:pt x="38807" y="290087"/>
                  </a:lnTo>
                  <a:lnTo>
                    <a:pt x="67587" y="327314"/>
                  </a:lnTo>
                  <a:lnTo>
                    <a:pt x="104814" y="356093"/>
                  </a:lnTo>
                  <a:lnTo>
                    <a:pt x="148720" y="374657"/>
                  </a:lnTo>
                  <a:lnTo>
                    <a:pt x="197538" y="381238"/>
                  </a:lnTo>
                  <a:lnTo>
                    <a:pt x="246357" y="374657"/>
                  </a:lnTo>
                  <a:lnTo>
                    <a:pt x="290263" y="356093"/>
                  </a:lnTo>
                  <a:lnTo>
                    <a:pt x="327490" y="327314"/>
                  </a:lnTo>
                  <a:lnTo>
                    <a:pt x="356270" y="290087"/>
                  </a:lnTo>
                  <a:lnTo>
                    <a:pt x="374834" y="246180"/>
                  </a:lnTo>
                  <a:lnTo>
                    <a:pt x="381414" y="197362"/>
                  </a:lnTo>
                  <a:lnTo>
                    <a:pt x="375704" y="151677"/>
                  </a:lnTo>
                  <a:lnTo>
                    <a:pt x="359201" y="109545"/>
                  </a:lnTo>
                  <a:lnTo>
                    <a:pt x="332848" y="72735"/>
                  </a:lnTo>
                  <a:lnTo>
                    <a:pt x="297586" y="43016"/>
                  </a:lnTo>
                  <a:lnTo>
                    <a:pt x="294413" y="40988"/>
                  </a:lnTo>
                  <a:lnTo>
                    <a:pt x="293531" y="36757"/>
                  </a:lnTo>
                  <a:lnTo>
                    <a:pt x="297586" y="30587"/>
                  </a:lnTo>
                  <a:lnTo>
                    <a:pt x="301817" y="29617"/>
                  </a:lnTo>
                  <a:lnTo>
                    <a:pt x="304902" y="31645"/>
                  </a:lnTo>
                  <a:lnTo>
                    <a:pt x="342727" y="63524"/>
                  </a:lnTo>
                  <a:lnTo>
                    <a:pt x="371024" y="103022"/>
                  </a:lnTo>
                  <a:lnTo>
                    <a:pt x="388760" y="148239"/>
                  </a:lnTo>
                  <a:lnTo>
                    <a:pt x="394901" y="197274"/>
                  </a:lnTo>
                  <a:lnTo>
                    <a:pt x="391109" y="236085"/>
                  </a:lnTo>
                  <a:lnTo>
                    <a:pt x="379971" y="272872"/>
                  </a:lnTo>
                  <a:lnTo>
                    <a:pt x="361842" y="306766"/>
                  </a:lnTo>
                  <a:lnTo>
                    <a:pt x="337076" y="336900"/>
                  </a:lnTo>
                  <a:lnTo>
                    <a:pt x="306942" y="361767"/>
                  </a:lnTo>
                  <a:lnTo>
                    <a:pt x="273048" y="379949"/>
                  </a:lnTo>
                  <a:lnTo>
                    <a:pt x="236261" y="391107"/>
                  </a:lnTo>
                  <a:lnTo>
                    <a:pt x="197450" y="394901"/>
                  </a:lnTo>
                  <a:close/>
                </a:path>
              </a:pathLst>
            </a:custGeom>
            <a:solidFill>
              <a:srgbClr val="F1660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/>
          <p:nvPr/>
        </p:nvSpPr>
        <p:spPr>
          <a:xfrm>
            <a:off x="5655793" y="5104645"/>
            <a:ext cx="415925" cy="401955"/>
          </a:xfrm>
          <a:custGeom>
            <a:avLst/>
            <a:gdLst/>
            <a:ahLst/>
            <a:cxnLst/>
            <a:rect l="l" t="t" r="r" b="b"/>
            <a:pathLst>
              <a:path w="415925" h="401954">
                <a:moveTo>
                  <a:pt x="99578" y="46654"/>
                </a:moveTo>
                <a:lnTo>
                  <a:pt x="95673" y="45900"/>
                </a:lnTo>
                <a:lnTo>
                  <a:pt x="91799" y="40166"/>
                </a:lnTo>
                <a:lnTo>
                  <a:pt x="92555" y="36262"/>
                </a:lnTo>
                <a:lnTo>
                  <a:pt x="148958" y="8739"/>
                </a:lnTo>
                <a:lnTo>
                  <a:pt x="207768" y="0"/>
                </a:lnTo>
                <a:lnTo>
                  <a:pt x="253849" y="5300"/>
                </a:lnTo>
                <a:lnTo>
                  <a:pt x="274131" y="12544"/>
                </a:lnTo>
                <a:lnTo>
                  <a:pt x="207769" y="12544"/>
                </a:lnTo>
                <a:lnTo>
                  <a:pt x="179765" y="14611"/>
                </a:lnTo>
                <a:lnTo>
                  <a:pt x="152631" y="20738"/>
                </a:lnTo>
                <a:lnTo>
                  <a:pt x="126735" y="30810"/>
                </a:lnTo>
                <a:lnTo>
                  <a:pt x="102447" y="44716"/>
                </a:lnTo>
                <a:lnTo>
                  <a:pt x="99578" y="46654"/>
                </a:lnTo>
                <a:close/>
              </a:path>
              <a:path w="415925" h="401954">
                <a:moveTo>
                  <a:pt x="384884" y="295455"/>
                </a:moveTo>
                <a:lnTo>
                  <a:pt x="370690" y="295455"/>
                </a:lnTo>
                <a:lnTo>
                  <a:pt x="381695" y="273303"/>
                </a:lnTo>
                <a:lnTo>
                  <a:pt x="389654" y="249985"/>
                </a:lnTo>
                <a:lnTo>
                  <a:pt x="394381" y="226287"/>
                </a:lnTo>
                <a:lnTo>
                  <a:pt x="394486" y="225758"/>
                </a:lnTo>
                <a:lnTo>
                  <a:pt x="396114" y="200880"/>
                </a:lnTo>
                <a:lnTo>
                  <a:pt x="389497" y="151785"/>
                </a:lnTo>
                <a:lnTo>
                  <a:pt x="370360" y="105894"/>
                </a:lnTo>
                <a:lnTo>
                  <a:pt x="340884" y="67766"/>
                </a:lnTo>
                <a:lnTo>
                  <a:pt x="302753" y="38292"/>
                </a:lnTo>
                <a:lnTo>
                  <a:pt x="257779" y="19282"/>
                </a:lnTo>
                <a:lnTo>
                  <a:pt x="207769" y="12544"/>
                </a:lnTo>
                <a:lnTo>
                  <a:pt x="274131" y="12544"/>
                </a:lnTo>
                <a:lnTo>
                  <a:pt x="333438" y="44108"/>
                </a:lnTo>
                <a:lnTo>
                  <a:pt x="364542" y="75209"/>
                </a:lnTo>
                <a:lnTo>
                  <a:pt x="388249" y="112507"/>
                </a:lnTo>
                <a:lnTo>
                  <a:pt x="403355" y="154798"/>
                </a:lnTo>
                <a:lnTo>
                  <a:pt x="408659" y="200880"/>
                </a:lnTo>
                <a:lnTo>
                  <a:pt x="407138" y="225151"/>
                </a:lnTo>
                <a:lnTo>
                  <a:pt x="407067" y="226287"/>
                </a:lnTo>
                <a:lnTo>
                  <a:pt x="402373" y="250899"/>
                </a:lnTo>
                <a:lnTo>
                  <a:pt x="402340" y="251071"/>
                </a:lnTo>
                <a:lnTo>
                  <a:pt x="394551" y="274992"/>
                </a:lnTo>
                <a:lnTo>
                  <a:pt x="384884" y="295455"/>
                </a:lnTo>
                <a:close/>
              </a:path>
              <a:path w="415925" h="401954">
                <a:moveTo>
                  <a:pt x="208423" y="363962"/>
                </a:moveTo>
                <a:lnTo>
                  <a:pt x="207119" y="363962"/>
                </a:lnTo>
                <a:lnTo>
                  <a:pt x="205675" y="363476"/>
                </a:lnTo>
                <a:lnTo>
                  <a:pt x="167552" y="346712"/>
                </a:lnTo>
                <a:lnTo>
                  <a:pt x="136816" y="323427"/>
                </a:lnTo>
                <a:lnTo>
                  <a:pt x="97224" y="256759"/>
                </a:lnTo>
                <a:lnTo>
                  <a:pt x="88726" y="219436"/>
                </a:lnTo>
                <a:lnTo>
                  <a:pt x="85010" y="181446"/>
                </a:lnTo>
                <a:lnTo>
                  <a:pt x="84594" y="163176"/>
                </a:lnTo>
                <a:lnTo>
                  <a:pt x="84596" y="121674"/>
                </a:lnTo>
                <a:lnTo>
                  <a:pt x="84772" y="113221"/>
                </a:lnTo>
                <a:lnTo>
                  <a:pt x="84873" y="108390"/>
                </a:lnTo>
                <a:lnTo>
                  <a:pt x="84965" y="103963"/>
                </a:lnTo>
                <a:lnTo>
                  <a:pt x="85079" y="99781"/>
                </a:lnTo>
                <a:lnTo>
                  <a:pt x="87372" y="97240"/>
                </a:lnTo>
                <a:lnTo>
                  <a:pt x="90363" y="96796"/>
                </a:lnTo>
                <a:lnTo>
                  <a:pt x="120459" y="90857"/>
                </a:lnTo>
                <a:lnTo>
                  <a:pt x="150204" y="82095"/>
                </a:lnTo>
                <a:lnTo>
                  <a:pt x="178597" y="70723"/>
                </a:lnTo>
                <a:lnTo>
                  <a:pt x="204508" y="56994"/>
                </a:lnTo>
                <a:lnTo>
                  <a:pt x="206507" y="55774"/>
                </a:lnTo>
                <a:lnTo>
                  <a:pt x="209021" y="55774"/>
                </a:lnTo>
                <a:lnTo>
                  <a:pt x="211030" y="56994"/>
                </a:lnTo>
                <a:lnTo>
                  <a:pt x="234960" y="69666"/>
                </a:lnTo>
                <a:lnTo>
                  <a:pt x="207770" y="69666"/>
                </a:lnTo>
                <a:lnTo>
                  <a:pt x="182451" y="82753"/>
                </a:lnTo>
                <a:lnTo>
                  <a:pt x="155099" y="93678"/>
                </a:lnTo>
                <a:lnTo>
                  <a:pt x="126490" y="102278"/>
                </a:lnTo>
                <a:lnTo>
                  <a:pt x="97407" y="108390"/>
                </a:lnTo>
                <a:lnTo>
                  <a:pt x="97292" y="113221"/>
                </a:lnTo>
                <a:lnTo>
                  <a:pt x="97136" y="121674"/>
                </a:lnTo>
                <a:lnTo>
                  <a:pt x="97129" y="163176"/>
                </a:lnTo>
                <a:lnTo>
                  <a:pt x="97317" y="171510"/>
                </a:lnTo>
                <a:lnTo>
                  <a:pt x="97419" y="176011"/>
                </a:lnTo>
                <a:lnTo>
                  <a:pt x="97541" y="181446"/>
                </a:lnTo>
                <a:lnTo>
                  <a:pt x="109182" y="252979"/>
                </a:lnTo>
                <a:lnTo>
                  <a:pt x="145169" y="313905"/>
                </a:lnTo>
                <a:lnTo>
                  <a:pt x="207777" y="350981"/>
                </a:lnTo>
                <a:lnTo>
                  <a:pt x="238285" y="350981"/>
                </a:lnTo>
                <a:lnTo>
                  <a:pt x="209873" y="363476"/>
                </a:lnTo>
                <a:lnTo>
                  <a:pt x="208423" y="363962"/>
                </a:lnTo>
                <a:close/>
              </a:path>
              <a:path w="415925" h="401954">
                <a:moveTo>
                  <a:pt x="238285" y="350981"/>
                </a:moveTo>
                <a:lnTo>
                  <a:pt x="207777" y="350981"/>
                </a:lnTo>
                <a:lnTo>
                  <a:pt x="242488" y="335341"/>
                </a:lnTo>
                <a:lnTo>
                  <a:pt x="270375" y="313905"/>
                </a:lnTo>
                <a:lnTo>
                  <a:pt x="306262" y="253213"/>
                </a:lnTo>
                <a:lnTo>
                  <a:pt x="317990" y="181807"/>
                </a:lnTo>
                <a:lnTo>
                  <a:pt x="318408" y="163176"/>
                </a:lnTo>
                <a:lnTo>
                  <a:pt x="318396" y="121674"/>
                </a:lnTo>
                <a:lnTo>
                  <a:pt x="318239" y="113221"/>
                </a:lnTo>
                <a:lnTo>
                  <a:pt x="318150" y="108390"/>
                </a:lnTo>
                <a:lnTo>
                  <a:pt x="289057" y="102278"/>
                </a:lnTo>
                <a:lnTo>
                  <a:pt x="260442" y="93678"/>
                </a:lnTo>
                <a:lnTo>
                  <a:pt x="233085" y="82753"/>
                </a:lnTo>
                <a:lnTo>
                  <a:pt x="207770" y="69666"/>
                </a:lnTo>
                <a:lnTo>
                  <a:pt x="234960" y="69666"/>
                </a:lnTo>
                <a:lnTo>
                  <a:pt x="236956" y="70723"/>
                </a:lnTo>
                <a:lnTo>
                  <a:pt x="265320" y="82095"/>
                </a:lnTo>
                <a:lnTo>
                  <a:pt x="295071" y="90857"/>
                </a:lnTo>
                <a:lnTo>
                  <a:pt x="325198" y="96796"/>
                </a:lnTo>
                <a:lnTo>
                  <a:pt x="328211" y="97240"/>
                </a:lnTo>
                <a:lnTo>
                  <a:pt x="330461" y="99781"/>
                </a:lnTo>
                <a:lnTo>
                  <a:pt x="330935" y="121674"/>
                </a:lnTo>
                <a:lnTo>
                  <a:pt x="330940" y="163176"/>
                </a:lnTo>
                <a:lnTo>
                  <a:pt x="330789" y="171510"/>
                </a:lnTo>
                <a:lnTo>
                  <a:pt x="330687" y="177141"/>
                </a:lnTo>
                <a:lnTo>
                  <a:pt x="326923" y="218333"/>
                </a:lnTo>
                <a:lnTo>
                  <a:pt x="318322" y="256759"/>
                </a:lnTo>
                <a:lnTo>
                  <a:pt x="302109" y="293505"/>
                </a:lnTo>
                <a:lnTo>
                  <a:pt x="247993" y="346712"/>
                </a:lnTo>
                <a:lnTo>
                  <a:pt x="238285" y="350981"/>
                </a:lnTo>
                <a:close/>
              </a:path>
              <a:path w="415925" h="401954">
                <a:moveTo>
                  <a:pt x="5934" y="113221"/>
                </a:moveTo>
                <a:lnTo>
                  <a:pt x="2336" y="111521"/>
                </a:lnTo>
                <a:lnTo>
                  <a:pt x="0" y="104999"/>
                </a:lnTo>
                <a:lnTo>
                  <a:pt x="1701" y="101412"/>
                </a:lnTo>
                <a:lnTo>
                  <a:pt x="44212" y="86177"/>
                </a:lnTo>
                <a:lnTo>
                  <a:pt x="47507" y="84953"/>
                </a:lnTo>
                <a:lnTo>
                  <a:pt x="51178" y="86670"/>
                </a:lnTo>
                <a:lnTo>
                  <a:pt x="52323" y="90008"/>
                </a:lnTo>
                <a:lnTo>
                  <a:pt x="57327" y="103963"/>
                </a:lnTo>
                <a:lnTo>
                  <a:pt x="31762" y="103963"/>
                </a:lnTo>
                <a:lnTo>
                  <a:pt x="5934" y="113221"/>
                </a:lnTo>
                <a:close/>
              </a:path>
              <a:path w="415925" h="401954">
                <a:moveTo>
                  <a:pt x="207777" y="401770"/>
                </a:moveTo>
                <a:lnTo>
                  <a:pt x="161697" y="396469"/>
                </a:lnTo>
                <a:lnTo>
                  <a:pt x="119405" y="381364"/>
                </a:lnTo>
                <a:lnTo>
                  <a:pt x="82104" y="357659"/>
                </a:lnTo>
                <a:lnTo>
                  <a:pt x="50998" y="326556"/>
                </a:lnTo>
                <a:lnTo>
                  <a:pt x="27289" y="289258"/>
                </a:lnTo>
                <a:lnTo>
                  <a:pt x="12181" y="246968"/>
                </a:lnTo>
                <a:lnTo>
                  <a:pt x="6877" y="200880"/>
                </a:lnTo>
                <a:lnTo>
                  <a:pt x="8072" y="181807"/>
                </a:lnTo>
                <a:lnTo>
                  <a:pt x="8159" y="180409"/>
                </a:lnTo>
                <a:lnTo>
                  <a:pt x="8241" y="179105"/>
                </a:lnTo>
                <a:lnTo>
                  <a:pt x="8364" y="177141"/>
                </a:lnTo>
                <a:lnTo>
                  <a:pt x="8468" y="175481"/>
                </a:lnTo>
                <a:lnTo>
                  <a:pt x="13162" y="150869"/>
                </a:lnTo>
                <a:lnTo>
                  <a:pt x="13195" y="150697"/>
                </a:lnTo>
                <a:lnTo>
                  <a:pt x="20984" y="126777"/>
                </a:lnTo>
                <a:lnTo>
                  <a:pt x="31762" y="103963"/>
                </a:lnTo>
                <a:lnTo>
                  <a:pt x="57327" y="103963"/>
                </a:lnTo>
                <a:lnTo>
                  <a:pt x="58170" y="106314"/>
                </a:lnTo>
                <a:lnTo>
                  <a:pt x="44851" y="106314"/>
                </a:lnTo>
                <a:lnTo>
                  <a:pt x="33842" y="128467"/>
                </a:lnTo>
                <a:lnTo>
                  <a:pt x="25882" y="151785"/>
                </a:lnTo>
                <a:lnTo>
                  <a:pt x="21155" y="175481"/>
                </a:lnTo>
                <a:lnTo>
                  <a:pt x="21049" y="176011"/>
                </a:lnTo>
                <a:lnTo>
                  <a:pt x="19497" y="199721"/>
                </a:lnTo>
                <a:lnTo>
                  <a:pt x="19422" y="200880"/>
                </a:lnTo>
                <a:lnTo>
                  <a:pt x="25990" y="249620"/>
                </a:lnTo>
                <a:lnTo>
                  <a:pt x="45176" y="295873"/>
                </a:lnTo>
                <a:lnTo>
                  <a:pt x="74653" y="334001"/>
                </a:lnTo>
                <a:lnTo>
                  <a:pt x="112786" y="363476"/>
                </a:lnTo>
                <a:lnTo>
                  <a:pt x="157763" y="382487"/>
                </a:lnTo>
                <a:lnTo>
                  <a:pt x="207777" y="389225"/>
                </a:lnTo>
                <a:lnTo>
                  <a:pt x="276358" y="389225"/>
                </a:lnTo>
                <a:lnTo>
                  <a:pt x="266584" y="393027"/>
                </a:lnTo>
                <a:lnTo>
                  <a:pt x="237644" y="399564"/>
                </a:lnTo>
                <a:lnTo>
                  <a:pt x="207777" y="401770"/>
                </a:lnTo>
                <a:close/>
              </a:path>
              <a:path w="415925" h="401954">
                <a:moveTo>
                  <a:pt x="59352" y="138457"/>
                </a:moveTo>
                <a:lnTo>
                  <a:pt x="55764" y="136761"/>
                </a:lnTo>
                <a:lnTo>
                  <a:pt x="44851" y="106314"/>
                </a:lnTo>
                <a:lnTo>
                  <a:pt x="58170" y="106314"/>
                </a:lnTo>
                <a:lnTo>
                  <a:pt x="67569" y="132528"/>
                </a:lnTo>
                <a:lnTo>
                  <a:pt x="65873" y="136117"/>
                </a:lnTo>
                <a:lnTo>
                  <a:pt x="59352" y="138457"/>
                </a:lnTo>
                <a:close/>
              </a:path>
              <a:path w="415925" h="401954">
                <a:moveTo>
                  <a:pt x="275523" y="152909"/>
                </a:moveTo>
                <a:lnTo>
                  <a:pt x="258472" y="152909"/>
                </a:lnTo>
                <a:lnTo>
                  <a:pt x="287070" y="121843"/>
                </a:lnTo>
                <a:lnTo>
                  <a:pt x="291032" y="121674"/>
                </a:lnTo>
                <a:lnTo>
                  <a:pt x="296137" y="126367"/>
                </a:lnTo>
                <a:lnTo>
                  <a:pt x="296250" y="129111"/>
                </a:lnTo>
                <a:lnTo>
                  <a:pt x="296301" y="130340"/>
                </a:lnTo>
                <a:lnTo>
                  <a:pt x="275523" y="152909"/>
                </a:lnTo>
                <a:close/>
              </a:path>
              <a:path w="415925" h="401954">
                <a:moveTo>
                  <a:pt x="205677" y="270323"/>
                </a:moveTo>
                <a:lnTo>
                  <a:pt x="178220" y="264766"/>
                </a:lnTo>
                <a:lnTo>
                  <a:pt x="155774" y="249620"/>
                </a:lnTo>
                <a:lnTo>
                  <a:pt x="140627" y="227175"/>
                </a:lnTo>
                <a:lnTo>
                  <a:pt x="135070" y="199721"/>
                </a:lnTo>
                <a:lnTo>
                  <a:pt x="140500" y="172888"/>
                </a:lnTo>
                <a:lnTo>
                  <a:pt x="140626" y="172266"/>
                </a:lnTo>
                <a:lnTo>
                  <a:pt x="155773" y="149818"/>
                </a:lnTo>
                <a:lnTo>
                  <a:pt x="178218" y="134669"/>
                </a:lnTo>
                <a:lnTo>
                  <a:pt x="205673" y="129111"/>
                </a:lnTo>
                <a:lnTo>
                  <a:pt x="220958" y="130778"/>
                </a:lnTo>
                <a:lnTo>
                  <a:pt x="235090" y="135540"/>
                </a:lnTo>
                <a:lnTo>
                  <a:pt x="245386" y="141655"/>
                </a:lnTo>
                <a:lnTo>
                  <a:pt x="205674" y="141655"/>
                </a:lnTo>
                <a:lnTo>
                  <a:pt x="183097" y="146226"/>
                </a:lnTo>
                <a:lnTo>
                  <a:pt x="164639" y="158682"/>
                </a:lnTo>
                <a:lnTo>
                  <a:pt x="152183" y="177141"/>
                </a:lnTo>
                <a:lnTo>
                  <a:pt x="147614" y="199721"/>
                </a:lnTo>
                <a:lnTo>
                  <a:pt x="152184" y="222298"/>
                </a:lnTo>
                <a:lnTo>
                  <a:pt x="164640" y="240756"/>
                </a:lnTo>
                <a:lnTo>
                  <a:pt x="183098" y="253213"/>
                </a:lnTo>
                <a:lnTo>
                  <a:pt x="205677" y="257784"/>
                </a:lnTo>
                <a:lnTo>
                  <a:pt x="243482" y="257784"/>
                </a:lnTo>
                <a:lnTo>
                  <a:pt x="233135" y="264766"/>
                </a:lnTo>
                <a:lnTo>
                  <a:pt x="205677" y="270323"/>
                </a:lnTo>
                <a:close/>
              </a:path>
              <a:path w="415925" h="401954">
                <a:moveTo>
                  <a:pt x="223857" y="209054"/>
                </a:moveTo>
                <a:lnTo>
                  <a:pt x="206811" y="209054"/>
                </a:lnTo>
                <a:lnTo>
                  <a:pt x="249934" y="162193"/>
                </a:lnTo>
                <a:lnTo>
                  <a:pt x="241011" y="153687"/>
                </a:lnTo>
                <a:lnTo>
                  <a:pt x="230449" y="147216"/>
                </a:lnTo>
                <a:lnTo>
                  <a:pt x="218388" y="143038"/>
                </a:lnTo>
                <a:lnTo>
                  <a:pt x="218020" y="143038"/>
                </a:lnTo>
                <a:lnTo>
                  <a:pt x="205674" y="141655"/>
                </a:lnTo>
                <a:lnTo>
                  <a:pt x="245386" y="141655"/>
                </a:lnTo>
                <a:lnTo>
                  <a:pt x="247714" y="143038"/>
                </a:lnTo>
                <a:lnTo>
                  <a:pt x="258472" y="152909"/>
                </a:lnTo>
                <a:lnTo>
                  <a:pt x="275523" y="152909"/>
                </a:lnTo>
                <a:lnTo>
                  <a:pt x="266071" y="163176"/>
                </a:lnTo>
                <a:lnTo>
                  <a:pt x="270398" y="171510"/>
                </a:lnTo>
                <a:lnTo>
                  <a:pt x="270893" y="172888"/>
                </a:lnTo>
                <a:lnTo>
                  <a:pt x="257141" y="172888"/>
                </a:lnTo>
                <a:lnTo>
                  <a:pt x="223857" y="209054"/>
                </a:lnTo>
                <a:close/>
              </a:path>
              <a:path w="415925" h="401954">
                <a:moveTo>
                  <a:pt x="243482" y="257784"/>
                </a:moveTo>
                <a:lnTo>
                  <a:pt x="205677" y="257784"/>
                </a:lnTo>
                <a:lnTo>
                  <a:pt x="228256" y="253213"/>
                </a:lnTo>
                <a:lnTo>
                  <a:pt x="246716" y="240756"/>
                </a:lnTo>
                <a:lnTo>
                  <a:pt x="259172" y="222298"/>
                </a:lnTo>
                <a:lnTo>
                  <a:pt x="263742" y="199721"/>
                </a:lnTo>
                <a:lnTo>
                  <a:pt x="263302" y="192571"/>
                </a:lnTo>
                <a:lnTo>
                  <a:pt x="262118" y="186212"/>
                </a:lnTo>
                <a:lnTo>
                  <a:pt x="262019" y="185682"/>
                </a:lnTo>
                <a:lnTo>
                  <a:pt x="259947" y="179105"/>
                </a:lnTo>
                <a:lnTo>
                  <a:pt x="257141" y="172888"/>
                </a:lnTo>
                <a:lnTo>
                  <a:pt x="270893" y="172888"/>
                </a:lnTo>
                <a:lnTo>
                  <a:pt x="273595" y="180409"/>
                </a:lnTo>
                <a:lnTo>
                  <a:pt x="275600" y="189874"/>
                </a:lnTo>
                <a:lnTo>
                  <a:pt x="276286" y="199721"/>
                </a:lnTo>
                <a:lnTo>
                  <a:pt x="270729" y="227175"/>
                </a:lnTo>
                <a:lnTo>
                  <a:pt x="255582" y="249620"/>
                </a:lnTo>
                <a:lnTo>
                  <a:pt x="243482" y="257784"/>
                </a:lnTo>
                <a:close/>
              </a:path>
              <a:path w="415925" h="401954">
                <a:moveTo>
                  <a:pt x="209043" y="225151"/>
                </a:moveTo>
                <a:lnTo>
                  <a:pt x="204790" y="225151"/>
                </a:lnTo>
                <a:lnTo>
                  <a:pt x="171565" y="190180"/>
                </a:lnTo>
                <a:lnTo>
                  <a:pt x="171665" y="186212"/>
                </a:lnTo>
                <a:lnTo>
                  <a:pt x="176680" y="181446"/>
                </a:lnTo>
                <a:lnTo>
                  <a:pt x="180563" y="181446"/>
                </a:lnTo>
                <a:lnTo>
                  <a:pt x="206811" y="209054"/>
                </a:lnTo>
                <a:lnTo>
                  <a:pt x="223857" y="209054"/>
                </a:lnTo>
                <a:lnTo>
                  <a:pt x="209043" y="225151"/>
                </a:lnTo>
                <a:close/>
              </a:path>
              <a:path w="415925" h="401954">
                <a:moveTo>
                  <a:pt x="367981" y="316802"/>
                </a:moveTo>
                <a:lnTo>
                  <a:pt x="364388" y="315106"/>
                </a:lnTo>
                <a:lnTo>
                  <a:pt x="363212" y="311762"/>
                </a:lnTo>
                <a:lnTo>
                  <a:pt x="347973" y="269241"/>
                </a:lnTo>
                <a:lnTo>
                  <a:pt x="349673" y="265648"/>
                </a:lnTo>
                <a:lnTo>
                  <a:pt x="356189" y="263312"/>
                </a:lnTo>
                <a:lnTo>
                  <a:pt x="359783" y="265008"/>
                </a:lnTo>
                <a:lnTo>
                  <a:pt x="370690" y="295455"/>
                </a:lnTo>
                <a:lnTo>
                  <a:pt x="384884" y="295455"/>
                </a:lnTo>
                <a:lnTo>
                  <a:pt x="383773" y="297807"/>
                </a:lnTo>
                <a:lnTo>
                  <a:pt x="415048" y="297807"/>
                </a:lnTo>
                <a:lnTo>
                  <a:pt x="413845" y="300358"/>
                </a:lnTo>
                <a:lnTo>
                  <a:pt x="367981" y="316802"/>
                </a:lnTo>
                <a:close/>
              </a:path>
              <a:path w="415925" h="401954">
                <a:moveTo>
                  <a:pt x="254216" y="298354"/>
                </a:moveTo>
                <a:lnTo>
                  <a:pt x="163857" y="298354"/>
                </a:lnTo>
                <a:lnTo>
                  <a:pt x="161375" y="295873"/>
                </a:lnTo>
                <a:lnTo>
                  <a:pt x="161047" y="295455"/>
                </a:lnTo>
                <a:lnTo>
                  <a:pt x="161121" y="288548"/>
                </a:lnTo>
                <a:lnTo>
                  <a:pt x="163859" y="285810"/>
                </a:lnTo>
                <a:lnTo>
                  <a:pt x="254217" y="285810"/>
                </a:lnTo>
                <a:lnTo>
                  <a:pt x="256955" y="288548"/>
                </a:lnTo>
                <a:lnTo>
                  <a:pt x="257028" y="295455"/>
                </a:lnTo>
                <a:lnTo>
                  <a:pt x="256697" y="295873"/>
                </a:lnTo>
                <a:lnTo>
                  <a:pt x="254216" y="298354"/>
                </a:lnTo>
                <a:close/>
              </a:path>
              <a:path w="415925" h="401954">
                <a:moveTo>
                  <a:pt x="415048" y="297807"/>
                </a:moveTo>
                <a:lnTo>
                  <a:pt x="383773" y="297807"/>
                </a:lnTo>
                <a:lnTo>
                  <a:pt x="409612" y="288548"/>
                </a:lnTo>
                <a:lnTo>
                  <a:pt x="413200" y="290244"/>
                </a:lnTo>
                <a:lnTo>
                  <a:pt x="415541" y="296760"/>
                </a:lnTo>
                <a:lnTo>
                  <a:pt x="415048" y="297807"/>
                </a:lnTo>
                <a:close/>
              </a:path>
              <a:path w="415925" h="401954">
                <a:moveTo>
                  <a:pt x="276358" y="389225"/>
                </a:moveTo>
                <a:lnTo>
                  <a:pt x="207777" y="389225"/>
                </a:lnTo>
                <a:lnTo>
                  <a:pt x="235777" y="387157"/>
                </a:lnTo>
                <a:lnTo>
                  <a:pt x="262911" y="381031"/>
                </a:lnTo>
                <a:lnTo>
                  <a:pt x="288809" y="370959"/>
                </a:lnTo>
                <a:lnTo>
                  <a:pt x="313099" y="357053"/>
                </a:lnTo>
                <a:lnTo>
                  <a:pt x="315968" y="355114"/>
                </a:lnTo>
                <a:lnTo>
                  <a:pt x="319863" y="355864"/>
                </a:lnTo>
                <a:lnTo>
                  <a:pt x="323742" y="361603"/>
                </a:lnTo>
                <a:lnTo>
                  <a:pt x="322992" y="365498"/>
                </a:lnTo>
                <a:lnTo>
                  <a:pt x="320116" y="367442"/>
                </a:lnTo>
                <a:lnTo>
                  <a:pt x="294206" y="382280"/>
                </a:lnTo>
                <a:lnTo>
                  <a:pt x="276358" y="389225"/>
                </a:lnTo>
                <a:close/>
              </a:path>
            </a:pathLst>
          </a:custGeom>
          <a:solidFill>
            <a:srgbClr val="F1660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9" name="object 29"/>
          <p:cNvGrpSpPr/>
          <p:nvPr/>
        </p:nvGrpSpPr>
        <p:grpSpPr>
          <a:xfrm>
            <a:off x="8934036" y="5100219"/>
            <a:ext cx="420370" cy="420370"/>
            <a:chOff x="8934036" y="5100219"/>
            <a:chExt cx="420370" cy="420370"/>
          </a:xfrm>
        </p:grpSpPr>
        <p:sp>
          <p:nvSpPr>
            <p:cNvPr id="30" name="object 30"/>
            <p:cNvSpPr/>
            <p:nvPr/>
          </p:nvSpPr>
          <p:spPr>
            <a:xfrm>
              <a:off x="8934031" y="5100230"/>
              <a:ext cx="420370" cy="318770"/>
            </a:xfrm>
            <a:custGeom>
              <a:avLst/>
              <a:gdLst/>
              <a:ahLst/>
              <a:cxnLst/>
              <a:rect l="l" t="t" r="r" b="b"/>
              <a:pathLst>
                <a:path w="420370" h="318770">
                  <a:moveTo>
                    <a:pt x="419989" y="16725"/>
                  </a:moveTo>
                  <a:lnTo>
                    <a:pt x="418858" y="14020"/>
                  </a:lnTo>
                  <a:lnTo>
                    <a:pt x="417588" y="10934"/>
                  </a:lnTo>
                  <a:lnTo>
                    <a:pt x="409041" y="2387"/>
                  </a:lnTo>
                  <a:lnTo>
                    <a:pt x="405955" y="1117"/>
                  </a:lnTo>
                  <a:lnTo>
                    <a:pt x="405955" y="20447"/>
                  </a:lnTo>
                  <a:lnTo>
                    <a:pt x="405955" y="246468"/>
                  </a:lnTo>
                  <a:lnTo>
                    <a:pt x="405955" y="260489"/>
                  </a:lnTo>
                  <a:lnTo>
                    <a:pt x="405955" y="283197"/>
                  </a:lnTo>
                  <a:lnTo>
                    <a:pt x="402907" y="290563"/>
                  </a:lnTo>
                  <a:lnTo>
                    <a:pt x="392049" y="301409"/>
                  </a:lnTo>
                  <a:lnTo>
                    <a:pt x="384695" y="304469"/>
                  </a:lnTo>
                  <a:lnTo>
                    <a:pt x="35293" y="304469"/>
                  </a:lnTo>
                  <a:lnTo>
                    <a:pt x="27927" y="301409"/>
                  </a:lnTo>
                  <a:lnTo>
                    <a:pt x="17068" y="290563"/>
                  </a:lnTo>
                  <a:lnTo>
                    <a:pt x="14020" y="283197"/>
                  </a:lnTo>
                  <a:lnTo>
                    <a:pt x="14020" y="260489"/>
                  </a:lnTo>
                  <a:lnTo>
                    <a:pt x="405955" y="260489"/>
                  </a:lnTo>
                  <a:lnTo>
                    <a:pt x="405955" y="246468"/>
                  </a:lnTo>
                  <a:lnTo>
                    <a:pt x="14020" y="246468"/>
                  </a:lnTo>
                  <a:lnTo>
                    <a:pt x="14020" y="20447"/>
                  </a:lnTo>
                  <a:lnTo>
                    <a:pt x="14947" y="18224"/>
                  </a:lnTo>
                  <a:lnTo>
                    <a:pt x="18224" y="14947"/>
                  </a:lnTo>
                  <a:lnTo>
                    <a:pt x="20447" y="14020"/>
                  </a:lnTo>
                  <a:lnTo>
                    <a:pt x="399529" y="14020"/>
                  </a:lnTo>
                  <a:lnTo>
                    <a:pt x="401751" y="14947"/>
                  </a:lnTo>
                  <a:lnTo>
                    <a:pt x="405028" y="18224"/>
                  </a:lnTo>
                  <a:lnTo>
                    <a:pt x="405955" y="20447"/>
                  </a:lnTo>
                  <a:lnTo>
                    <a:pt x="405955" y="1117"/>
                  </a:lnTo>
                  <a:lnTo>
                    <a:pt x="403250" y="0"/>
                  </a:lnTo>
                  <a:lnTo>
                    <a:pt x="16738" y="0"/>
                  </a:lnTo>
                  <a:lnTo>
                    <a:pt x="10934" y="2387"/>
                  </a:lnTo>
                  <a:lnTo>
                    <a:pt x="2400" y="10934"/>
                  </a:lnTo>
                  <a:lnTo>
                    <a:pt x="0" y="16725"/>
                  </a:lnTo>
                  <a:lnTo>
                    <a:pt x="0" y="249605"/>
                  </a:lnTo>
                  <a:lnTo>
                    <a:pt x="0" y="257352"/>
                  </a:lnTo>
                  <a:lnTo>
                    <a:pt x="0" y="275526"/>
                  </a:lnTo>
                  <a:lnTo>
                    <a:pt x="838" y="283946"/>
                  </a:lnTo>
                  <a:lnTo>
                    <a:pt x="26517" y="315214"/>
                  </a:lnTo>
                  <a:lnTo>
                    <a:pt x="42964" y="318490"/>
                  </a:lnTo>
                  <a:lnTo>
                    <a:pt x="377012" y="318490"/>
                  </a:lnTo>
                  <a:lnTo>
                    <a:pt x="412762" y="299364"/>
                  </a:lnTo>
                  <a:lnTo>
                    <a:pt x="419989" y="275526"/>
                  </a:lnTo>
                  <a:lnTo>
                    <a:pt x="419989" y="260489"/>
                  </a:lnTo>
                  <a:lnTo>
                    <a:pt x="419989" y="257352"/>
                  </a:lnTo>
                  <a:lnTo>
                    <a:pt x="419989" y="249605"/>
                  </a:lnTo>
                  <a:lnTo>
                    <a:pt x="419989" y="246468"/>
                  </a:lnTo>
                  <a:lnTo>
                    <a:pt x="419989" y="16725"/>
                  </a:lnTo>
                  <a:close/>
                </a:path>
              </a:pathLst>
            </a:custGeom>
            <a:solidFill>
              <a:srgbClr val="F1660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093518" y="5404688"/>
              <a:ext cx="101017" cy="72021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8963025" y="5375693"/>
              <a:ext cx="362585" cy="144780"/>
            </a:xfrm>
            <a:custGeom>
              <a:avLst/>
              <a:gdLst/>
              <a:ahLst/>
              <a:cxnLst/>
              <a:rect l="l" t="t" r="r" b="b"/>
              <a:pathLst>
                <a:path w="362584" h="144779">
                  <a:moveTo>
                    <a:pt x="202514" y="3149"/>
                  </a:moveTo>
                  <a:lnTo>
                    <a:pt x="199364" y="0"/>
                  </a:lnTo>
                  <a:lnTo>
                    <a:pt x="162623" y="0"/>
                  </a:lnTo>
                  <a:lnTo>
                    <a:pt x="159486" y="3149"/>
                  </a:lnTo>
                  <a:lnTo>
                    <a:pt x="159486" y="10883"/>
                  </a:lnTo>
                  <a:lnTo>
                    <a:pt x="162623" y="14033"/>
                  </a:lnTo>
                  <a:lnTo>
                    <a:pt x="166497" y="14033"/>
                  </a:lnTo>
                  <a:lnTo>
                    <a:pt x="199364" y="14033"/>
                  </a:lnTo>
                  <a:lnTo>
                    <a:pt x="202514" y="10883"/>
                  </a:lnTo>
                  <a:lnTo>
                    <a:pt x="202514" y="3149"/>
                  </a:lnTo>
                  <a:close/>
                </a:path>
                <a:path w="362584" h="144779">
                  <a:moveTo>
                    <a:pt x="361988" y="137477"/>
                  </a:moveTo>
                  <a:lnTo>
                    <a:pt x="347281" y="101904"/>
                  </a:lnTo>
                  <a:lnTo>
                    <a:pt x="347281" y="130492"/>
                  </a:lnTo>
                  <a:lnTo>
                    <a:pt x="14706" y="130492"/>
                  </a:lnTo>
                  <a:lnTo>
                    <a:pt x="43332" y="101727"/>
                  </a:lnTo>
                  <a:lnTo>
                    <a:pt x="50482" y="101028"/>
                  </a:lnTo>
                  <a:lnTo>
                    <a:pt x="311518" y="101028"/>
                  </a:lnTo>
                  <a:lnTo>
                    <a:pt x="345909" y="123418"/>
                  </a:lnTo>
                  <a:lnTo>
                    <a:pt x="347281" y="130492"/>
                  </a:lnTo>
                  <a:lnTo>
                    <a:pt x="347281" y="101904"/>
                  </a:lnTo>
                  <a:lnTo>
                    <a:pt x="311518" y="86995"/>
                  </a:lnTo>
                  <a:lnTo>
                    <a:pt x="50482" y="86995"/>
                  </a:lnTo>
                  <a:lnTo>
                    <a:pt x="14846" y="101727"/>
                  </a:lnTo>
                  <a:lnTo>
                    <a:pt x="0" y="137477"/>
                  </a:lnTo>
                  <a:lnTo>
                    <a:pt x="0" y="141376"/>
                  </a:lnTo>
                  <a:lnTo>
                    <a:pt x="3136" y="144513"/>
                  </a:lnTo>
                  <a:lnTo>
                    <a:pt x="358851" y="144513"/>
                  </a:lnTo>
                  <a:lnTo>
                    <a:pt x="361988" y="141376"/>
                  </a:lnTo>
                  <a:lnTo>
                    <a:pt x="361988" y="137477"/>
                  </a:lnTo>
                  <a:close/>
                </a:path>
              </a:pathLst>
            </a:custGeom>
            <a:solidFill>
              <a:srgbClr val="F1660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049946" y="5134865"/>
              <a:ext cx="188537" cy="190834"/>
            </a:xfrm>
            <a:prstGeom prst="rect">
              <a:avLst/>
            </a:prstGeom>
          </p:spPr>
        </p:pic>
      </p:grpSp>
      <p:sp>
        <p:nvSpPr>
          <p:cNvPr id="34" name="object 34"/>
          <p:cNvSpPr/>
          <p:nvPr/>
        </p:nvSpPr>
        <p:spPr>
          <a:xfrm>
            <a:off x="12392216" y="5104548"/>
            <a:ext cx="325755" cy="415290"/>
          </a:xfrm>
          <a:custGeom>
            <a:avLst/>
            <a:gdLst/>
            <a:ahLst/>
            <a:cxnLst/>
            <a:rect l="l" t="t" r="r" b="b"/>
            <a:pathLst>
              <a:path w="325754" h="415289">
                <a:moveTo>
                  <a:pt x="180225" y="281711"/>
                </a:moveTo>
                <a:lnTo>
                  <a:pt x="172415" y="273900"/>
                </a:lnTo>
                <a:lnTo>
                  <a:pt x="153149" y="273900"/>
                </a:lnTo>
                <a:lnTo>
                  <a:pt x="145338" y="281711"/>
                </a:lnTo>
                <a:lnTo>
                  <a:pt x="145338" y="298272"/>
                </a:lnTo>
                <a:lnTo>
                  <a:pt x="149377" y="304266"/>
                </a:lnTo>
                <a:lnTo>
                  <a:pt x="155232" y="307073"/>
                </a:lnTo>
                <a:lnTo>
                  <a:pt x="155232" y="328422"/>
                </a:lnTo>
                <a:lnTo>
                  <a:pt x="156502" y="329704"/>
                </a:lnTo>
                <a:lnTo>
                  <a:pt x="169062" y="329704"/>
                </a:lnTo>
                <a:lnTo>
                  <a:pt x="170345" y="328422"/>
                </a:lnTo>
                <a:lnTo>
                  <a:pt x="170345" y="307073"/>
                </a:lnTo>
                <a:lnTo>
                  <a:pt x="176187" y="304266"/>
                </a:lnTo>
                <a:lnTo>
                  <a:pt x="180225" y="298284"/>
                </a:lnTo>
                <a:lnTo>
                  <a:pt x="180225" y="281711"/>
                </a:lnTo>
                <a:close/>
              </a:path>
              <a:path w="325754" h="415289">
                <a:moveTo>
                  <a:pt x="325577" y="60960"/>
                </a:moveTo>
                <a:lnTo>
                  <a:pt x="324180" y="55880"/>
                </a:lnTo>
                <a:lnTo>
                  <a:pt x="321437" y="50800"/>
                </a:lnTo>
                <a:lnTo>
                  <a:pt x="318947" y="45720"/>
                </a:lnTo>
                <a:lnTo>
                  <a:pt x="315315" y="41910"/>
                </a:lnTo>
                <a:lnTo>
                  <a:pt x="310642" y="38100"/>
                </a:lnTo>
                <a:lnTo>
                  <a:pt x="308597" y="36271"/>
                </a:lnTo>
                <a:lnTo>
                  <a:pt x="308597" y="191770"/>
                </a:lnTo>
                <a:lnTo>
                  <a:pt x="308597" y="254000"/>
                </a:lnTo>
                <a:lnTo>
                  <a:pt x="308597" y="284480"/>
                </a:lnTo>
                <a:lnTo>
                  <a:pt x="308584" y="353060"/>
                </a:lnTo>
                <a:lnTo>
                  <a:pt x="305460" y="358140"/>
                </a:lnTo>
                <a:lnTo>
                  <a:pt x="299275" y="364490"/>
                </a:lnTo>
                <a:lnTo>
                  <a:pt x="293446" y="368300"/>
                </a:lnTo>
                <a:lnTo>
                  <a:pt x="286359" y="373380"/>
                </a:lnTo>
                <a:lnTo>
                  <a:pt x="246748" y="388620"/>
                </a:lnTo>
                <a:lnTo>
                  <a:pt x="177952" y="397510"/>
                </a:lnTo>
                <a:lnTo>
                  <a:pt x="147624" y="397510"/>
                </a:lnTo>
                <a:lnTo>
                  <a:pt x="104076" y="393700"/>
                </a:lnTo>
                <a:lnTo>
                  <a:pt x="56705" y="381000"/>
                </a:lnTo>
                <a:lnTo>
                  <a:pt x="32131" y="368300"/>
                </a:lnTo>
                <a:lnTo>
                  <a:pt x="26301" y="364490"/>
                </a:lnTo>
                <a:lnTo>
                  <a:pt x="20116" y="358140"/>
                </a:lnTo>
                <a:lnTo>
                  <a:pt x="16979" y="353060"/>
                </a:lnTo>
                <a:lnTo>
                  <a:pt x="16979" y="284480"/>
                </a:lnTo>
                <a:lnTo>
                  <a:pt x="27571" y="292100"/>
                </a:lnTo>
                <a:lnTo>
                  <a:pt x="40525" y="299720"/>
                </a:lnTo>
                <a:lnTo>
                  <a:pt x="55765" y="304800"/>
                </a:lnTo>
                <a:lnTo>
                  <a:pt x="73190" y="311150"/>
                </a:lnTo>
                <a:lnTo>
                  <a:pt x="73190" y="340360"/>
                </a:lnTo>
                <a:lnTo>
                  <a:pt x="75501" y="351790"/>
                </a:lnTo>
                <a:lnTo>
                  <a:pt x="81788" y="360680"/>
                </a:lnTo>
                <a:lnTo>
                  <a:pt x="91097" y="367030"/>
                </a:lnTo>
                <a:lnTo>
                  <a:pt x="102489" y="369570"/>
                </a:lnTo>
                <a:lnTo>
                  <a:pt x="223088" y="369570"/>
                </a:lnTo>
                <a:lnTo>
                  <a:pt x="234480" y="367030"/>
                </a:lnTo>
                <a:lnTo>
                  <a:pt x="243789" y="360680"/>
                </a:lnTo>
                <a:lnTo>
                  <a:pt x="249174" y="353060"/>
                </a:lnTo>
                <a:lnTo>
                  <a:pt x="250075" y="351790"/>
                </a:lnTo>
                <a:lnTo>
                  <a:pt x="252387" y="340360"/>
                </a:lnTo>
                <a:lnTo>
                  <a:pt x="252387" y="311150"/>
                </a:lnTo>
                <a:lnTo>
                  <a:pt x="269811" y="304800"/>
                </a:lnTo>
                <a:lnTo>
                  <a:pt x="285051" y="299720"/>
                </a:lnTo>
                <a:lnTo>
                  <a:pt x="295846" y="293370"/>
                </a:lnTo>
                <a:lnTo>
                  <a:pt x="298005" y="292100"/>
                </a:lnTo>
                <a:lnTo>
                  <a:pt x="308597" y="284480"/>
                </a:lnTo>
                <a:lnTo>
                  <a:pt x="308597" y="254000"/>
                </a:lnTo>
                <a:lnTo>
                  <a:pt x="307213" y="260350"/>
                </a:lnTo>
                <a:lnTo>
                  <a:pt x="303657" y="265430"/>
                </a:lnTo>
                <a:lnTo>
                  <a:pt x="298818" y="270510"/>
                </a:lnTo>
                <a:lnTo>
                  <a:pt x="293585" y="275590"/>
                </a:lnTo>
                <a:lnTo>
                  <a:pt x="285356" y="280670"/>
                </a:lnTo>
                <a:lnTo>
                  <a:pt x="275666" y="284480"/>
                </a:lnTo>
                <a:lnTo>
                  <a:pt x="264629" y="289560"/>
                </a:lnTo>
                <a:lnTo>
                  <a:pt x="252374" y="293370"/>
                </a:lnTo>
                <a:lnTo>
                  <a:pt x="252374" y="261620"/>
                </a:lnTo>
                <a:lnTo>
                  <a:pt x="250126" y="250190"/>
                </a:lnTo>
                <a:lnTo>
                  <a:pt x="243954" y="241300"/>
                </a:lnTo>
                <a:lnTo>
                  <a:pt x="235394" y="235356"/>
                </a:lnTo>
                <a:lnTo>
                  <a:pt x="235394" y="255270"/>
                </a:lnTo>
                <a:lnTo>
                  <a:pt x="235394" y="346710"/>
                </a:lnTo>
                <a:lnTo>
                  <a:pt x="229870" y="353060"/>
                </a:lnTo>
                <a:lnTo>
                  <a:pt x="95707" y="353060"/>
                </a:lnTo>
                <a:lnTo>
                  <a:pt x="90182" y="346710"/>
                </a:lnTo>
                <a:lnTo>
                  <a:pt x="90182" y="293370"/>
                </a:lnTo>
                <a:lnTo>
                  <a:pt x="90182" y="255270"/>
                </a:lnTo>
                <a:lnTo>
                  <a:pt x="95694" y="250190"/>
                </a:lnTo>
                <a:lnTo>
                  <a:pt x="229870" y="250190"/>
                </a:lnTo>
                <a:lnTo>
                  <a:pt x="235394" y="255270"/>
                </a:lnTo>
                <a:lnTo>
                  <a:pt x="235394" y="235356"/>
                </a:lnTo>
                <a:lnTo>
                  <a:pt x="234810" y="234950"/>
                </a:lnTo>
                <a:lnTo>
                  <a:pt x="223596" y="232410"/>
                </a:lnTo>
                <a:lnTo>
                  <a:pt x="223596" y="223520"/>
                </a:lnTo>
                <a:lnTo>
                  <a:pt x="262559" y="214630"/>
                </a:lnTo>
                <a:lnTo>
                  <a:pt x="293712" y="200660"/>
                </a:lnTo>
                <a:lnTo>
                  <a:pt x="299681" y="198120"/>
                </a:lnTo>
                <a:lnTo>
                  <a:pt x="304584" y="194310"/>
                </a:lnTo>
                <a:lnTo>
                  <a:pt x="308597" y="191770"/>
                </a:lnTo>
                <a:lnTo>
                  <a:pt x="308597" y="36271"/>
                </a:lnTo>
                <a:lnTo>
                  <a:pt x="308584" y="60960"/>
                </a:lnTo>
                <a:lnTo>
                  <a:pt x="308584" y="72390"/>
                </a:lnTo>
                <a:lnTo>
                  <a:pt x="308584" y="97790"/>
                </a:lnTo>
                <a:lnTo>
                  <a:pt x="308584" y="160020"/>
                </a:lnTo>
                <a:lnTo>
                  <a:pt x="307073" y="166370"/>
                </a:lnTo>
                <a:lnTo>
                  <a:pt x="272834" y="193040"/>
                </a:lnTo>
                <a:lnTo>
                  <a:pt x="223596" y="205740"/>
                </a:lnTo>
                <a:lnTo>
                  <a:pt x="223596" y="196850"/>
                </a:lnTo>
                <a:lnTo>
                  <a:pt x="220433" y="180340"/>
                </a:lnTo>
                <a:lnTo>
                  <a:pt x="215252" y="172720"/>
                </a:lnTo>
                <a:lnTo>
                  <a:pt x="211797" y="167640"/>
                </a:lnTo>
                <a:lnTo>
                  <a:pt x="206616" y="164045"/>
                </a:lnTo>
                <a:lnTo>
                  <a:pt x="206616" y="196850"/>
                </a:lnTo>
                <a:lnTo>
                  <a:pt x="206616" y="232410"/>
                </a:lnTo>
                <a:lnTo>
                  <a:pt x="118960" y="232410"/>
                </a:lnTo>
                <a:lnTo>
                  <a:pt x="118960" y="205740"/>
                </a:lnTo>
                <a:lnTo>
                  <a:pt x="118960" y="196850"/>
                </a:lnTo>
                <a:lnTo>
                  <a:pt x="120789" y="186690"/>
                </a:lnTo>
                <a:lnTo>
                  <a:pt x="125780" y="180340"/>
                </a:lnTo>
                <a:lnTo>
                  <a:pt x="133184" y="175260"/>
                </a:lnTo>
                <a:lnTo>
                  <a:pt x="142240" y="172720"/>
                </a:lnTo>
                <a:lnTo>
                  <a:pt x="183337" y="172720"/>
                </a:lnTo>
                <a:lnTo>
                  <a:pt x="192392" y="175260"/>
                </a:lnTo>
                <a:lnTo>
                  <a:pt x="199796" y="180340"/>
                </a:lnTo>
                <a:lnTo>
                  <a:pt x="204787" y="186690"/>
                </a:lnTo>
                <a:lnTo>
                  <a:pt x="206616" y="196850"/>
                </a:lnTo>
                <a:lnTo>
                  <a:pt x="206616" y="164045"/>
                </a:lnTo>
                <a:lnTo>
                  <a:pt x="198996" y="158750"/>
                </a:lnTo>
                <a:lnTo>
                  <a:pt x="183337" y="156210"/>
                </a:lnTo>
                <a:lnTo>
                  <a:pt x="142227" y="156210"/>
                </a:lnTo>
                <a:lnTo>
                  <a:pt x="126568" y="158750"/>
                </a:lnTo>
                <a:lnTo>
                  <a:pt x="113779" y="167640"/>
                </a:lnTo>
                <a:lnTo>
                  <a:pt x="105130" y="180340"/>
                </a:lnTo>
                <a:lnTo>
                  <a:pt x="101968" y="196850"/>
                </a:lnTo>
                <a:lnTo>
                  <a:pt x="101968" y="205740"/>
                </a:lnTo>
                <a:lnTo>
                  <a:pt x="101968" y="223520"/>
                </a:lnTo>
                <a:lnTo>
                  <a:pt x="101968" y="232410"/>
                </a:lnTo>
                <a:lnTo>
                  <a:pt x="90754" y="234950"/>
                </a:lnTo>
                <a:lnTo>
                  <a:pt x="81610" y="241300"/>
                </a:lnTo>
                <a:lnTo>
                  <a:pt x="75450" y="250190"/>
                </a:lnTo>
                <a:lnTo>
                  <a:pt x="73190" y="261620"/>
                </a:lnTo>
                <a:lnTo>
                  <a:pt x="73190" y="293370"/>
                </a:lnTo>
                <a:lnTo>
                  <a:pt x="60934" y="289560"/>
                </a:lnTo>
                <a:lnTo>
                  <a:pt x="49911" y="284480"/>
                </a:lnTo>
                <a:lnTo>
                  <a:pt x="40220" y="280670"/>
                </a:lnTo>
                <a:lnTo>
                  <a:pt x="31991" y="275590"/>
                </a:lnTo>
                <a:lnTo>
                  <a:pt x="26758" y="270510"/>
                </a:lnTo>
                <a:lnTo>
                  <a:pt x="21920" y="265430"/>
                </a:lnTo>
                <a:lnTo>
                  <a:pt x="18364" y="260350"/>
                </a:lnTo>
                <a:lnTo>
                  <a:pt x="16979" y="254000"/>
                </a:lnTo>
                <a:lnTo>
                  <a:pt x="16979" y="191770"/>
                </a:lnTo>
                <a:lnTo>
                  <a:pt x="20993" y="194310"/>
                </a:lnTo>
                <a:lnTo>
                  <a:pt x="25882" y="198120"/>
                </a:lnTo>
                <a:lnTo>
                  <a:pt x="31851" y="200660"/>
                </a:lnTo>
                <a:lnTo>
                  <a:pt x="46342" y="208280"/>
                </a:lnTo>
                <a:lnTo>
                  <a:pt x="63017" y="214630"/>
                </a:lnTo>
                <a:lnTo>
                  <a:pt x="81635" y="219710"/>
                </a:lnTo>
                <a:lnTo>
                  <a:pt x="101968" y="223520"/>
                </a:lnTo>
                <a:lnTo>
                  <a:pt x="101968" y="205740"/>
                </a:lnTo>
                <a:lnTo>
                  <a:pt x="83883" y="201930"/>
                </a:lnTo>
                <a:lnTo>
                  <a:pt x="67411" y="198120"/>
                </a:lnTo>
                <a:lnTo>
                  <a:pt x="52730" y="193040"/>
                </a:lnTo>
                <a:lnTo>
                  <a:pt x="50190" y="191770"/>
                </a:lnTo>
                <a:lnTo>
                  <a:pt x="40030" y="186690"/>
                </a:lnTo>
                <a:lnTo>
                  <a:pt x="30162" y="180340"/>
                </a:lnTo>
                <a:lnTo>
                  <a:pt x="22936" y="173990"/>
                </a:lnTo>
                <a:lnTo>
                  <a:pt x="18491" y="166370"/>
                </a:lnTo>
                <a:lnTo>
                  <a:pt x="16979" y="160020"/>
                </a:lnTo>
                <a:lnTo>
                  <a:pt x="16979" y="97790"/>
                </a:lnTo>
                <a:lnTo>
                  <a:pt x="23812" y="102870"/>
                </a:lnTo>
                <a:lnTo>
                  <a:pt x="31711" y="107950"/>
                </a:lnTo>
                <a:lnTo>
                  <a:pt x="40665" y="111760"/>
                </a:lnTo>
                <a:lnTo>
                  <a:pt x="50647" y="116840"/>
                </a:lnTo>
                <a:lnTo>
                  <a:pt x="74930" y="124460"/>
                </a:lnTo>
                <a:lnTo>
                  <a:pt x="102171" y="129540"/>
                </a:lnTo>
                <a:lnTo>
                  <a:pt x="131673" y="133350"/>
                </a:lnTo>
                <a:lnTo>
                  <a:pt x="162775" y="134620"/>
                </a:lnTo>
                <a:lnTo>
                  <a:pt x="193890" y="133350"/>
                </a:lnTo>
                <a:lnTo>
                  <a:pt x="223393" y="129540"/>
                </a:lnTo>
                <a:lnTo>
                  <a:pt x="250634" y="124460"/>
                </a:lnTo>
                <a:lnTo>
                  <a:pt x="274916" y="116840"/>
                </a:lnTo>
                <a:lnTo>
                  <a:pt x="284886" y="111760"/>
                </a:lnTo>
                <a:lnTo>
                  <a:pt x="293852" y="107950"/>
                </a:lnTo>
                <a:lnTo>
                  <a:pt x="301752" y="102870"/>
                </a:lnTo>
                <a:lnTo>
                  <a:pt x="308584" y="97790"/>
                </a:lnTo>
                <a:lnTo>
                  <a:pt x="308584" y="72390"/>
                </a:lnTo>
                <a:lnTo>
                  <a:pt x="305447" y="77470"/>
                </a:lnTo>
                <a:lnTo>
                  <a:pt x="299262" y="83820"/>
                </a:lnTo>
                <a:lnTo>
                  <a:pt x="293433" y="87630"/>
                </a:lnTo>
                <a:lnTo>
                  <a:pt x="286359" y="92710"/>
                </a:lnTo>
                <a:lnTo>
                  <a:pt x="278130" y="96520"/>
                </a:lnTo>
                <a:lnTo>
                  <a:pt x="234480" y="110490"/>
                </a:lnTo>
                <a:lnTo>
                  <a:pt x="177939" y="116840"/>
                </a:lnTo>
                <a:lnTo>
                  <a:pt x="147624" y="116840"/>
                </a:lnTo>
                <a:lnTo>
                  <a:pt x="104076" y="113030"/>
                </a:lnTo>
                <a:lnTo>
                  <a:pt x="56705" y="100330"/>
                </a:lnTo>
                <a:lnTo>
                  <a:pt x="50533" y="97790"/>
                </a:lnTo>
                <a:lnTo>
                  <a:pt x="47434" y="96520"/>
                </a:lnTo>
                <a:lnTo>
                  <a:pt x="39217" y="92710"/>
                </a:lnTo>
                <a:lnTo>
                  <a:pt x="32131" y="87630"/>
                </a:lnTo>
                <a:lnTo>
                  <a:pt x="26301" y="83820"/>
                </a:lnTo>
                <a:lnTo>
                  <a:pt x="20116" y="77470"/>
                </a:lnTo>
                <a:lnTo>
                  <a:pt x="16979" y="72390"/>
                </a:lnTo>
                <a:lnTo>
                  <a:pt x="16979" y="60960"/>
                </a:lnTo>
                <a:lnTo>
                  <a:pt x="20116" y="55880"/>
                </a:lnTo>
                <a:lnTo>
                  <a:pt x="26301" y="49530"/>
                </a:lnTo>
                <a:lnTo>
                  <a:pt x="32131" y="45720"/>
                </a:lnTo>
                <a:lnTo>
                  <a:pt x="39217" y="40640"/>
                </a:lnTo>
                <a:lnTo>
                  <a:pt x="47434" y="36830"/>
                </a:lnTo>
                <a:lnTo>
                  <a:pt x="56705" y="33020"/>
                </a:lnTo>
                <a:lnTo>
                  <a:pt x="67360" y="29210"/>
                </a:lnTo>
                <a:lnTo>
                  <a:pt x="78828" y="26670"/>
                </a:lnTo>
                <a:lnTo>
                  <a:pt x="91084" y="22860"/>
                </a:lnTo>
                <a:lnTo>
                  <a:pt x="104076" y="20320"/>
                </a:lnTo>
                <a:lnTo>
                  <a:pt x="147624" y="16510"/>
                </a:lnTo>
                <a:lnTo>
                  <a:pt x="177939" y="16510"/>
                </a:lnTo>
                <a:lnTo>
                  <a:pt x="221488" y="20320"/>
                </a:lnTo>
                <a:lnTo>
                  <a:pt x="234480" y="22860"/>
                </a:lnTo>
                <a:lnTo>
                  <a:pt x="246735" y="26670"/>
                </a:lnTo>
                <a:lnTo>
                  <a:pt x="258216" y="29210"/>
                </a:lnTo>
                <a:lnTo>
                  <a:pt x="268859" y="33020"/>
                </a:lnTo>
                <a:lnTo>
                  <a:pt x="278130" y="36830"/>
                </a:lnTo>
                <a:lnTo>
                  <a:pt x="286359" y="40640"/>
                </a:lnTo>
                <a:lnTo>
                  <a:pt x="293433" y="45720"/>
                </a:lnTo>
                <a:lnTo>
                  <a:pt x="299262" y="49530"/>
                </a:lnTo>
                <a:lnTo>
                  <a:pt x="305447" y="55880"/>
                </a:lnTo>
                <a:lnTo>
                  <a:pt x="308584" y="60960"/>
                </a:lnTo>
                <a:lnTo>
                  <a:pt x="308584" y="36258"/>
                </a:lnTo>
                <a:lnTo>
                  <a:pt x="274916" y="17780"/>
                </a:lnTo>
                <a:lnTo>
                  <a:pt x="223405" y="3810"/>
                </a:lnTo>
                <a:lnTo>
                  <a:pt x="193890" y="0"/>
                </a:lnTo>
                <a:lnTo>
                  <a:pt x="131686" y="0"/>
                </a:lnTo>
                <a:lnTo>
                  <a:pt x="74930" y="10160"/>
                </a:lnTo>
                <a:lnTo>
                  <a:pt x="30314" y="26670"/>
                </a:lnTo>
                <a:lnTo>
                  <a:pt x="14935" y="38100"/>
                </a:lnTo>
                <a:lnTo>
                  <a:pt x="10261" y="41910"/>
                </a:lnTo>
                <a:lnTo>
                  <a:pt x="6629" y="45720"/>
                </a:lnTo>
                <a:lnTo>
                  <a:pt x="1397" y="55880"/>
                </a:lnTo>
                <a:lnTo>
                  <a:pt x="0" y="60960"/>
                </a:lnTo>
                <a:lnTo>
                  <a:pt x="0" y="353060"/>
                </a:lnTo>
                <a:lnTo>
                  <a:pt x="1397" y="358140"/>
                </a:lnTo>
                <a:lnTo>
                  <a:pt x="6629" y="368300"/>
                </a:lnTo>
                <a:lnTo>
                  <a:pt x="10261" y="372110"/>
                </a:lnTo>
                <a:lnTo>
                  <a:pt x="14935" y="377190"/>
                </a:lnTo>
                <a:lnTo>
                  <a:pt x="50660" y="397510"/>
                </a:lnTo>
                <a:lnTo>
                  <a:pt x="102171" y="410210"/>
                </a:lnTo>
                <a:lnTo>
                  <a:pt x="162788" y="415290"/>
                </a:lnTo>
                <a:lnTo>
                  <a:pt x="193890" y="414020"/>
                </a:lnTo>
                <a:lnTo>
                  <a:pt x="250647" y="405130"/>
                </a:lnTo>
                <a:lnTo>
                  <a:pt x="295262" y="387350"/>
                </a:lnTo>
                <a:lnTo>
                  <a:pt x="315315" y="372110"/>
                </a:lnTo>
                <a:lnTo>
                  <a:pt x="318947" y="368300"/>
                </a:lnTo>
                <a:lnTo>
                  <a:pt x="324180" y="358140"/>
                </a:lnTo>
                <a:lnTo>
                  <a:pt x="325577" y="353060"/>
                </a:lnTo>
                <a:lnTo>
                  <a:pt x="325577" y="284480"/>
                </a:lnTo>
                <a:lnTo>
                  <a:pt x="325577" y="191770"/>
                </a:lnTo>
                <a:lnTo>
                  <a:pt x="325577" y="97790"/>
                </a:lnTo>
                <a:lnTo>
                  <a:pt x="325577" y="60960"/>
                </a:lnTo>
                <a:close/>
              </a:path>
            </a:pathLst>
          </a:custGeom>
          <a:solidFill>
            <a:srgbClr val="F166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5728936" y="5100156"/>
            <a:ext cx="428625" cy="419100"/>
          </a:xfrm>
          <a:custGeom>
            <a:avLst/>
            <a:gdLst/>
            <a:ahLst/>
            <a:cxnLst/>
            <a:rect l="l" t="t" r="r" b="b"/>
            <a:pathLst>
              <a:path w="428625" h="419100">
                <a:moveTo>
                  <a:pt x="66274" y="419099"/>
                </a:moveTo>
                <a:lnTo>
                  <a:pt x="65310" y="419099"/>
                </a:lnTo>
                <a:lnTo>
                  <a:pt x="64284" y="378459"/>
                </a:lnTo>
                <a:lnTo>
                  <a:pt x="64220" y="337819"/>
                </a:lnTo>
                <a:lnTo>
                  <a:pt x="42064" y="337819"/>
                </a:lnTo>
                <a:lnTo>
                  <a:pt x="6288" y="316229"/>
                </a:lnTo>
                <a:lnTo>
                  <a:pt x="2803" y="311149"/>
                </a:lnTo>
                <a:lnTo>
                  <a:pt x="713" y="306069"/>
                </a:lnTo>
                <a:lnTo>
                  <a:pt x="0" y="299719"/>
                </a:lnTo>
                <a:lnTo>
                  <a:pt x="0" y="177799"/>
                </a:lnTo>
                <a:lnTo>
                  <a:pt x="2488" y="171449"/>
                </a:lnTo>
                <a:lnTo>
                  <a:pt x="34939" y="139699"/>
                </a:lnTo>
                <a:lnTo>
                  <a:pt x="42430" y="138429"/>
                </a:lnTo>
                <a:lnTo>
                  <a:pt x="160637" y="138429"/>
                </a:lnTo>
                <a:lnTo>
                  <a:pt x="160533" y="60959"/>
                </a:lnTo>
                <a:lnTo>
                  <a:pt x="160209" y="50799"/>
                </a:lnTo>
                <a:lnTo>
                  <a:pt x="160168" y="49529"/>
                </a:lnTo>
                <a:lnTo>
                  <a:pt x="164039" y="31749"/>
                </a:lnTo>
                <a:lnTo>
                  <a:pt x="172769" y="16509"/>
                </a:lnTo>
                <a:lnTo>
                  <a:pt x="185992" y="6349"/>
                </a:lnTo>
                <a:lnTo>
                  <a:pt x="203339" y="0"/>
                </a:lnTo>
                <a:lnTo>
                  <a:pt x="389202" y="0"/>
                </a:lnTo>
                <a:lnTo>
                  <a:pt x="417453" y="15239"/>
                </a:lnTo>
                <a:lnTo>
                  <a:pt x="206275" y="15239"/>
                </a:lnTo>
                <a:lnTo>
                  <a:pt x="201809" y="16509"/>
                </a:lnTo>
                <a:lnTo>
                  <a:pt x="176572" y="45719"/>
                </a:lnTo>
                <a:lnTo>
                  <a:pt x="176790" y="49529"/>
                </a:lnTo>
                <a:lnTo>
                  <a:pt x="176866" y="149859"/>
                </a:lnTo>
                <a:lnTo>
                  <a:pt x="177022" y="152399"/>
                </a:lnTo>
                <a:lnTo>
                  <a:pt x="177331" y="154939"/>
                </a:lnTo>
                <a:lnTo>
                  <a:pt x="41085" y="154939"/>
                </a:lnTo>
                <a:lnTo>
                  <a:pt x="15972" y="184149"/>
                </a:lnTo>
                <a:lnTo>
                  <a:pt x="16177" y="187959"/>
                </a:lnTo>
                <a:lnTo>
                  <a:pt x="16246" y="287019"/>
                </a:lnTo>
                <a:lnTo>
                  <a:pt x="41272" y="321309"/>
                </a:lnTo>
                <a:lnTo>
                  <a:pt x="71799" y="321309"/>
                </a:lnTo>
                <a:lnTo>
                  <a:pt x="74767" y="322579"/>
                </a:lnTo>
                <a:lnTo>
                  <a:pt x="77400" y="323849"/>
                </a:lnTo>
                <a:lnTo>
                  <a:pt x="79832" y="326389"/>
                </a:lnTo>
                <a:lnTo>
                  <a:pt x="80847" y="330199"/>
                </a:lnTo>
                <a:lnTo>
                  <a:pt x="80446" y="334009"/>
                </a:lnTo>
                <a:lnTo>
                  <a:pt x="80320" y="341629"/>
                </a:lnTo>
                <a:lnTo>
                  <a:pt x="80194" y="349249"/>
                </a:lnTo>
                <a:lnTo>
                  <a:pt x="80091" y="354329"/>
                </a:lnTo>
                <a:lnTo>
                  <a:pt x="79573" y="375919"/>
                </a:lnTo>
                <a:lnTo>
                  <a:pt x="79333" y="383539"/>
                </a:lnTo>
                <a:lnTo>
                  <a:pt x="101469" y="383539"/>
                </a:lnTo>
                <a:lnTo>
                  <a:pt x="100142" y="384809"/>
                </a:lnTo>
                <a:lnTo>
                  <a:pt x="92432" y="392429"/>
                </a:lnTo>
                <a:lnTo>
                  <a:pt x="82789" y="402589"/>
                </a:lnTo>
                <a:lnTo>
                  <a:pt x="72245" y="412749"/>
                </a:lnTo>
                <a:lnTo>
                  <a:pt x="66274" y="419099"/>
                </a:lnTo>
                <a:close/>
              </a:path>
              <a:path w="428625" h="419100">
                <a:moveTo>
                  <a:pt x="210895" y="16509"/>
                </a:moveTo>
                <a:lnTo>
                  <a:pt x="206275" y="15239"/>
                </a:lnTo>
                <a:lnTo>
                  <a:pt x="253517" y="15239"/>
                </a:lnTo>
                <a:lnTo>
                  <a:pt x="210895" y="16509"/>
                </a:lnTo>
                <a:close/>
              </a:path>
              <a:path w="428625" h="419100">
                <a:moveTo>
                  <a:pt x="381470" y="16509"/>
                </a:moveTo>
                <a:lnTo>
                  <a:pt x="338804" y="15239"/>
                </a:lnTo>
                <a:lnTo>
                  <a:pt x="386091" y="15239"/>
                </a:lnTo>
                <a:lnTo>
                  <a:pt x="381470" y="16509"/>
                </a:lnTo>
                <a:close/>
              </a:path>
              <a:path w="428625" h="419100">
                <a:moveTo>
                  <a:pt x="367167" y="245109"/>
                </a:moveTo>
                <a:lnTo>
                  <a:pt x="352240" y="245109"/>
                </a:lnTo>
                <a:lnTo>
                  <a:pt x="352100" y="240029"/>
                </a:lnTo>
                <a:lnTo>
                  <a:pt x="352030" y="237489"/>
                </a:lnTo>
                <a:lnTo>
                  <a:pt x="351925" y="233679"/>
                </a:lnTo>
                <a:lnTo>
                  <a:pt x="351855" y="231139"/>
                </a:lnTo>
                <a:lnTo>
                  <a:pt x="351750" y="227329"/>
                </a:lnTo>
                <a:lnTo>
                  <a:pt x="351693" y="224789"/>
                </a:lnTo>
                <a:lnTo>
                  <a:pt x="351607" y="220979"/>
                </a:lnTo>
                <a:lnTo>
                  <a:pt x="351494" y="215899"/>
                </a:lnTo>
                <a:lnTo>
                  <a:pt x="351408" y="212089"/>
                </a:lnTo>
                <a:lnTo>
                  <a:pt x="351300" y="205739"/>
                </a:lnTo>
                <a:lnTo>
                  <a:pt x="351235" y="201929"/>
                </a:lnTo>
                <a:lnTo>
                  <a:pt x="351127" y="195579"/>
                </a:lnTo>
                <a:lnTo>
                  <a:pt x="350877" y="193039"/>
                </a:lnTo>
                <a:lnTo>
                  <a:pt x="350752" y="191769"/>
                </a:lnTo>
                <a:lnTo>
                  <a:pt x="351787" y="187959"/>
                </a:lnTo>
                <a:lnTo>
                  <a:pt x="354232" y="185419"/>
                </a:lnTo>
                <a:lnTo>
                  <a:pt x="356834" y="182879"/>
                </a:lnTo>
                <a:lnTo>
                  <a:pt x="390308" y="182879"/>
                </a:lnTo>
                <a:lnTo>
                  <a:pt x="398905" y="179069"/>
                </a:lnTo>
                <a:lnTo>
                  <a:pt x="415623" y="153669"/>
                </a:lnTo>
                <a:lnTo>
                  <a:pt x="415563" y="152399"/>
                </a:lnTo>
                <a:lnTo>
                  <a:pt x="415454" y="49529"/>
                </a:lnTo>
                <a:lnTo>
                  <a:pt x="390546" y="16509"/>
                </a:lnTo>
                <a:lnTo>
                  <a:pt x="386091" y="15239"/>
                </a:lnTo>
                <a:lnTo>
                  <a:pt x="417453" y="15239"/>
                </a:lnTo>
                <a:lnTo>
                  <a:pt x="421400" y="19049"/>
                </a:lnTo>
                <a:lnTo>
                  <a:pt x="425734" y="25399"/>
                </a:lnTo>
                <a:lnTo>
                  <a:pt x="428625" y="31749"/>
                </a:lnTo>
                <a:lnTo>
                  <a:pt x="428625" y="172719"/>
                </a:lnTo>
                <a:lnTo>
                  <a:pt x="425285" y="177799"/>
                </a:lnTo>
                <a:lnTo>
                  <a:pt x="420193" y="185419"/>
                </a:lnTo>
                <a:lnTo>
                  <a:pt x="413594" y="190499"/>
                </a:lnTo>
                <a:lnTo>
                  <a:pt x="405486" y="193039"/>
                </a:lnTo>
                <a:lnTo>
                  <a:pt x="397729" y="196849"/>
                </a:lnTo>
                <a:lnTo>
                  <a:pt x="389548" y="199389"/>
                </a:lnTo>
                <a:lnTo>
                  <a:pt x="367353" y="199389"/>
                </a:lnTo>
                <a:lnTo>
                  <a:pt x="367291" y="240029"/>
                </a:lnTo>
                <a:lnTo>
                  <a:pt x="367167" y="245109"/>
                </a:lnTo>
                <a:close/>
              </a:path>
              <a:path w="428625" h="419100">
                <a:moveTo>
                  <a:pt x="382777" y="78739"/>
                </a:moveTo>
                <a:lnTo>
                  <a:pt x="211931" y="78739"/>
                </a:lnTo>
                <a:lnTo>
                  <a:pt x="209860" y="77469"/>
                </a:lnTo>
                <a:lnTo>
                  <a:pt x="206429" y="73659"/>
                </a:lnTo>
                <a:lnTo>
                  <a:pt x="205571" y="72389"/>
                </a:lnTo>
                <a:lnTo>
                  <a:pt x="205571" y="67309"/>
                </a:lnTo>
                <a:lnTo>
                  <a:pt x="206429" y="64769"/>
                </a:lnTo>
                <a:lnTo>
                  <a:pt x="209860" y="62229"/>
                </a:lnTo>
                <a:lnTo>
                  <a:pt x="211931" y="60959"/>
                </a:lnTo>
                <a:lnTo>
                  <a:pt x="382777" y="60959"/>
                </a:lnTo>
                <a:lnTo>
                  <a:pt x="384848" y="62229"/>
                </a:lnTo>
                <a:lnTo>
                  <a:pt x="388280" y="64769"/>
                </a:lnTo>
                <a:lnTo>
                  <a:pt x="389138" y="67309"/>
                </a:lnTo>
                <a:lnTo>
                  <a:pt x="389138" y="72389"/>
                </a:lnTo>
                <a:lnTo>
                  <a:pt x="388280" y="73659"/>
                </a:lnTo>
                <a:lnTo>
                  <a:pt x="384848" y="77469"/>
                </a:lnTo>
                <a:lnTo>
                  <a:pt x="382777" y="78739"/>
                </a:lnTo>
                <a:close/>
              </a:path>
              <a:path w="428625" h="419100">
                <a:moveTo>
                  <a:pt x="325563" y="124459"/>
                </a:moveTo>
                <a:lnTo>
                  <a:pt x="214944" y="124459"/>
                </a:lnTo>
                <a:lnTo>
                  <a:pt x="211513" y="120649"/>
                </a:lnTo>
                <a:lnTo>
                  <a:pt x="210655" y="118109"/>
                </a:lnTo>
                <a:lnTo>
                  <a:pt x="210655" y="114299"/>
                </a:lnTo>
                <a:lnTo>
                  <a:pt x="211513" y="111759"/>
                </a:lnTo>
                <a:lnTo>
                  <a:pt x="214944" y="107949"/>
                </a:lnTo>
                <a:lnTo>
                  <a:pt x="325563" y="107949"/>
                </a:lnTo>
                <a:lnTo>
                  <a:pt x="328995" y="111759"/>
                </a:lnTo>
                <a:lnTo>
                  <a:pt x="329852" y="114299"/>
                </a:lnTo>
                <a:lnTo>
                  <a:pt x="329852" y="118109"/>
                </a:lnTo>
                <a:lnTo>
                  <a:pt x="328995" y="120649"/>
                </a:lnTo>
                <a:lnTo>
                  <a:pt x="325563" y="124459"/>
                </a:lnTo>
                <a:close/>
              </a:path>
              <a:path w="428625" h="419100">
                <a:moveTo>
                  <a:pt x="366299" y="280669"/>
                </a:moveTo>
                <a:lnTo>
                  <a:pt x="359328" y="274319"/>
                </a:lnTo>
                <a:lnTo>
                  <a:pt x="353412" y="267969"/>
                </a:lnTo>
                <a:lnTo>
                  <a:pt x="331482" y="246379"/>
                </a:lnTo>
                <a:lnTo>
                  <a:pt x="324831" y="240029"/>
                </a:lnTo>
                <a:lnTo>
                  <a:pt x="318383" y="233679"/>
                </a:lnTo>
                <a:lnTo>
                  <a:pt x="311002" y="224789"/>
                </a:lnTo>
                <a:lnTo>
                  <a:pt x="310592" y="224789"/>
                </a:lnTo>
                <a:lnTo>
                  <a:pt x="280362" y="199389"/>
                </a:lnTo>
                <a:lnTo>
                  <a:pt x="202753" y="199389"/>
                </a:lnTo>
                <a:lnTo>
                  <a:pt x="194533" y="196849"/>
                </a:lnTo>
                <a:lnTo>
                  <a:pt x="164212" y="170179"/>
                </a:lnTo>
                <a:lnTo>
                  <a:pt x="161047" y="154939"/>
                </a:lnTo>
                <a:lnTo>
                  <a:pt x="177331" y="154939"/>
                </a:lnTo>
                <a:lnTo>
                  <a:pt x="180979" y="166369"/>
                </a:lnTo>
                <a:lnTo>
                  <a:pt x="188153" y="175259"/>
                </a:lnTo>
                <a:lnTo>
                  <a:pt x="198468" y="181609"/>
                </a:lnTo>
                <a:lnTo>
                  <a:pt x="211540" y="182879"/>
                </a:lnTo>
                <a:lnTo>
                  <a:pt x="287293" y="182879"/>
                </a:lnTo>
                <a:lnTo>
                  <a:pt x="293209" y="185419"/>
                </a:lnTo>
                <a:lnTo>
                  <a:pt x="297940" y="190499"/>
                </a:lnTo>
                <a:lnTo>
                  <a:pt x="304376" y="196849"/>
                </a:lnTo>
                <a:lnTo>
                  <a:pt x="310944" y="203199"/>
                </a:lnTo>
                <a:lnTo>
                  <a:pt x="317380" y="209549"/>
                </a:lnTo>
                <a:lnTo>
                  <a:pt x="323421" y="215899"/>
                </a:lnTo>
                <a:lnTo>
                  <a:pt x="330144" y="223519"/>
                </a:lnTo>
                <a:lnTo>
                  <a:pt x="337188" y="231139"/>
                </a:lnTo>
                <a:lnTo>
                  <a:pt x="344553" y="238759"/>
                </a:lnTo>
                <a:lnTo>
                  <a:pt x="352240" y="245109"/>
                </a:lnTo>
                <a:lnTo>
                  <a:pt x="367167" y="245109"/>
                </a:lnTo>
                <a:lnTo>
                  <a:pt x="366299" y="280669"/>
                </a:lnTo>
                <a:close/>
              </a:path>
              <a:path w="428625" h="419100">
                <a:moveTo>
                  <a:pt x="257918" y="322579"/>
                </a:moveTo>
                <a:lnTo>
                  <a:pt x="224729" y="322579"/>
                </a:lnTo>
                <a:lnTo>
                  <a:pt x="229280" y="321309"/>
                </a:lnTo>
                <a:lnTo>
                  <a:pt x="238094" y="317499"/>
                </a:lnTo>
                <a:lnTo>
                  <a:pt x="255042" y="292099"/>
                </a:lnTo>
                <a:lnTo>
                  <a:pt x="254711" y="287019"/>
                </a:lnTo>
                <a:lnTo>
                  <a:pt x="254710" y="199389"/>
                </a:lnTo>
                <a:lnTo>
                  <a:pt x="271112" y="199389"/>
                </a:lnTo>
                <a:lnTo>
                  <a:pt x="271024" y="201929"/>
                </a:lnTo>
                <a:lnTo>
                  <a:pt x="270898" y="240029"/>
                </a:lnTo>
                <a:lnTo>
                  <a:pt x="270840" y="293369"/>
                </a:lnTo>
                <a:lnTo>
                  <a:pt x="264907" y="312419"/>
                </a:lnTo>
                <a:lnTo>
                  <a:pt x="261224" y="318769"/>
                </a:lnTo>
                <a:lnTo>
                  <a:pt x="259111" y="321309"/>
                </a:lnTo>
                <a:lnTo>
                  <a:pt x="257918" y="322579"/>
                </a:lnTo>
                <a:close/>
              </a:path>
              <a:path w="428625" h="419100">
                <a:moveTo>
                  <a:pt x="158076" y="222249"/>
                </a:moveTo>
                <a:lnTo>
                  <a:pt x="47457" y="222249"/>
                </a:lnTo>
                <a:lnTo>
                  <a:pt x="44025" y="218439"/>
                </a:lnTo>
                <a:lnTo>
                  <a:pt x="43168" y="215899"/>
                </a:lnTo>
                <a:lnTo>
                  <a:pt x="43168" y="210819"/>
                </a:lnTo>
                <a:lnTo>
                  <a:pt x="44025" y="209549"/>
                </a:lnTo>
                <a:lnTo>
                  <a:pt x="47457" y="205739"/>
                </a:lnTo>
                <a:lnTo>
                  <a:pt x="49528" y="204469"/>
                </a:lnTo>
                <a:lnTo>
                  <a:pt x="156005" y="204469"/>
                </a:lnTo>
                <a:lnTo>
                  <a:pt x="158076" y="205739"/>
                </a:lnTo>
                <a:lnTo>
                  <a:pt x="161507" y="209549"/>
                </a:lnTo>
                <a:lnTo>
                  <a:pt x="162365" y="210819"/>
                </a:lnTo>
                <a:lnTo>
                  <a:pt x="162365" y="215899"/>
                </a:lnTo>
                <a:lnTo>
                  <a:pt x="161507" y="218439"/>
                </a:lnTo>
                <a:lnTo>
                  <a:pt x="158076" y="222249"/>
                </a:lnTo>
                <a:close/>
              </a:path>
              <a:path w="428625" h="419100">
                <a:moveTo>
                  <a:pt x="221736" y="269239"/>
                </a:moveTo>
                <a:lnTo>
                  <a:pt x="46748" y="269239"/>
                </a:lnTo>
                <a:lnTo>
                  <a:pt x="43317" y="265429"/>
                </a:lnTo>
                <a:lnTo>
                  <a:pt x="42459" y="262889"/>
                </a:lnTo>
                <a:lnTo>
                  <a:pt x="42459" y="259079"/>
                </a:lnTo>
                <a:lnTo>
                  <a:pt x="43317" y="256539"/>
                </a:lnTo>
                <a:lnTo>
                  <a:pt x="46748" y="252729"/>
                </a:lnTo>
                <a:lnTo>
                  <a:pt x="221736" y="252729"/>
                </a:lnTo>
                <a:lnTo>
                  <a:pt x="225168" y="256539"/>
                </a:lnTo>
                <a:lnTo>
                  <a:pt x="226026" y="259079"/>
                </a:lnTo>
                <a:lnTo>
                  <a:pt x="226026" y="262889"/>
                </a:lnTo>
                <a:lnTo>
                  <a:pt x="225168" y="265429"/>
                </a:lnTo>
                <a:lnTo>
                  <a:pt x="221736" y="269239"/>
                </a:lnTo>
                <a:close/>
              </a:path>
              <a:path w="428625" h="419100">
                <a:moveTo>
                  <a:pt x="101469" y="383539"/>
                </a:moveTo>
                <a:lnTo>
                  <a:pt x="79333" y="383539"/>
                </a:lnTo>
                <a:lnTo>
                  <a:pt x="87028" y="377189"/>
                </a:lnTo>
                <a:lnTo>
                  <a:pt x="94397" y="369569"/>
                </a:lnTo>
                <a:lnTo>
                  <a:pt x="101438" y="361949"/>
                </a:lnTo>
                <a:lnTo>
                  <a:pt x="108152" y="354329"/>
                </a:lnTo>
                <a:lnTo>
                  <a:pt x="114219" y="347979"/>
                </a:lnTo>
                <a:lnTo>
                  <a:pt x="120658" y="341629"/>
                </a:lnTo>
                <a:lnTo>
                  <a:pt x="127230" y="335279"/>
                </a:lnTo>
                <a:lnTo>
                  <a:pt x="133692" y="328929"/>
                </a:lnTo>
                <a:lnTo>
                  <a:pt x="138404" y="323849"/>
                </a:lnTo>
                <a:lnTo>
                  <a:pt x="144301" y="321309"/>
                </a:lnTo>
                <a:lnTo>
                  <a:pt x="220033" y="321309"/>
                </a:lnTo>
                <a:lnTo>
                  <a:pt x="224729" y="322579"/>
                </a:lnTo>
                <a:lnTo>
                  <a:pt x="257918" y="322579"/>
                </a:lnTo>
                <a:lnTo>
                  <a:pt x="254339" y="326389"/>
                </a:lnTo>
                <a:lnTo>
                  <a:pt x="251732" y="327659"/>
                </a:lnTo>
                <a:lnTo>
                  <a:pt x="246077" y="331469"/>
                </a:lnTo>
                <a:lnTo>
                  <a:pt x="243089" y="332739"/>
                </a:lnTo>
                <a:lnTo>
                  <a:pt x="236792" y="335279"/>
                </a:lnTo>
                <a:lnTo>
                  <a:pt x="233551" y="336549"/>
                </a:lnTo>
                <a:lnTo>
                  <a:pt x="226883" y="337819"/>
                </a:lnTo>
                <a:lnTo>
                  <a:pt x="151310" y="337819"/>
                </a:lnTo>
                <a:lnTo>
                  <a:pt x="144767" y="341629"/>
                </a:lnTo>
                <a:lnTo>
                  <a:pt x="140918" y="344169"/>
                </a:lnTo>
                <a:lnTo>
                  <a:pt x="134467" y="349249"/>
                </a:lnTo>
                <a:lnTo>
                  <a:pt x="124495" y="359409"/>
                </a:lnTo>
                <a:lnTo>
                  <a:pt x="120981" y="363219"/>
                </a:lnTo>
                <a:lnTo>
                  <a:pt x="120629" y="363219"/>
                </a:lnTo>
                <a:lnTo>
                  <a:pt x="106776" y="378459"/>
                </a:lnTo>
                <a:lnTo>
                  <a:pt x="101469" y="383539"/>
                </a:lnTo>
                <a:close/>
              </a:path>
            </a:pathLst>
          </a:custGeom>
          <a:solidFill>
            <a:srgbClr val="F166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1397657" y="1555000"/>
            <a:ext cx="1710055" cy="2209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 spc="-30" b="1">
                <a:latin typeface="Trebuchet MS"/>
                <a:cs typeface="Trebuchet MS"/>
              </a:rPr>
              <a:t>Trusted</a:t>
            </a:r>
            <a:r>
              <a:rPr dirty="0" sz="1250" spc="-229" b="1">
                <a:latin typeface="Trebuchet MS"/>
                <a:cs typeface="Trebuchet MS"/>
              </a:rPr>
              <a:t> </a:t>
            </a:r>
            <a:r>
              <a:rPr dirty="0" sz="1250" b="1">
                <a:latin typeface="Trebuchet MS"/>
                <a:cs typeface="Trebuchet MS"/>
              </a:rPr>
              <a:t>By</a:t>
            </a:r>
            <a:r>
              <a:rPr dirty="0" sz="1250" spc="-229" b="1">
                <a:latin typeface="Trebuchet MS"/>
                <a:cs typeface="Trebuchet MS"/>
              </a:rPr>
              <a:t> </a:t>
            </a:r>
            <a:r>
              <a:rPr dirty="0" sz="1250" spc="55" b="1">
                <a:latin typeface="Trebuchet MS"/>
                <a:cs typeface="Trebuchet MS"/>
              </a:rPr>
              <a:t>7000+SMEs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016000" y="9647656"/>
            <a:ext cx="1519555" cy="208279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200" spc="-10">
                <a:solidFill>
                  <a:srgbClr val="092A3B"/>
                </a:solidFill>
                <a:latin typeface="Trebuchet MS"/>
                <a:cs typeface="Trebuchet MS"/>
                <a:hlinkClick r:id="rId8"/>
              </a:rPr>
              <a:t>www.finanshels.com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7157563" y="9690726"/>
            <a:ext cx="261620" cy="268605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600" spc="60">
                <a:solidFill>
                  <a:srgbClr val="0D2E32"/>
                </a:solidFill>
                <a:latin typeface="Trebuchet MS"/>
                <a:cs typeface="Trebuchet MS"/>
              </a:rPr>
              <a:t>05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37" name="object 3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05"/>
              <a:t>Your</a:t>
            </a:r>
            <a:r>
              <a:rPr dirty="0" spc="-585"/>
              <a:t> </a:t>
            </a:r>
            <a:r>
              <a:rPr dirty="0" spc="70"/>
              <a:t>Onboarding</a:t>
            </a:r>
            <a:r>
              <a:rPr dirty="0" spc="-575"/>
              <a:t> </a:t>
            </a:r>
            <a:r>
              <a:rPr dirty="0" spc="80"/>
              <a:t>Roadmap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2132897" y="4095382"/>
            <a:ext cx="647700" cy="5854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650" spc="375">
                <a:solidFill>
                  <a:srgbClr val="F1660F"/>
                </a:solidFill>
                <a:latin typeface="Arial MT"/>
                <a:cs typeface="Arial MT"/>
              </a:rPr>
              <a:t>01</a:t>
            </a:r>
            <a:endParaRPr sz="365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539728" y="4095382"/>
            <a:ext cx="647700" cy="5854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650" spc="375">
                <a:solidFill>
                  <a:srgbClr val="F1660F"/>
                </a:solidFill>
                <a:latin typeface="Arial MT"/>
                <a:cs typeface="Arial MT"/>
              </a:rPr>
              <a:t>02</a:t>
            </a:r>
            <a:endParaRPr sz="365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820138" y="4095382"/>
            <a:ext cx="647700" cy="5854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650" spc="375">
                <a:solidFill>
                  <a:srgbClr val="F1660F"/>
                </a:solidFill>
                <a:latin typeface="Arial MT"/>
                <a:cs typeface="Arial MT"/>
              </a:rPr>
              <a:t>03</a:t>
            </a:r>
            <a:endParaRPr sz="365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2179686" y="4095382"/>
            <a:ext cx="647700" cy="5854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650" spc="375">
                <a:solidFill>
                  <a:srgbClr val="F1660F"/>
                </a:solidFill>
                <a:latin typeface="Arial MT"/>
                <a:cs typeface="Arial MT"/>
              </a:rPr>
              <a:t>04</a:t>
            </a:r>
            <a:endParaRPr sz="365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5620987" y="4095382"/>
            <a:ext cx="647700" cy="5854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650" spc="375">
                <a:solidFill>
                  <a:srgbClr val="F1660F"/>
                </a:solidFill>
                <a:latin typeface="Arial MT"/>
                <a:cs typeface="Arial MT"/>
              </a:rPr>
              <a:t>05</a:t>
            </a:r>
            <a:endParaRPr sz="365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390362" y="5650003"/>
            <a:ext cx="22256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60" b="1">
                <a:solidFill>
                  <a:srgbClr val="092A3B"/>
                </a:solidFill>
                <a:latin typeface="Trebuchet MS"/>
                <a:cs typeface="Trebuchet MS"/>
              </a:rPr>
              <a:t>Kickoff</a:t>
            </a:r>
            <a:r>
              <a:rPr dirty="0" sz="1800" spc="-120" b="1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800" spc="-70" b="1">
                <a:solidFill>
                  <a:srgbClr val="092A3B"/>
                </a:solidFill>
                <a:latin typeface="Trebuchet MS"/>
                <a:cs typeface="Trebuchet MS"/>
              </a:rPr>
              <a:t>&amp;</a:t>
            </a:r>
            <a:r>
              <a:rPr dirty="0" sz="1800" spc="-114" b="1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800" spc="70" b="1">
                <a:solidFill>
                  <a:srgbClr val="092A3B"/>
                </a:solidFill>
                <a:latin typeface="Trebuchet MS"/>
                <a:cs typeface="Trebuchet MS"/>
              </a:rPr>
              <a:t>Discovery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749740" y="5650003"/>
            <a:ext cx="22275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70" b="1">
                <a:solidFill>
                  <a:srgbClr val="092A3B"/>
                </a:solidFill>
                <a:latin typeface="Trebuchet MS"/>
                <a:cs typeface="Trebuchet MS"/>
              </a:rPr>
              <a:t>Compliance</a:t>
            </a:r>
            <a:r>
              <a:rPr dirty="0" sz="1800" spc="-114" b="1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800" spc="40" b="1">
                <a:solidFill>
                  <a:srgbClr val="092A3B"/>
                </a:solidFill>
                <a:latin typeface="Trebuchet MS"/>
                <a:cs typeface="Trebuchet MS"/>
              </a:rPr>
              <a:t>Review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337063" y="5650003"/>
            <a:ext cx="17703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70" b="1">
                <a:solidFill>
                  <a:srgbClr val="092A3B"/>
                </a:solidFill>
                <a:latin typeface="Trebuchet MS"/>
                <a:cs typeface="Trebuchet MS"/>
              </a:rPr>
              <a:t>Software</a:t>
            </a:r>
            <a:r>
              <a:rPr dirty="0" sz="1800" spc="-110" b="1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800" spc="70" b="1">
                <a:solidFill>
                  <a:srgbClr val="092A3B"/>
                </a:solidFill>
                <a:latin typeface="Trebuchet MS"/>
                <a:cs typeface="Trebuchet MS"/>
              </a:rPr>
              <a:t>Setup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1886258" y="5650003"/>
            <a:ext cx="13963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80" b="1">
                <a:solidFill>
                  <a:srgbClr val="092A3B"/>
                </a:solidFill>
                <a:latin typeface="Trebuchet MS"/>
                <a:cs typeface="Trebuchet MS"/>
              </a:rPr>
              <a:t>Secure</a:t>
            </a:r>
            <a:r>
              <a:rPr dirty="0" sz="1800" spc="-120" b="1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800" spc="45" b="1">
                <a:solidFill>
                  <a:srgbClr val="092A3B"/>
                </a:solidFill>
                <a:latin typeface="Trebuchet MS"/>
                <a:cs typeface="Trebuchet MS"/>
              </a:rPr>
              <a:t>Data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4940537" y="5609998"/>
            <a:ext cx="2008505" cy="654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61975" marR="5080" indent="-549910">
              <a:lnSpc>
                <a:spcPct val="114599"/>
              </a:lnSpc>
              <a:spcBef>
                <a:spcPts val="100"/>
              </a:spcBef>
            </a:pPr>
            <a:r>
              <a:rPr dirty="0" sz="1800" spc="65" b="1">
                <a:solidFill>
                  <a:srgbClr val="092A3B"/>
                </a:solidFill>
                <a:latin typeface="Trebuchet MS"/>
                <a:cs typeface="Trebuchet MS"/>
              </a:rPr>
              <a:t>Communication</a:t>
            </a:r>
            <a:r>
              <a:rPr dirty="0" sz="1800" spc="-125" b="1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800" spc="-50" b="1">
                <a:solidFill>
                  <a:srgbClr val="092A3B"/>
                </a:solidFill>
                <a:latin typeface="Trebuchet MS"/>
                <a:cs typeface="Trebuchet MS"/>
              </a:rPr>
              <a:t>&amp; </a:t>
            </a:r>
            <a:r>
              <a:rPr dirty="0" sz="1800" spc="135" b="1">
                <a:solidFill>
                  <a:srgbClr val="092A3B"/>
                </a:solidFill>
                <a:latin typeface="Trebuchet MS"/>
                <a:cs typeface="Trebuchet MS"/>
              </a:rPr>
              <a:t>Go-</a:t>
            </a:r>
            <a:r>
              <a:rPr dirty="0" sz="1800" spc="-20" b="1">
                <a:solidFill>
                  <a:srgbClr val="092A3B"/>
                </a:solidFill>
                <a:latin typeface="Trebuchet MS"/>
                <a:cs typeface="Trebuchet MS"/>
              </a:rPr>
              <a:t>Live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377283" y="6502780"/>
            <a:ext cx="2252345" cy="5016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3810">
              <a:lnSpc>
                <a:spcPct val="115700"/>
              </a:lnSpc>
              <a:spcBef>
                <a:spcPts val="95"/>
              </a:spcBef>
            </a:pPr>
            <a:r>
              <a:rPr dirty="0" sz="1350">
                <a:solidFill>
                  <a:srgbClr val="3C3C3F"/>
                </a:solidFill>
                <a:latin typeface="Trebuchet MS"/>
                <a:cs typeface="Trebuchet MS"/>
              </a:rPr>
              <a:t>Understanding</a:t>
            </a:r>
            <a:r>
              <a:rPr dirty="0" sz="1350" spc="-6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C3C3F"/>
                </a:solidFill>
                <a:latin typeface="Trebuchet MS"/>
                <a:cs typeface="Trebuchet MS"/>
              </a:rPr>
              <a:t>your</a:t>
            </a:r>
            <a:r>
              <a:rPr dirty="0" sz="1350" spc="-6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3C3C3F"/>
                </a:solidFill>
                <a:latin typeface="Trebuchet MS"/>
                <a:cs typeface="Trebuchet MS"/>
              </a:rPr>
              <a:t>business model</a:t>
            </a:r>
            <a:r>
              <a:rPr dirty="0" sz="1350" spc="-9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C3C3F"/>
                </a:solidFill>
                <a:latin typeface="Trebuchet MS"/>
                <a:cs typeface="Trebuchet MS"/>
              </a:rPr>
              <a:t>and</a:t>
            </a:r>
            <a:r>
              <a:rPr dirty="0" sz="1350" spc="-85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350" spc="-45">
                <a:solidFill>
                  <a:srgbClr val="3C3C3F"/>
                </a:solidFill>
                <a:latin typeface="Trebuchet MS"/>
                <a:cs typeface="Trebuchet MS"/>
              </a:rPr>
              <a:t>financial</a:t>
            </a:r>
            <a:r>
              <a:rPr dirty="0" sz="1350" spc="-85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350" spc="-35">
                <a:solidFill>
                  <a:srgbClr val="3C3C3F"/>
                </a:solidFill>
                <a:latin typeface="Trebuchet MS"/>
                <a:cs typeface="Trebuchet MS"/>
              </a:rPr>
              <a:t>structure.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774612" y="6502780"/>
            <a:ext cx="2178050" cy="5016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49935" marR="5080" indent="-737870">
              <a:lnSpc>
                <a:spcPct val="115700"/>
              </a:lnSpc>
              <a:spcBef>
                <a:spcPts val="95"/>
              </a:spcBef>
            </a:pPr>
            <a:r>
              <a:rPr dirty="0" sz="1350">
                <a:solidFill>
                  <a:srgbClr val="3C3C3F"/>
                </a:solidFill>
                <a:latin typeface="Trebuchet MS"/>
                <a:cs typeface="Trebuchet MS"/>
              </a:rPr>
              <a:t>CT,</a:t>
            </a:r>
            <a:r>
              <a:rPr dirty="0" sz="1350" spc="-105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350" spc="75">
                <a:solidFill>
                  <a:srgbClr val="3C3C3F"/>
                </a:solidFill>
                <a:latin typeface="Trebuchet MS"/>
                <a:cs typeface="Trebuchet MS"/>
              </a:rPr>
              <a:t>VAT</a:t>
            </a:r>
            <a:r>
              <a:rPr dirty="0" sz="1350" spc="-105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C3C3F"/>
                </a:solidFill>
                <a:latin typeface="Trebuchet MS"/>
                <a:cs typeface="Trebuchet MS"/>
              </a:rPr>
              <a:t>and</a:t>
            </a:r>
            <a:r>
              <a:rPr dirty="0" sz="1350" spc="-105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350" spc="120">
                <a:solidFill>
                  <a:srgbClr val="3C3C3F"/>
                </a:solidFill>
                <a:latin typeface="Trebuchet MS"/>
                <a:cs typeface="Trebuchet MS"/>
              </a:rPr>
              <a:t>WPS</a:t>
            </a:r>
            <a:r>
              <a:rPr dirty="0" sz="1350" spc="-105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350" spc="-20">
                <a:solidFill>
                  <a:srgbClr val="3C3C3F"/>
                </a:solidFill>
                <a:latin typeface="Trebuchet MS"/>
                <a:cs typeface="Trebuchet MS"/>
              </a:rPr>
              <a:t>aligned</a:t>
            </a:r>
            <a:r>
              <a:rPr dirty="0" sz="1350" spc="-105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350" spc="-25">
                <a:solidFill>
                  <a:srgbClr val="3C3C3F"/>
                </a:solidFill>
                <a:latin typeface="Trebuchet MS"/>
                <a:cs typeface="Trebuchet MS"/>
              </a:rPr>
              <a:t>to </a:t>
            </a:r>
            <a:r>
              <a:rPr dirty="0" sz="1350" spc="75">
                <a:solidFill>
                  <a:srgbClr val="3C3C3F"/>
                </a:solidFill>
                <a:latin typeface="Trebuchet MS"/>
                <a:cs typeface="Trebuchet MS"/>
              </a:rPr>
              <a:t>UAE</a:t>
            </a:r>
            <a:r>
              <a:rPr dirty="0" sz="1350" spc="-145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350" spc="-20">
                <a:solidFill>
                  <a:srgbClr val="3C3C3F"/>
                </a:solidFill>
                <a:latin typeface="Trebuchet MS"/>
                <a:cs typeface="Trebuchet MS"/>
              </a:rPr>
              <a:t>law.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248943" y="6502780"/>
            <a:ext cx="2051050" cy="5016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5244" marR="5080" indent="-43180">
              <a:lnSpc>
                <a:spcPct val="115700"/>
              </a:lnSpc>
              <a:spcBef>
                <a:spcPts val="95"/>
              </a:spcBef>
            </a:pPr>
            <a:r>
              <a:rPr dirty="0" sz="1350">
                <a:solidFill>
                  <a:srgbClr val="3C3C3F"/>
                </a:solidFill>
                <a:latin typeface="Trebuchet MS"/>
                <a:cs typeface="Trebuchet MS"/>
              </a:rPr>
              <a:t>Configuring</a:t>
            </a:r>
            <a:r>
              <a:rPr dirty="0" sz="1350" spc="-9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C3C3F"/>
                </a:solidFill>
                <a:latin typeface="Trebuchet MS"/>
                <a:cs typeface="Trebuchet MS"/>
              </a:rPr>
              <a:t>and</a:t>
            </a:r>
            <a:r>
              <a:rPr dirty="0" sz="1350" spc="-9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3C3C3F"/>
                </a:solidFill>
                <a:latin typeface="Trebuchet MS"/>
                <a:cs typeface="Trebuchet MS"/>
              </a:rPr>
              <a:t>optimising </a:t>
            </a:r>
            <a:r>
              <a:rPr dirty="0" sz="1350">
                <a:solidFill>
                  <a:srgbClr val="3C3C3F"/>
                </a:solidFill>
                <a:latin typeface="Trebuchet MS"/>
                <a:cs typeface="Trebuchet MS"/>
              </a:rPr>
              <a:t>your</a:t>
            </a:r>
            <a:r>
              <a:rPr dirty="0" sz="1350" spc="-105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C3C3F"/>
                </a:solidFill>
                <a:latin typeface="Trebuchet MS"/>
                <a:cs typeface="Trebuchet MS"/>
              </a:rPr>
              <a:t>accounting</a:t>
            </a:r>
            <a:r>
              <a:rPr dirty="0" sz="1350" spc="-10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3C3C3F"/>
                </a:solidFill>
                <a:latin typeface="Trebuchet MS"/>
                <a:cs typeface="Trebuchet MS"/>
              </a:rPr>
              <a:t>platform.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1464197" y="6502780"/>
            <a:ext cx="2240280" cy="5016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40995" marR="5080" indent="-328930">
              <a:lnSpc>
                <a:spcPct val="115700"/>
              </a:lnSpc>
              <a:spcBef>
                <a:spcPts val="95"/>
              </a:spcBef>
            </a:pPr>
            <a:r>
              <a:rPr dirty="0" sz="1350">
                <a:solidFill>
                  <a:srgbClr val="3C3C3F"/>
                </a:solidFill>
                <a:latin typeface="Trebuchet MS"/>
                <a:cs typeface="Trebuchet MS"/>
              </a:rPr>
              <a:t>Organising</a:t>
            </a:r>
            <a:r>
              <a:rPr dirty="0" sz="1350" spc="-4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C3C3F"/>
                </a:solidFill>
                <a:latin typeface="Trebuchet MS"/>
                <a:cs typeface="Trebuchet MS"/>
              </a:rPr>
              <a:t>and</a:t>
            </a:r>
            <a:r>
              <a:rPr dirty="0" sz="1350" spc="-4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C3C3F"/>
                </a:solidFill>
                <a:latin typeface="Trebuchet MS"/>
                <a:cs typeface="Trebuchet MS"/>
              </a:rPr>
              <a:t>securing</a:t>
            </a:r>
            <a:r>
              <a:rPr dirty="0" sz="1350" spc="-4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350" spc="-20">
                <a:solidFill>
                  <a:srgbClr val="3C3C3F"/>
                </a:solidFill>
                <a:latin typeface="Trebuchet MS"/>
                <a:cs typeface="Trebuchet MS"/>
              </a:rPr>
              <a:t>your </a:t>
            </a:r>
            <a:r>
              <a:rPr dirty="0" sz="1350" spc="-45">
                <a:solidFill>
                  <a:srgbClr val="3C3C3F"/>
                </a:solidFill>
                <a:latin typeface="Trebuchet MS"/>
                <a:cs typeface="Trebuchet MS"/>
              </a:rPr>
              <a:t>financial</a:t>
            </a:r>
            <a:r>
              <a:rPr dirty="0" sz="1350" spc="-105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3C3C3F"/>
                </a:solidFill>
                <a:latin typeface="Trebuchet MS"/>
                <a:cs typeface="Trebuchet MS"/>
              </a:rPr>
              <a:t>documents.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4815123" y="6502780"/>
            <a:ext cx="2155190" cy="5016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06755" marR="5080" indent="-694690">
              <a:lnSpc>
                <a:spcPct val="115700"/>
              </a:lnSpc>
              <a:spcBef>
                <a:spcPts val="95"/>
              </a:spcBef>
            </a:pPr>
            <a:r>
              <a:rPr dirty="0" sz="1350">
                <a:solidFill>
                  <a:srgbClr val="3C3C3F"/>
                </a:solidFill>
                <a:latin typeface="Trebuchet MS"/>
                <a:cs typeface="Trebuchet MS"/>
              </a:rPr>
              <a:t>Channels</a:t>
            </a:r>
            <a:r>
              <a:rPr dirty="0" sz="1350" spc="-85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350" spc="-35">
                <a:solidFill>
                  <a:srgbClr val="3C3C3F"/>
                </a:solidFill>
                <a:latin typeface="Trebuchet MS"/>
                <a:cs typeface="Trebuchet MS"/>
              </a:rPr>
              <a:t>set,</a:t>
            </a:r>
            <a:r>
              <a:rPr dirty="0" sz="1350" spc="-80">
                <a:solidFill>
                  <a:srgbClr val="3C3C3F"/>
                </a:solidFill>
                <a:latin typeface="Trebuchet MS"/>
                <a:cs typeface="Trebuchet MS"/>
              </a:rPr>
              <a:t> full</a:t>
            </a:r>
            <a:r>
              <a:rPr dirty="0" sz="1350" spc="-85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3C3C3F"/>
                </a:solidFill>
                <a:latin typeface="Trebuchet MS"/>
                <a:cs typeface="Trebuchet MS"/>
              </a:rPr>
              <a:t>operations launched.</a:t>
            </a:r>
            <a:endParaRPr sz="13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7657" y="1555000"/>
            <a:ext cx="1710055" cy="2209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 spc="-30" b="1">
                <a:latin typeface="Trebuchet MS"/>
                <a:cs typeface="Trebuchet MS"/>
              </a:rPr>
              <a:t>Trusted</a:t>
            </a:r>
            <a:r>
              <a:rPr dirty="0" sz="1250" spc="-229" b="1">
                <a:latin typeface="Trebuchet MS"/>
                <a:cs typeface="Trebuchet MS"/>
              </a:rPr>
              <a:t> </a:t>
            </a:r>
            <a:r>
              <a:rPr dirty="0" sz="1250" b="1">
                <a:latin typeface="Trebuchet MS"/>
                <a:cs typeface="Trebuchet MS"/>
              </a:rPr>
              <a:t>By</a:t>
            </a:r>
            <a:r>
              <a:rPr dirty="0" sz="1250" spc="-229" b="1">
                <a:latin typeface="Trebuchet MS"/>
                <a:cs typeface="Trebuchet MS"/>
              </a:rPr>
              <a:t> </a:t>
            </a:r>
            <a:r>
              <a:rPr dirty="0" sz="1250" spc="55" b="1">
                <a:latin typeface="Trebuchet MS"/>
                <a:cs typeface="Trebuchet MS"/>
              </a:rPr>
              <a:t>7000+SMEs</a:t>
            </a:r>
            <a:endParaRPr sz="125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84659" y="9722024"/>
            <a:ext cx="225674" cy="22567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9502" y="4505325"/>
            <a:ext cx="66675" cy="666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9502" y="4905375"/>
            <a:ext cx="66675" cy="666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9502" y="5305424"/>
            <a:ext cx="66675" cy="666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9502" y="5705474"/>
            <a:ext cx="66675" cy="6667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55352" y="3357695"/>
            <a:ext cx="5764530" cy="25088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0" spc="135" b="1">
                <a:solidFill>
                  <a:srgbClr val="092A3B"/>
                </a:solidFill>
                <a:latin typeface="Trebuchet MS"/>
                <a:cs typeface="Trebuchet MS"/>
              </a:rPr>
              <a:t>What</a:t>
            </a:r>
            <a:r>
              <a:rPr dirty="0" sz="4500" spc="-580" b="1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4500" spc="305" b="1">
                <a:solidFill>
                  <a:srgbClr val="092A3B"/>
                </a:solidFill>
                <a:latin typeface="Trebuchet MS"/>
                <a:cs typeface="Trebuchet MS"/>
              </a:rPr>
              <a:t>We</a:t>
            </a:r>
            <a:r>
              <a:rPr dirty="0" sz="4500" spc="-580" b="1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4500" spc="50" b="1">
                <a:solidFill>
                  <a:srgbClr val="092A3B"/>
                </a:solidFill>
                <a:latin typeface="Trebuchet MS"/>
                <a:cs typeface="Trebuchet MS"/>
              </a:rPr>
              <a:t>Understood</a:t>
            </a:r>
            <a:endParaRPr sz="4500">
              <a:latin typeface="Trebuchet MS"/>
              <a:cs typeface="Trebuchet MS"/>
            </a:endParaRPr>
          </a:p>
          <a:p>
            <a:pPr marL="379095" marR="1659889">
              <a:lnSpc>
                <a:spcPct val="154400"/>
              </a:lnSpc>
              <a:spcBef>
                <a:spcPts val="1550"/>
              </a:spcBef>
            </a:pPr>
            <a:r>
              <a:rPr dirty="0" sz="1700" spc="-50">
                <a:solidFill>
                  <a:srgbClr val="3C3C3F"/>
                </a:solidFill>
                <a:latin typeface="Trebuchet MS"/>
                <a:cs typeface="Trebuchet MS"/>
              </a:rPr>
              <a:t>Industry:</a:t>
            </a:r>
            <a:r>
              <a:rPr dirty="0" sz="1700" spc="-155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35">
                <a:solidFill>
                  <a:srgbClr val="3C3C3F"/>
                </a:solidFill>
                <a:latin typeface="Trebuchet MS"/>
                <a:cs typeface="Trebuchet MS"/>
              </a:rPr>
              <a:t>Healthcare</a:t>
            </a:r>
            <a:r>
              <a:rPr dirty="0" sz="1700" spc="-155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120">
                <a:solidFill>
                  <a:srgbClr val="3C3C3F"/>
                </a:solidFill>
                <a:latin typeface="Trebuchet MS"/>
                <a:cs typeface="Trebuchet MS"/>
              </a:rPr>
              <a:t>&amp;</a:t>
            </a:r>
            <a:r>
              <a:rPr dirty="0" sz="1700" spc="-155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3C3C3F"/>
                </a:solidFill>
                <a:latin typeface="Trebuchet MS"/>
                <a:cs typeface="Trebuchet MS"/>
              </a:rPr>
              <a:t>Medical</a:t>
            </a:r>
            <a:r>
              <a:rPr dirty="0" sz="1700" spc="-155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3C3C3F"/>
                </a:solidFill>
                <a:latin typeface="Trebuchet MS"/>
                <a:cs typeface="Trebuchet MS"/>
              </a:rPr>
              <a:t>services. </a:t>
            </a:r>
            <a:r>
              <a:rPr dirty="0" sz="1700" spc="-65">
                <a:solidFill>
                  <a:srgbClr val="3C3C3F"/>
                </a:solidFill>
                <a:latin typeface="Trebuchet MS"/>
                <a:cs typeface="Trebuchet MS"/>
              </a:rPr>
              <a:t>Entity</a:t>
            </a:r>
            <a:r>
              <a:rPr dirty="0" sz="1700" spc="-145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30">
                <a:solidFill>
                  <a:srgbClr val="3C3C3F"/>
                </a:solidFill>
                <a:latin typeface="Trebuchet MS"/>
                <a:cs typeface="Trebuchet MS"/>
              </a:rPr>
              <a:t>Type:</a:t>
            </a:r>
            <a:r>
              <a:rPr dirty="0" sz="1700" spc="-14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3C3C3F"/>
                </a:solidFill>
                <a:latin typeface="Trebuchet MS"/>
                <a:cs typeface="Trebuchet MS"/>
              </a:rPr>
              <a:t>Free</a:t>
            </a:r>
            <a:r>
              <a:rPr dirty="0" sz="1700" spc="-14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3C3C3F"/>
                </a:solidFill>
                <a:latin typeface="Trebuchet MS"/>
                <a:cs typeface="Trebuchet MS"/>
              </a:rPr>
              <a:t>Zone</a:t>
            </a:r>
            <a:r>
              <a:rPr dirty="0" sz="1700" spc="-145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3C3C3F"/>
                </a:solidFill>
                <a:latin typeface="Trebuchet MS"/>
                <a:cs typeface="Trebuchet MS"/>
              </a:rPr>
              <a:t>company.</a:t>
            </a:r>
            <a:endParaRPr sz="1700">
              <a:latin typeface="Trebuchet MS"/>
              <a:cs typeface="Trebuchet MS"/>
            </a:endParaRPr>
          </a:p>
          <a:p>
            <a:pPr marL="379095">
              <a:lnSpc>
                <a:spcPct val="100000"/>
              </a:lnSpc>
              <a:spcBef>
                <a:spcPts val="1110"/>
              </a:spcBef>
            </a:pPr>
            <a:r>
              <a:rPr dirty="0" sz="1700">
                <a:solidFill>
                  <a:srgbClr val="3C3C3F"/>
                </a:solidFill>
                <a:latin typeface="Trebuchet MS"/>
                <a:cs typeface="Trebuchet MS"/>
              </a:rPr>
              <a:t>Scope:</a:t>
            </a:r>
            <a:r>
              <a:rPr dirty="0" sz="1700" spc="-125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3C3C3F"/>
                </a:solidFill>
                <a:latin typeface="Trebuchet MS"/>
                <a:cs typeface="Trebuchet MS"/>
              </a:rPr>
              <a:t>Monthly</a:t>
            </a:r>
            <a:r>
              <a:rPr dirty="0" sz="1700" spc="-125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20">
                <a:solidFill>
                  <a:srgbClr val="3C3C3F"/>
                </a:solidFill>
                <a:latin typeface="Trebuchet MS"/>
                <a:cs typeface="Trebuchet MS"/>
              </a:rPr>
              <a:t>accounting</a:t>
            </a:r>
            <a:r>
              <a:rPr dirty="0" sz="1700" spc="-125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3C3C3F"/>
                </a:solidFill>
                <a:latin typeface="Trebuchet MS"/>
                <a:cs typeface="Trebuchet MS"/>
              </a:rPr>
              <a:t>and</a:t>
            </a:r>
            <a:r>
              <a:rPr dirty="0" sz="1700" spc="-125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3C3C3F"/>
                </a:solidFill>
                <a:latin typeface="Trebuchet MS"/>
                <a:cs typeface="Trebuchet MS"/>
              </a:rPr>
              <a:t>bookkeeping.</a:t>
            </a:r>
            <a:endParaRPr sz="1700">
              <a:latin typeface="Trebuchet MS"/>
              <a:cs typeface="Trebuchet MS"/>
            </a:endParaRPr>
          </a:p>
          <a:p>
            <a:pPr marL="379095">
              <a:lnSpc>
                <a:spcPct val="100000"/>
              </a:lnSpc>
              <a:spcBef>
                <a:spcPts val="1110"/>
              </a:spcBef>
            </a:pPr>
            <a:r>
              <a:rPr dirty="0" sz="1700">
                <a:solidFill>
                  <a:srgbClr val="3C3C3F"/>
                </a:solidFill>
                <a:latin typeface="Trebuchet MS"/>
                <a:cs typeface="Trebuchet MS"/>
              </a:rPr>
              <a:t>Catch-</a:t>
            </a:r>
            <a:r>
              <a:rPr dirty="0" sz="1700" spc="75">
                <a:solidFill>
                  <a:srgbClr val="3C3C3F"/>
                </a:solidFill>
                <a:latin typeface="Trebuchet MS"/>
                <a:cs typeface="Trebuchet MS"/>
              </a:rPr>
              <a:t>Up</a:t>
            </a:r>
            <a:r>
              <a:rPr dirty="0" sz="1700" spc="-11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85">
                <a:solidFill>
                  <a:srgbClr val="3C3C3F"/>
                </a:solidFill>
                <a:latin typeface="Trebuchet MS"/>
                <a:cs typeface="Trebuchet MS"/>
              </a:rPr>
              <a:t>Project:</a:t>
            </a:r>
            <a:r>
              <a:rPr dirty="0" sz="1700" spc="-11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3C3C3F"/>
                </a:solidFill>
                <a:latin typeface="Trebuchet MS"/>
                <a:cs typeface="Trebuchet MS"/>
              </a:rPr>
              <a:t>One-</a:t>
            </a:r>
            <a:r>
              <a:rPr dirty="0" sz="1700" spc="-75">
                <a:solidFill>
                  <a:srgbClr val="3C3C3F"/>
                </a:solidFill>
                <a:latin typeface="Trebuchet MS"/>
                <a:cs typeface="Trebuchet MS"/>
              </a:rPr>
              <a:t>time</a:t>
            </a:r>
            <a:r>
              <a:rPr dirty="0" sz="1700" spc="-11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3C3C3F"/>
                </a:solidFill>
                <a:latin typeface="Trebuchet MS"/>
                <a:cs typeface="Trebuchet MS"/>
              </a:rPr>
              <a:t>books</a:t>
            </a:r>
            <a:r>
              <a:rPr dirty="0" sz="1700" spc="-11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25">
                <a:solidFill>
                  <a:srgbClr val="3C3C3F"/>
                </a:solidFill>
                <a:latin typeface="Trebuchet MS"/>
                <a:cs typeface="Trebuchet MS"/>
              </a:rPr>
              <a:t>cleanup</a:t>
            </a:r>
            <a:r>
              <a:rPr dirty="0" sz="1700" spc="-11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65">
                <a:solidFill>
                  <a:srgbClr val="3C3C3F"/>
                </a:solidFill>
                <a:latin typeface="Trebuchet MS"/>
                <a:cs typeface="Trebuchet MS"/>
              </a:rPr>
              <a:t>by</a:t>
            </a:r>
            <a:r>
              <a:rPr dirty="0" sz="1700" spc="-11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120">
                <a:solidFill>
                  <a:srgbClr val="3C3C3F"/>
                </a:solidFill>
                <a:latin typeface="Trebuchet MS"/>
                <a:cs typeface="Trebuchet MS"/>
              </a:rPr>
              <a:t>May</a:t>
            </a:r>
            <a:r>
              <a:rPr dirty="0" sz="1700" spc="-11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3C3C3F"/>
                </a:solidFill>
                <a:latin typeface="Trebuchet MS"/>
                <a:cs typeface="Trebuchet MS"/>
              </a:rPr>
              <a:t>2026.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8918" rIns="0" bIns="0" rtlCol="0" vert="horz">
            <a:spAutoFit/>
          </a:bodyPr>
          <a:lstStyle/>
          <a:p>
            <a:pPr marL="102235">
              <a:lnSpc>
                <a:spcPct val="100000"/>
              </a:lnSpc>
              <a:spcBef>
                <a:spcPts val="100"/>
              </a:spcBef>
            </a:pPr>
            <a:r>
              <a:rPr dirty="0" sz="2000" spc="130" b="0">
                <a:solidFill>
                  <a:srgbClr val="F1660F"/>
                </a:solidFill>
                <a:latin typeface="Trebuchet MS"/>
                <a:cs typeface="Trebuchet MS"/>
              </a:rPr>
              <a:t>PHASE</a:t>
            </a:r>
            <a:r>
              <a:rPr dirty="0" sz="2000" spc="-160" b="0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2000" spc="105" b="0">
                <a:solidFill>
                  <a:srgbClr val="F1660F"/>
                </a:solidFill>
                <a:latin typeface="Trebuchet MS"/>
                <a:cs typeface="Trebuchet MS"/>
              </a:rPr>
              <a:t>2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118472" y="6746493"/>
            <a:ext cx="12686665" cy="1361440"/>
          </a:xfrm>
          <a:custGeom>
            <a:avLst/>
            <a:gdLst/>
            <a:ahLst/>
            <a:cxnLst/>
            <a:rect l="l" t="t" r="r" b="b"/>
            <a:pathLst>
              <a:path w="12686665" h="1361440">
                <a:moveTo>
                  <a:pt x="12686055" y="142907"/>
                </a:moveTo>
                <a:lnTo>
                  <a:pt x="12686052" y="1218134"/>
                </a:lnTo>
                <a:lnTo>
                  <a:pt x="12675149" y="1272834"/>
                </a:lnTo>
                <a:lnTo>
                  <a:pt x="12644140" y="1319184"/>
                </a:lnTo>
                <a:lnTo>
                  <a:pt x="12597764" y="1350128"/>
                </a:lnTo>
                <a:lnTo>
                  <a:pt x="12543088" y="1360976"/>
                </a:lnTo>
                <a:lnTo>
                  <a:pt x="142879" y="1360976"/>
                </a:lnTo>
                <a:lnTo>
                  <a:pt x="114880" y="1358207"/>
                </a:lnTo>
                <a:lnTo>
                  <a:pt x="63622" y="1336980"/>
                </a:lnTo>
                <a:lnTo>
                  <a:pt x="24017" y="1297386"/>
                </a:lnTo>
                <a:lnTo>
                  <a:pt x="2776" y="1246128"/>
                </a:lnTo>
                <a:lnTo>
                  <a:pt x="0" y="142906"/>
                </a:lnTo>
                <a:lnTo>
                  <a:pt x="2764" y="114901"/>
                </a:lnTo>
                <a:lnTo>
                  <a:pt x="23991" y="63627"/>
                </a:lnTo>
                <a:lnTo>
                  <a:pt x="63596" y="24012"/>
                </a:lnTo>
                <a:lnTo>
                  <a:pt x="114870" y="2771"/>
                </a:lnTo>
                <a:lnTo>
                  <a:pt x="142877" y="0"/>
                </a:lnTo>
                <a:lnTo>
                  <a:pt x="12543088" y="0"/>
                </a:lnTo>
                <a:lnTo>
                  <a:pt x="12597797" y="10844"/>
                </a:lnTo>
                <a:lnTo>
                  <a:pt x="12644186" y="41820"/>
                </a:lnTo>
                <a:lnTo>
                  <a:pt x="12675181" y="88202"/>
                </a:lnTo>
                <a:lnTo>
                  <a:pt x="12686059" y="142907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397657" y="6932838"/>
            <a:ext cx="11485245" cy="814069"/>
          </a:xfrm>
          <a:prstGeom prst="rect">
            <a:avLst/>
          </a:prstGeom>
        </p:spPr>
        <p:txBody>
          <a:bodyPr wrap="square" lIns="0" tIns="147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700" spc="100" b="1">
                <a:solidFill>
                  <a:srgbClr val="F1660F"/>
                </a:solidFill>
                <a:latin typeface="Trebuchet MS"/>
                <a:cs typeface="Trebuchet MS"/>
              </a:rPr>
              <a:t>WHAT</a:t>
            </a:r>
            <a:r>
              <a:rPr dirty="0" sz="1700" spc="-270" b="1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700" spc="125" b="1">
                <a:solidFill>
                  <a:srgbClr val="F1660F"/>
                </a:solidFill>
                <a:latin typeface="Trebuchet MS"/>
                <a:cs typeface="Trebuchet MS"/>
              </a:rPr>
              <a:t>WE</a:t>
            </a:r>
            <a:r>
              <a:rPr dirty="0" sz="1700" spc="-270" b="1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700" spc="45" b="1">
                <a:solidFill>
                  <a:srgbClr val="F1660F"/>
                </a:solidFill>
                <a:latin typeface="Trebuchet MS"/>
                <a:cs typeface="Trebuchet MS"/>
              </a:rPr>
              <a:t>UNDERSTOOD</a:t>
            </a:r>
            <a:r>
              <a:rPr dirty="0" sz="1700" spc="-270" b="1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700" spc="450" b="1">
                <a:solidFill>
                  <a:srgbClr val="F1660F"/>
                </a:solidFill>
                <a:latin typeface="Trebuchet MS"/>
                <a:cs typeface="Trebuchet MS"/>
              </a:rPr>
              <a:t>—</a:t>
            </a:r>
            <a:r>
              <a:rPr dirty="0" sz="1700" spc="-270" b="1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700" spc="50" b="1">
                <a:solidFill>
                  <a:srgbClr val="F1660F"/>
                </a:solidFill>
                <a:latin typeface="Trebuchet MS"/>
                <a:cs typeface="Trebuchet MS"/>
              </a:rPr>
              <a:t>PLEASE</a:t>
            </a:r>
            <a:r>
              <a:rPr dirty="0" sz="1700" spc="-270" b="1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700" spc="40" b="1">
                <a:solidFill>
                  <a:srgbClr val="F1660F"/>
                </a:solidFill>
                <a:latin typeface="Trebuchet MS"/>
                <a:cs typeface="Trebuchet MS"/>
              </a:rPr>
              <a:t>CONFIRM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700">
                <a:solidFill>
                  <a:srgbClr val="3C3C3F"/>
                </a:solidFill>
                <a:latin typeface="Trebuchet MS"/>
                <a:cs typeface="Trebuchet MS"/>
              </a:rPr>
              <a:t>The</a:t>
            </a:r>
            <a:r>
              <a:rPr dirty="0" sz="1700" spc="-14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60">
                <a:solidFill>
                  <a:srgbClr val="3C3C3F"/>
                </a:solidFill>
                <a:latin typeface="Trebuchet MS"/>
                <a:cs typeface="Trebuchet MS"/>
              </a:rPr>
              <a:t>information</a:t>
            </a:r>
            <a:r>
              <a:rPr dirty="0" sz="1700" spc="-135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55">
                <a:solidFill>
                  <a:srgbClr val="3C3C3F"/>
                </a:solidFill>
                <a:latin typeface="Trebuchet MS"/>
                <a:cs typeface="Trebuchet MS"/>
              </a:rPr>
              <a:t>available</a:t>
            </a:r>
            <a:r>
              <a:rPr dirty="0" sz="1700" spc="-135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3C3C3F"/>
                </a:solidFill>
                <a:latin typeface="Trebuchet MS"/>
                <a:cs typeface="Trebuchet MS"/>
              </a:rPr>
              <a:t>is</a:t>
            </a:r>
            <a:r>
              <a:rPr dirty="0" sz="1700" spc="-135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90">
                <a:solidFill>
                  <a:srgbClr val="3C3C3F"/>
                </a:solidFill>
                <a:latin typeface="Trebuchet MS"/>
                <a:cs typeface="Trebuchet MS"/>
              </a:rPr>
              <a:t>limited</a:t>
            </a:r>
            <a:r>
              <a:rPr dirty="0" sz="1700" spc="-135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3C3C3F"/>
                </a:solidFill>
                <a:latin typeface="Trebuchet MS"/>
                <a:cs typeface="Trebuchet MS"/>
              </a:rPr>
              <a:t>due</a:t>
            </a:r>
            <a:r>
              <a:rPr dirty="0" sz="1700" spc="-135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30">
                <a:solidFill>
                  <a:srgbClr val="3C3C3F"/>
                </a:solidFill>
                <a:latin typeface="Trebuchet MS"/>
                <a:cs typeface="Trebuchet MS"/>
              </a:rPr>
              <a:t>to</a:t>
            </a:r>
            <a:r>
              <a:rPr dirty="0" sz="1700" spc="-135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35">
                <a:solidFill>
                  <a:srgbClr val="3C3C3F"/>
                </a:solidFill>
                <a:latin typeface="Trebuchet MS"/>
                <a:cs typeface="Trebuchet MS"/>
              </a:rPr>
              <a:t>the</a:t>
            </a:r>
            <a:r>
              <a:rPr dirty="0" sz="1700" spc="-14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20">
                <a:solidFill>
                  <a:srgbClr val="3C3C3F"/>
                </a:solidFill>
                <a:latin typeface="Trebuchet MS"/>
                <a:cs typeface="Trebuchet MS"/>
              </a:rPr>
              <a:t>generic</a:t>
            </a:r>
            <a:r>
              <a:rPr dirty="0" sz="1700" spc="-135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70">
                <a:solidFill>
                  <a:srgbClr val="3C3C3F"/>
                </a:solidFill>
                <a:latin typeface="Trebuchet MS"/>
                <a:cs typeface="Trebuchet MS"/>
              </a:rPr>
              <a:t>email</a:t>
            </a:r>
            <a:r>
              <a:rPr dirty="0" sz="1700" spc="-135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55">
                <a:solidFill>
                  <a:srgbClr val="3C3C3F"/>
                </a:solidFill>
                <a:latin typeface="Trebuchet MS"/>
                <a:cs typeface="Trebuchet MS"/>
              </a:rPr>
              <a:t>domain.</a:t>
            </a:r>
            <a:r>
              <a:rPr dirty="0" sz="1700" spc="-135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3C3C3F"/>
                </a:solidFill>
                <a:latin typeface="Trebuchet MS"/>
                <a:cs typeface="Trebuchet MS"/>
              </a:rPr>
              <a:t>Please</a:t>
            </a:r>
            <a:r>
              <a:rPr dirty="0" sz="1700" spc="-135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45">
                <a:solidFill>
                  <a:srgbClr val="3C3C3F"/>
                </a:solidFill>
                <a:latin typeface="Trebuchet MS"/>
                <a:cs typeface="Trebuchet MS"/>
              </a:rPr>
              <a:t>confirm</a:t>
            </a:r>
            <a:r>
              <a:rPr dirty="0" sz="1700" spc="-135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35">
                <a:solidFill>
                  <a:srgbClr val="3C3C3F"/>
                </a:solidFill>
                <a:latin typeface="Trebuchet MS"/>
                <a:cs typeface="Trebuchet MS"/>
              </a:rPr>
              <a:t>the</a:t>
            </a:r>
            <a:r>
              <a:rPr dirty="0" sz="1700" spc="-135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50">
                <a:solidFill>
                  <a:srgbClr val="3C3C3F"/>
                </a:solidFill>
                <a:latin typeface="Trebuchet MS"/>
                <a:cs typeface="Trebuchet MS"/>
              </a:rPr>
              <a:t>details</a:t>
            </a:r>
            <a:r>
              <a:rPr dirty="0" sz="1700" spc="-14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3C3C3F"/>
                </a:solidFill>
                <a:latin typeface="Trebuchet MS"/>
                <a:cs typeface="Trebuchet MS"/>
              </a:rPr>
              <a:t>of</a:t>
            </a:r>
            <a:r>
              <a:rPr dirty="0" sz="1700" spc="-135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3C3C3F"/>
                </a:solidFill>
                <a:latin typeface="Trebuchet MS"/>
                <a:cs typeface="Trebuchet MS"/>
              </a:rPr>
              <a:t>Novamed</a:t>
            </a:r>
            <a:r>
              <a:rPr dirty="0" sz="1700" spc="-135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3C3C3F"/>
                </a:solidFill>
                <a:latin typeface="Trebuchet MS"/>
                <a:cs typeface="Trebuchet MS"/>
              </a:rPr>
              <a:t>Rescue</a:t>
            </a:r>
            <a:r>
              <a:rPr dirty="0" sz="1700" spc="-135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3C3C3F"/>
                </a:solidFill>
                <a:latin typeface="Trebuchet MS"/>
                <a:cs typeface="Trebuchet MS"/>
              </a:rPr>
              <a:t>Medical.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16000" y="9647656"/>
            <a:ext cx="1519555" cy="208279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200" spc="-10">
                <a:solidFill>
                  <a:srgbClr val="092A3B"/>
                </a:solidFill>
                <a:latin typeface="Trebuchet MS"/>
                <a:cs typeface="Trebuchet MS"/>
                <a:hlinkClick r:id="rId4"/>
              </a:rPr>
              <a:t>www.finanshels.com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154438" y="9690726"/>
            <a:ext cx="264795" cy="268605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600" spc="70">
                <a:solidFill>
                  <a:srgbClr val="0D2E32"/>
                </a:solidFill>
                <a:latin typeface="Trebuchet MS"/>
                <a:cs typeface="Trebuchet MS"/>
              </a:rPr>
              <a:t>06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84659" y="9722024"/>
            <a:ext cx="225674" cy="225673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019174" y="4361996"/>
            <a:ext cx="3932554" cy="3990975"/>
            <a:chOff x="1019174" y="4361996"/>
            <a:chExt cx="3932554" cy="3990975"/>
          </a:xfrm>
        </p:grpSpPr>
        <p:sp>
          <p:nvSpPr>
            <p:cNvPr id="4" name="object 4"/>
            <p:cNvSpPr/>
            <p:nvPr/>
          </p:nvSpPr>
          <p:spPr>
            <a:xfrm>
              <a:off x="1028699" y="4371521"/>
              <a:ext cx="3913504" cy="3971925"/>
            </a:xfrm>
            <a:custGeom>
              <a:avLst/>
              <a:gdLst/>
              <a:ahLst/>
              <a:cxnLst/>
              <a:rect l="l" t="t" r="r" b="b"/>
              <a:pathLst>
                <a:path w="3913504" h="3971925">
                  <a:moveTo>
                    <a:pt x="187395" y="3971911"/>
                  </a:moveTo>
                  <a:lnTo>
                    <a:pt x="117592" y="3957728"/>
                  </a:lnTo>
                  <a:lnTo>
                    <a:pt x="55789" y="3916427"/>
                  </a:lnTo>
                  <a:lnTo>
                    <a:pt x="14497" y="3854620"/>
                  </a:lnTo>
                  <a:lnTo>
                    <a:pt x="0" y="3781718"/>
                  </a:lnTo>
                  <a:lnTo>
                    <a:pt x="0" y="190503"/>
                  </a:lnTo>
                  <a:lnTo>
                    <a:pt x="3693" y="153164"/>
                  </a:lnTo>
                  <a:lnTo>
                    <a:pt x="32004" y="84812"/>
                  </a:lnTo>
                  <a:lnTo>
                    <a:pt x="84808" y="32007"/>
                  </a:lnTo>
                  <a:lnTo>
                    <a:pt x="153160" y="3694"/>
                  </a:lnTo>
                  <a:lnTo>
                    <a:pt x="190499" y="0"/>
                  </a:lnTo>
                  <a:lnTo>
                    <a:pt x="3722935" y="0"/>
                  </a:lnTo>
                  <a:lnTo>
                    <a:pt x="3795842" y="14494"/>
                  </a:lnTo>
                  <a:lnTo>
                    <a:pt x="3857652" y="55789"/>
                  </a:lnTo>
                  <a:lnTo>
                    <a:pt x="3898952" y="117596"/>
                  </a:lnTo>
                  <a:lnTo>
                    <a:pt x="3913454" y="190503"/>
                  </a:lnTo>
                  <a:lnTo>
                    <a:pt x="3913455" y="3781720"/>
                  </a:lnTo>
                  <a:lnTo>
                    <a:pt x="3909762" y="3819062"/>
                  </a:lnTo>
                  <a:lnTo>
                    <a:pt x="3881447" y="3887422"/>
                  </a:lnTo>
                  <a:lnTo>
                    <a:pt x="3828635" y="3940230"/>
                  </a:lnTo>
                  <a:lnTo>
                    <a:pt x="3760275" y="3968539"/>
                  </a:lnTo>
                  <a:lnTo>
                    <a:pt x="3726059" y="3971908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523038" y="4976939"/>
              <a:ext cx="632460" cy="632460"/>
            </a:xfrm>
            <a:custGeom>
              <a:avLst/>
              <a:gdLst/>
              <a:ahLst/>
              <a:cxnLst/>
              <a:rect l="l" t="t" r="r" b="b"/>
              <a:pathLst>
                <a:path w="632460" h="632460">
                  <a:moveTo>
                    <a:pt x="574720" y="631869"/>
                  </a:moveTo>
                  <a:lnTo>
                    <a:pt x="57149" y="631869"/>
                  </a:lnTo>
                  <a:lnTo>
                    <a:pt x="45948" y="630761"/>
                  </a:lnTo>
                  <a:lnTo>
                    <a:pt x="9601" y="606426"/>
                  </a:lnTo>
                  <a:lnTo>
                    <a:pt x="0" y="574719"/>
                  </a:lnTo>
                  <a:lnTo>
                    <a:pt x="0" y="57150"/>
                  </a:lnTo>
                  <a:lnTo>
                    <a:pt x="16738" y="16738"/>
                  </a:lnTo>
                  <a:lnTo>
                    <a:pt x="57149" y="0"/>
                  </a:lnTo>
                  <a:lnTo>
                    <a:pt x="574720" y="0"/>
                  </a:lnTo>
                  <a:lnTo>
                    <a:pt x="615131" y="16738"/>
                  </a:lnTo>
                  <a:lnTo>
                    <a:pt x="631870" y="57150"/>
                  </a:lnTo>
                  <a:lnTo>
                    <a:pt x="631870" y="574719"/>
                  </a:lnTo>
                  <a:lnTo>
                    <a:pt x="615131" y="615131"/>
                  </a:lnTo>
                  <a:lnTo>
                    <a:pt x="574720" y="631869"/>
                  </a:lnTo>
                  <a:close/>
                </a:path>
              </a:pathLst>
            </a:custGeom>
            <a:solidFill>
              <a:srgbClr val="F166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524353" y="6393758"/>
              <a:ext cx="2774315" cy="0"/>
            </a:xfrm>
            <a:custGeom>
              <a:avLst/>
              <a:gdLst/>
              <a:ahLst/>
              <a:cxnLst/>
              <a:rect l="l" t="t" r="r" b="b"/>
              <a:pathLst>
                <a:path w="2774315" h="0">
                  <a:moveTo>
                    <a:pt x="0" y="0"/>
                  </a:moveTo>
                  <a:lnTo>
                    <a:pt x="2773804" y="0"/>
                  </a:lnTo>
                </a:path>
              </a:pathLst>
            </a:custGeom>
            <a:ln w="9524">
              <a:solidFill>
                <a:srgbClr val="092A3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631606" y="5047658"/>
              <a:ext cx="415290" cy="495300"/>
            </a:xfrm>
            <a:custGeom>
              <a:avLst/>
              <a:gdLst/>
              <a:ahLst/>
              <a:cxnLst/>
              <a:rect l="l" t="t" r="r" b="b"/>
              <a:pathLst>
                <a:path w="415289" h="495300">
                  <a:moveTo>
                    <a:pt x="131254" y="176529"/>
                  </a:moveTo>
                  <a:lnTo>
                    <a:pt x="102810" y="176529"/>
                  </a:lnTo>
                  <a:lnTo>
                    <a:pt x="89600" y="139699"/>
                  </a:lnTo>
                  <a:lnTo>
                    <a:pt x="89542" y="137159"/>
                  </a:lnTo>
                  <a:lnTo>
                    <a:pt x="89425" y="132079"/>
                  </a:lnTo>
                  <a:lnTo>
                    <a:pt x="89308" y="126999"/>
                  </a:lnTo>
                  <a:lnTo>
                    <a:pt x="89192" y="121919"/>
                  </a:lnTo>
                  <a:lnTo>
                    <a:pt x="89075" y="116839"/>
                  </a:lnTo>
                  <a:lnTo>
                    <a:pt x="88959" y="111759"/>
                  </a:lnTo>
                  <a:lnTo>
                    <a:pt x="88842" y="106679"/>
                  </a:lnTo>
                  <a:lnTo>
                    <a:pt x="99795" y="66039"/>
                  </a:lnTo>
                  <a:lnTo>
                    <a:pt x="122418" y="34289"/>
                  </a:lnTo>
                  <a:lnTo>
                    <a:pt x="161802" y="7619"/>
                  </a:lnTo>
                  <a:lnTo>
                    <a:pt x="206519" y="0"/>
                  </a:lnTo>
                  <a:lnTo>
                    <a:pt x="251220" y="7619"/>
                  </a:lnTo>
                  <a:lnTo>
                    <a:pt x="260585" y="13969"/>
                  </a:lnTo>
                  <a:lnTo>
                    <a:pt x="206481" y="13969"/>
                  </a:lnTo>
                  <a:lnTo>
                    <a:pt x="167397" y="21589"/>
                  </a:lnTo>
                  <a:lnTo>
                    <a:pt x="133030" y="44449"/>
                  </a:lnTo>
                  <a:lnTo>
                    <a:pt x="112853" y="73659"/>
                  </a:lnTo>
                  <a:lnTo>
                    <a:pt x="103266" y="105409"/>
                  </a:lnTo>
                  <a:lnTo>
                    <a:pt x="103367" y="107949"/>
                  </a:lnTo>
                  <a:lnTo>
                    <a:pt x="103468" y="110489"/>
                  </a:lnTo>
                  <a:lnTo>
                    <a:pt x="103569" y="113029"/>
                  </a:lnTo>
                  <a:lnTo>
                    <a:pt x="103620" y="114299"/>
                  </a:lnTo>
                  <a:lnTo>
                    <a:pt x="103721" y="116839"/>
                  </a:lnTo>
                  <a:lnTo>
                    <a:pt x="103822" y="119379"/>
                  </a:lnTo>
                  <a:lnTo>
                    <a:pt x="103923" y="121919"/>
                  </a:lnTo>
                  <a:lnTo>
                    <a:pt x="104024" y="124459"/>
                  </a:lnTo>
                  <a:lnTo>
                    <a:pt x="104125" y="126999"/>
                  </a:lnTo>
                  <a:lnTo>
                    <a:pt x="104226" y="129539"/>
                  </a:lnTo>
                  <a:lnTo>
                    <a:pt x="104327" y="132079"/>
                  </a:lnTo>
                  <a:lnTo>
                    <a:pt x="104428" y="134619"/>
                  </a:lnTo>
                  <a:lnTo>
                    <a:pt x="104530" y="137159"/>
                  </a:lnTo>
                  <a:lnTo>
                    <a:pt x="104580" y="138429"/>
                  </a:lnTo>
                  <a:lnTo>
                    <a:pt x="117106" y="171449"/>
                  </a:lnTo>
                  <a:lnTo>
                    <a:pt x="132598" y="171449"/>
                  </a:lnTo>
                  <a:lnTo>
                    <a:pt x="131254" y="176529"/>
                  </a:lnTo>
                  <a:close/>
                </a:path>
                <a:path w="415289" h="495300">
                  <a:moveTo>
                    <a:pt x="295815" y="196849"/>
                  </a:moveTo>
                  <a:lnTo>
                    <a:pt x="291108" y="196849"/>
                  </a:lnTo>
                  <a:lnTo>
                    <a:pt x="284719" y="191769"/>
                  </a:lnTo>
                  <a:lnTo>
                    <a:pt x="284251" y="186689"/>
                  </a:lnTo>
                  <a:lnTo>
                    <a:pt x="286883" y="184149"/>
                  </a:lnTo>
                  <a:lnTo>
                    <a:pt x="305470" y="149859"/>
                  </a:lnTo>
                  <a:lnTo>
                    <a:pt x="301807" y="76199"/>
                  </a:lnTo>
                  <a:lnTo>
                    <a:pt x="279932" y="44449"/>
                  </a:lnTo>
                  <a:lnTo>
                    <a:pt x="245566" y="21589"/>
                  </a:lnTo>
                  <a:lnTo>
                    <a:pt x="206481" y="13969"/>
                  </a:lnTo>
                  <a:lnTo>
                    <a:pt x="260585" y="13969"/>
                  </a:lnTo>
                  <a:lnTo>
                    <a:pt x="304638" y="50799"/>
                  </a:lnTo>
                  <a:lnTo>
                    <a:pt x="322197" y="91439"/>
                  </a:lnTo>
                  <a:lnTo>
                    <a:pt x="325244" y="113029"/>
                  </a:lnTo>
                  <a:lnTo>
                    <a:pt x="325186" y="114299"/>
                  </a:lnTo>
                  <a:lnTo>
                    <a:pt x="325070" y="116839"/>
                  </a:lnTo>
                  <a:lnTo>
                    <a:pt x="324954" y="119379"/>
                  </a:lnTo>
                  <a:lnTo>
                    <a:pt x="324838" y="121919"/>
                  </a:lnTo>
                  <a:lnTo>
                    <a:pt x="324722" y="124459"/>
                  </a:lnTo>
                  <a:lnTo>
                    <a:pt x="324606" y="126999"/>
                  </a:lnTo>
                  <a:lnTo>
                    <a:pt x="324490" y="129539"/>
                  </a:lnTo>
                  <a:lnTo>
                    <a:pt x="324374" y="132079"/>
                  </a:lnTo>
                  <a:lnTo>
                    <a:pt x="324258" y="134619"/>
                  </a:lnTo>
                  <a:lnTo>
                    <a:pt x="319361" y="156209"/>
                  </a:lnTo>
                  <a:lnTo>
                    <a:pt x="310717" y="175259"/>
                  </a:lnTo>
                  <a:lnTo>
                    <a:pt x="298491" y="193039"/>
                  </a:lnTo>
                  <a:lnTo>
                    <a:pt x="295815" y="196849"/>
                  </a:lnTo>
                  <a:close/>
                </a:path>
                <a:path w="415289" h="495300">
                  <a:moveTo>
                    <a:pt x="206486" y="195579"/>
                  </a:moveTo>
                  <a:lnTo>
                    <a:pt x="177513" y="189229"/>
                  </a:lnTo>
                  <a:lnTo>
                    <a:pt x="152103" y="172719"/>
                  </a:lnTo>
                  <a:lnTo>
                    <a:pt x="135194" y="147319"/>
                  </a:lnTo>
                  <a:lnTo>
                    <a:pt x="129562" y="118109"/>
                  </a:lnTo>
                  <a:lnTo>
                    <a:pt x="135200" y="88899"/>
                  </a:lnTo>
                  <a:lnTo>
                    <a:pt x="152103" y="63499"/>
                  </a:lnTo>
                  <a:lnTo>
                    <a:pt x="177531" y="46989"/>
                  </a:lnTo>
                  <a:lnTo>
                    <a:pt x="206486" y="41909"/>
                  </a:lnTo>
                  <a:lnTo>
                    <a:pt x="235440" y="46989"/>
                  </a:lnTo>
                  <a:lnTo>
                    <a:pt x="249132" y="55879"/>
                  </a:lnTo>
                  <a:lnTo>
                    <a:pt x="206485" y="55879"/>
                  </a:lnTo>
                  <a:lnTo>
                    <a:pt x="183184" y="60959"/>
                  </a:lnTo>
                  <a:lnTo>
                    <a:pt x="162722" y="74929"/>
                  </a:lnTo>
                  <a:lnTo>
                    <a:pt x="149107" y="95249"/>
                  </a:lnTo>
                  <a:lnTo>
                    <a:pt x="144577" y="118109"/>
                  </a:lnTo>
                  <a:lnTo>
                    <a:pt x="149119" y="142239"/>
                  </a:lnTo>
                  <a:lnTo>
                    <a:pt x="162722" y="162559"/>
                  </a:lnTo>
                  <a:lnTo>
                    <a:pt x="183184" y="175259"/>
                  </a:lnTo>
                  <a:lnTo>
                    <a:pt x="206485" y="180339"/>
                  </a:lnTo>
                  <a:lnTo>
                    <a:pt x="249141" y="180339"/>
                  </a:lnTo>
                  <a:lnTo>
                    <a:pt x="235459" y="189229"/>
                  </a:lnTo>
                  <a:lnTo>
                    <a:pt x="206486" y="195579"/>
                  </a:lnTo>
                  <a:close/>
                </a:path>
                <a:path w="415289" h="495300">
                  <a:moveTo>
                    <a:pt x="249141" y="180339"/>
                  </a:moveTo>
                  <a:lnTo>
                    <a:pt x="206485" y="180339"/>
                  </a:lnTo>
                  <a:lnTo>
                    <a:pt x="229787" y="175259"/>
                  </a:lnTo>
                  <a:lnTo>
                    <a:pt x="250251" y="162559"/>
                  </a:lnTo>
                  <a:lnTo>
                    <a:pt x="263852" y="140969"/>
                  </a:lnTo>
                  <a:lnTo>
                    <a:pt x="268391" y="118109"/>
                  </a:lnTo>
                  <a:lnTo>
                    <a:pt x="263860" y="95249"/>
                  </a:lnTo>
                  <a:lnTo>
                    <a:pt x="250251" y="74929"/>
                  </a:lnTo>
                  <a:lnTo>
                    <a:pt x="229787" y="60959"/>
                  </a:lnTo>
                  <a:lnTo>
                    <a:pt x="206485" y="55879"/>
                  </a:lnTo>
                  <a:lnTo>
                    <a:pt x="249132" y="55879"/>
                  </a:lnTo>
                  <a:lnTo>
                    <a:pt x="260868" y="63499"/>
                  </a:lnTo>
                  <a:lnTo>
                    <a:pt x="277771" y="88899"/>
                  </a:lnTo>
                  <a:lnTo>
                    <a:pt x="283405" y="118109"/>
                  </a:lnTo>
                  <a:lnTo>
                    <a:pt x="277771" y="147319"/>
                  </a:lnTo>
                  <a:lnTo>
                    <a:pt x="260868" y="172719"/>
                  </a:lnTo>
                  <a:lnTo>
                    <a:pt x="249141" y="180339"/>
                  </a:lnTo>
                  <a:close/>
                </a:path>
                <a:path w="415289" h="495300">
                  <a:moveTo>
                    <a:pt x="236955" y="144779"/>
                  </a:moveTo>
                  <a:lnTo>
                    <a:pt x="209760" y="144779"/>
                  </a:lnTo>
                  <a:lnTo>
                    <a:pt x="218193" y="142239"/>
                  </a:lnTo>
                  <a:lnTo>
                    <a:pt x="227377" y="138429"/>
                  </a:lnTo>
                  <a:lnTo>
                    <a:pt x="227410" y="132079"/>
                  </a:lnTo>
                  <a:lnTo>
                    <a:pt x="218141" y="128269"/>
                  </a:lnTo>
                  <a:lnTo>
                    <a:pt x="213945" y="125729"/>
                  </a:lnTo>
                  <a:lnTo>
                    <a:pt x="206108" y="125729"/>
                  </a:lnTo>
                  <a:lnTo>
                    <a:pt x="195781" y="124459"/>
                  </a:lnTo>
                  <a:lnTo>
                    <a:pt x="173175" y="101599"/>
                  </a:lnTo>
                  <a:lnTo>
                    <a:pt x="174051" y="96519"/>
                  </a:lnTo>
                  <a:lnTo>
                    <a:pt x="176597" y="90169"/>
                  </a:lnTo>
                  <a:lnTo>
                    <a:pt x="181470" y="85089"/>
                  </a:lnTo>
                  <a:lnTo>
                    <a:pt x="189319" y="80009"/>
                  </a:lnTo>
                  <a:lnTo>
                    <a:pt x="192314" y="78739"/>
                  </a:lnTo>
                  <a:lnTo>
                    <a:pt x="195545" y="78739"/>
                  </a:lnTo>
                  <a:lnTo>
                    <a:pt x="198977" y="77469"/>
                  </a:lnTo>
                  <a:lnTo>
                    <a:pt x="198977" y="69849"/>
                  </a:lnTo>
                  <a:lnTo>
                    <a:pt x="202340" y="67309"/>
                  </a:lnTo>
                  <a:lnTo>
                    <a:pt x="210632" y="67309"/>
                  </a:lnTo>
                  <a:lnTo>
                    <a:pt x="213992" y="69849"/>
                  </a:lnTo>
                  <a:lnTo>
                    <a:pt x="213992" y="77469"/>
                  </a:lnTo>
                  <a:lnTo>
                    <a:pt x="221977" y="78739"/>
                  </a:lnTo>
                  <a:lnTo>
                    <a:pt x="229147" y="80009"/>
                  </a:lnTo>
                  <a:lnTo>
                    <a:pt x="239517" y="85089"/>
                  </a:lnTo>
                  <a:lnTo>
                    <a:pt x="241110" y="90169"/>
                  </a:lnTo>
                  <a:lnTo>
                    <a:pt x="239924" y="92709"/>
                  </a:lnTo>
                  <a:lnTo>
                    <a:pt x="198486" y="92709"/>
                  </a:lnTo>
                  <a:lnTo>
                    <a:pt x="195236" y="93979"/>
                  </a:lnTo>
                  <a:lnTo>
                    <a:pt x="194827" y="95249"/>
                  </a:lnTo>
                  <a:lnTo>
                    <a:pt x="188195" y="96519"/>
                  </a:lnTo>
                  <a:lnTo>
                    <a:pt x="188281" y="102869"/>
                  </a:lnTo>
                  <a:lnTo>
                    <a:pt x="188897" y="105409"/>
                  </a:lnTo>
                  <a:lnTo>
                    <a:pt x="195275" y="107949"/>
                  </a:lnTo>
                  <a:lnTo>
                    <a:pt x="199350" y="110489"/>
                  </a:lnTo>
                  <a:lnTo>
                    <a:pt x="207069" y="110489"/>
                  </a:lnTo>
                  <a:lnTo>
                    <a:pt x="217467" y="111759"/>
                  </a:lnTo>
                  <a:lnTo>
                    <a:pt x="240176" y="134619"/>
                  </a:lnTo>
                  <a:lnTo>
                    <a:pt x="240171" y="135889"/>
                  </a:lnTo>
                  <a:lnTo>
                    <a:pt x="237862" y="143509"/>
                  </a:lnTo>
                  <a:lnTo>
                    <a:pt x="236955" y="144779"/>
                  </a:lnTo>
                  <a:close/>
                </a:path>
                <a:path w="415289" h="495300">
                  <a:moveTo>
                    <a:pt x="233073" y="99059"/>
                  </a:moveTo>
                  <a:lnTo>
                    <a:pt x="222743" y="93979"/>
                  </a:lnTo>
                  <a:lnTo>
                    <a:pt x="215311" y="92709"/>
                  </a:lnTo>
                  <a:lnTo>
                    <a:pt x="239924" y="92709"/>
                  </a:lnTo>
                  <a:lnTo>
                    <a:pt x="237550" y="97789"/>
                  </a:lnTo>
                  <a:lnTo>
                    <a:pt x="233073" y="99059"/>
                  </a:lnTo>
                  <a:close/>
                </a:path>
                <a:path w="415289" h="495300">
                  <a:moveTo>
                    <a:pt x="226761" y="233679"/>
                  </a:moveTo>
                  <a:lnTo>
                    <a:pt x="206486" y="233679"/>
                  </a:lnTo>
                  <a:lnTo>
                    <a:pt x="213272" y="224789"/>
                  </a:lnTo>
                  <a:lnTo>
                    <a:pt x="221716" y="218439"/>
                  </a:lnTo>
                  <a:lnTo>
                    <a:pt x="231480" y="213359"/>
                  </a:lnTo>
                  <a:lnTo>
                    <a:pt x="242228" y="212089"/>
                  </a:lnTo>
                  <a:lnTo>
                    <a:pt x="326394" y="212089"/>
                  </a:lnTo>
                  <a:lnTo>
                    <a:pt x="370942" y="135889"/>
                  </a:lnTo>
                  <a:lnTo>
                    <a:pt x="375187" y="130809"/>
                  </a:lnTo>
                  <a:lnTo>
                    <a:pt x="380774" y="128269"/>
                  </a:lnTo>
                  <a:lnTo>
                    <a:pt x="386980" y="126999"/>
                  </a:lnTo>
                  <a:lnTo>
                    <a:pt x="393082" y="129539"/>
                  </a:lnTo>
                  <a:lnTo>
                    <a:pt x="409844" y="138429"/>
                  </a:lnTo>
                  <a:lnTo>
                    <a:pt x="412522" y="142239"/>
                  </a:lnTo>
                  <a:lnTo>
                    <a:pt x="383948" y="142239"/>
                  </a:lnTo>
                  <a:lnTo>
                    <a:pt x="334893" y="227329"/>
                  </a:lnTo>
                  <a:lnTo>
                    <a:pt x="242229" y="227329"/>
                  </a:lnTo>
                  <a:lnTo>
                    <a:pt x="231249" y="229869"/>
                  </a:lnTo>
                  <a:lnTo>
                    <a:pt x="226761" y="233679"/>
                  </a:lnTo>
                  <a:close/>
                </a:path>
                <a:path w="415289" h="495300">
                  <a:moveTo>
                    <a:pt x="210633" y="170179"/>
                  </a:moveTo>
                  <a:lnTo>
                    <a:pt x="202341" y="170179"/>
                  </a:lnTo>
                  <a:lnTo>
                    <a:pt x="198978" y="166369"/>
                  </a:lnTo>
                  <a:lnTo>
                    <a:pt x="198978" y="158749"/>
                  </a:lnTo>
                  <a:lnTo>
                    <a:pt x="191402" y="158749"/>
                  </a:lnTo>
                  <a:lnTo>
                    <a:pt x="184098" y="156209"/>
                  </a:lnTo>
                  <a:lnTo>
                    <a:pt x="173410" y="151129"/>
                  </a:lnTo>
                  <a:lnTo>
                    <a:pt x="171739" y="147319"/>
                  </a:lnTo>
                  <a:lnTo>
                    <a:pt x="175170" y="139699"/>
                  </a:lnTo>
                  <a:lnTo>
                    <a:pt x="179617" y="137159"/>
                  </a:lnTo>
                  <a:lnTo>
                    <a:pt x="183394" y="139699"/>
                  </a:lnTo>
                  <a:lnTo>
                    <a:pt x="191464" y="142239"/>
                  </a:lnTo>
                  <a:lnTo>
                    <a:pt x="209760" y="144779"/>
                  </a:lnTo>
                  <a:lnTo>
                    <a:pt x="236955" y="144779"/>
                  </a:lnTo>
                  <a:lnTo>
                    <a:pt x="232419" y="151129"/>
                  </a:lnTo>
                  <a:lnTo>
                    <a:pt x="224308" y="156209"/>
                  </a:lnTo>
                  <a:lnTo>
                    <a:pt x="213993" y="158749"/>
                  </a:lnTo>
                  <a:lnTo>
                    <a:pt x="213993" y="166369"/>
                  </a:lnTo>
                  <a:lnTo>
                    <a:pt x="210633" y="170179"/>
                  </a:lnTo>
                  <a:close/>
                </a:path>
                <a:path w="415289" h="495300">
                  <a:moveTo>
                    <a:pt x="312293" y="328929"/>
                  </a:moveTo>
                  <a:lnTo>
                    <a:pt x="286433" y="328929"/>
                  </a:lnTo>
                  <a:lnTo>
                    <a:pt x="303855" y="316229"/>
                  </a:lnTo>
                  <a:lnTo>
                    <a:pt x="399036" y="151129"/>
                  </a:lnTo>
                  <a:lnTo>
                    <a:pt x="399355" y="151129"/>
                  </a:lnTo>
                  <a:lnTo>
                    <a:pt x="399165" y="149859"/>
                  </a:lnTo>
                  <a:lnTo>
                    <a:pt x="384996" y="142239"/>
                  </a:lnTo>
                  <a:lnTo>
                    <a:pt x="412522" y="142239"/>
                  </a:lnTo>
                  <a:lnTo>
                    <a:pt x="413647" y="147319"/>
                  </a:lnTo>
                  <a:lnTo>
                    <a:pt x="414769" y="151129"/>
                  </a:lnTo>
                  <a:lnTo>
                    <a:pt x="414199" y="154939"/>
                  </a:lnTo>
                  <a:lnTo>
                    <a:pt x="361858" y="246379"/>
                  </a:lnTo>
                  <a:lnTo>
                    <a:pt x="379916" y="246379"/>
                  </a:lnTo>
                  <a:lnTo>
                    <a:pt x="383276" y="248919"/>
                  </a:lnTo>
                  <a:lnTo>
                    <a:pt x="383276" y="260349"/>
                  </a:lnTo>
                  <a:lnTo>
                    <a:pt x="357243" y="260349"/>
                  </a:lnTo>
                  <a:lnTo>
                    <a:pt x="357243" y="279399"/>
                  </a:lnTo>
                  <a:lnTo>
                    <a:pt x="342232" y="279399"/>
                  </a:lnTo>
                  <a:lnTo>
                    <a:pt x="315546" y="326389"/>
                  </a:lnTo>
                  <a:lnTo>
                    <a:pt x="314843" y="326389"/>
                  </a:lnTo>
                  <a:lnTo>
                    <a:pt x="314000" y="327659"/>
                  </a:lnTo>
                  <a:lnTo>
                    <a:pt x="312293" y="328929"/>
                  </a:lnTo>
                  <a:close/>
                </a:path>
                <a:path w="415289" h="495300">
                  <a:moveTo>
                    <a:pt x="132598" y="171449"/>
                  </a:moveTo>
                  <a:lnTo>
                    <a:pt x="117106" y="171449"/>
                  </a:lnTo>
                  <a:lnTo>
                    <a:pt x="119073" y="163829"/>
                  </a:lnTo>
                  <a:lnTo>
                    <a:pt x="123172" y="161289"/>
                  </a:lnTo>
                  <a:lnTo>
                    <a:pt x="131197" y="163829"/>
                  </a:lnTo>
                  <a:lnTo>
                    <a:pt x="133606" y="167639"/>
                  </a:lnTo>
                  <a:lnTo>
                    <a:pt x="132598" y="171449"/>
                  </a:lnTo>
                  <a:close/>
                </a:path>
                <a:path w="415289" h="495300">
                  <a:moveTo>
                    <a:pt x="122549" y="196849"/>
                  </a:moveTo>
                  <a:lnTo>
                    <a:pt x="118291" y="195579"/>
                  </a:lnTo>
                  <a:lnTo>
                    <a:pt x="97885" y="190499"/>
                  </a:lnTo>
                  <a:lnTo>
                    <a:pt x="93873" y="189229"/>
                  </a:lnTo>
                  <a:lnTo>
                    <a:pt x="91469" y="185419"/>
                  </a:lnTo>
                  <a:lnTo>
                    <a:pt x="93564" y="177799"/>
                  </a:lnTo>
                  <a:lnTo>
                    <a:pt x="97662" y="175259"/>
                  </a:lnTo>
                  <a:lnTo>
                    <a:pt x="101676" y="176529"/>
                  </a:lnTo>
                  <a:lnTo>
                    <a:pt x="131254" y="176529"/>
                  </a:lnTo>
                  <a:lnTo>
                    <a:pt x="126887" y="193039"/>
                  </a:lnTo>
                  <a:lnTo>
                    <a:pt x="125593" y="194309"/>
                  </a:lnTo>
                  <a:lnTo>
                    <a:pt x="124638" y="194309"/>
                  </a:lnTo>
                  <a:lnTo>
                    <a:pt x="122549" y="196849"/>
                  </a:lnTo>
                  <a:close/>
                </a:path>
                <a:path w="415289" h="495300">
                  <a:moveTo>
                    <a:pt x="70743" y="243839"/>
                  </a:moveTo>
                  <a:lnTo>
                    <a:pt x="55728" y="243839"/>
                  </a:lnTo>
                  <a:lnTo>
                    <a:pt x="55728" y="215899"/>
                  </a:lnTo>
                  <a:lnTo>
                    <a:pt x="59088" y="212089"/>
                  </a:lnTo>
                  <a:lnTo>
                    <a:pt x="170742" y="212089"/>
                  </a:lnTo>
                  <a:lnTo>
                    <a:pt x="181491" y="213359"/>
                  </a:lnTo>
                  <a:lnTo>
                    <a:pt x="191256" y="218439"/>
                  </a:lnTo>
                  <a:lnTo>
                    <a:pt x="199699" y="224789"/>
                  </a:lnTo>
                  <a:lnTo>
                    <a:pt x="201639" y="227329"/>
                  </a:lnTo>
                  <a:lnTo>
                    <a:pt x="70743" y="227329"/>
                  </a:lnTo>
                  <a:lnTo>
                    <a:pt x="70743" y="243839"/>
                  </a:lnTo>
                  <a:close/>
                </a:path>
                <a:path w="415289" h="495300">
                  <a:moveTo>
                    <a:pt x="213994" y="429259"/>
                  </a:moveTo>
                  <a:lnTo>
                    <a:pt x="198978" y="429259"/>
                  </a:lnTo>
                  <a:lnTo>
                    <a:pt x="198978" y="260349"/>
                  </a:lnTo>
                  <a:lnTo>
                    <a:pt x="196756" y="247649"/>
                  </a:lnTo>
                  <a:lnTo>
                    <a:pt x="190699" y="237489"/>
                  </a:lnTo>
                  <a:lnTo>
                    <a:pt x="181723" y="229869"/>
                  </a:lnTo>
                  <a:lnTo>
                    <a:pt x="170742" y="227329"/>
                  </a:lnTo>
                  <a:lnTo>
                    <a:pt x="201639" y="227329"/>
                  </a:lnTo>
                  <a:lnTo>
                    <a:pt x="206486" y="233679"/>
                  </a:lnTo>
                  <a:lnTo>
                    <a:pt x="226761" y="233679"/>
                  </a:lnTo>
                  <a:lnTo>
                    <a:pt x="222273" y="237489"/>
                  </a:lnTo>
                  <a:lnTo>
                    <a:pt x="216216" y="247649"/>
                  </a:lnTo>
                  <a:lnTo>
                    <a:pt x="213993" y="260349"/>
                  </a:lnTo>
                  <a:lnTo>
                    <a:pt x="213994" y="429259"/>
                  </a:lnTo>
                  <a:close/>
                </a:path>
                <a:path w="415289" h="495300">
                  <a:moveTo>
                    <a:pt x="276272" y="355599"/>
                  </a:moveTo>
                  <a:lnTo>
                    <a:pt x="268961" y="350519"/>
                  </a:lnTo>
                  <a:lnTo>
                    <a:pt x="274125" y="303529"/>
                  </a:lnTo>
                  <a:lnTo>
                    <a:pt x="274453" y="302259"/>
                  </a:lnTo>
                  <a:lnTo>
                    <a:pt x="317728" y="227329"/>
                  </a:lnTo>
                  <a:lnTo>
                    <a:pt x="334893" y="227329"/>
                  </a:lnTo>
                  <a:lnTo>
                    <a:pt x="288768" y="307339"/>
                  </a:lnTo>
                  <a:lnTo>
                    <a:pt x="286433" y="328929"/>
                  </a:lnTo>
                  <a:lnTo>
                    <a:pt x="312293" y="328929"/>
                  </a:lnTo>
                  <a:lnTo>
                    <a:pt x="281564" y="351789"/>
                  </a:lnTo>
                  <a:lnTo>
                    <a:pt x="276272" y="355599"/>
                  </a:lnTo>
                  <a:close/>
                </a:path>
                <a:path w="415289" h="495300">
                  <a:moveTo>
                    <a:pt x="171107" y="365759"/>
                  </a:moveTo>
                  <a:lnTo>
                    <a:pt x="3360" y="365759"/>
                  </a:lnTo>
                  <a:lnTo>
                    <a:pt x="0" y="361949"/>
                  </a:lnTo>
                  <a:lnTo>
                    <a:pt x="0" y="246379"/>
                  </a:lnTo>
                  <a:lnTo>
                    <a:pt x="3361" y="243839"/>
                  </a:lnTo>
                  <a:lnTo>
                    <a:pt x="171107" y="243839"/>
                  </a:lnTo>
                  <a:lnTo>
                    <a:pt x="174470" y="246379"/>
                  </a:lnTo>
                  <a:lnTo>
                    <a:pt x="174470" y="257809"/>
                  </a:lnTo>
                  <a:lnTo>
                    <a:pt x="15015" y="257809"/>
                  </a:lnTo>
                  <a:lnTo>
                    <a:pt x="15015" y="279399"/>
                  </a:lnTo>
                  <a:lnTo>
                    <a:pt x="174470" y="279399"/>
                  </a:lnTo>
                  <a:lnTo>
                    <a:pt x="174470" y="294639"/>
                  </a:lnTo>
                  <a:lnTo>
                    <a:pt x="15015" y="294639"/>
                  </a:lnTo>
                  <a:lnTo>
                    <a:pt x="15015" y="313689"/>
                  </a:lnTo>
                  <a:lnTo>
                    <a:pt x="174470" y="313689"/>
                  </a:lnTo>
                  <a:lnTo>
                    <a:pt x="174470" y="328929"/>
                  </a:lnTo>
                  <a:lnTo>
                    <a:pt x="15015" y="328929"/>
                  </a:lnTo>
                  <a:lnTo>
                    <a:pt x="15015" y="350519"/>
                  </a:lnTo>
                  <a:lnTo>
                    <a:pt x="174470" y="350519"/>
                  </a:lnTo>
                  <a:lnTo>
                    <a:pt x="174470" y="361949"/>
                  </a:lnTo>
                  <a:lnTo>
                    <a:pt x="171107" y="365759"/>
                  </a:lnTo>
                  <a:close/>
                </a:path>
                <a:path w="415289" h="495300">
                  <a:moveTo>
                    <a:pt x="94741" y="279399"/>
                  </a:moveTo>
                  <a:lnTo>
                    <a:pt x="79727" y="279399"/>
                  </a:lnTo>
                  <a:lnTo>
                    <a:pt x="79727" y="257809"/>
                  </a:lnTo>
                  <a:lnTo>
                    <a:pt x="94741" y="257809"/>
                  </a:lnTo>
                  <a:lnTo>
                    <a:pt x="94741" y="279399"/>
                  </a:lnTo>
                  <a:close/>
                </a:path>
                <a:path w="415289" h="495300">
                  <a:moveTo>
                    <a:pt x="174470" y="279399"/>
                  </a:moveTo>
                  <a:lnTo>
                    <a:pt x="159456" y="279399"/>
                  </a:lnTo>
                  <a:lnTo>
                    <a:pt x="159456" y="257809"/>
                  </a:lnTo>
                  <a:lnTo>
                    <a:pt x="174470" y="257809"/>
                  </a:lnTo>
                  <a:lnTo>
                    <a:pt x="174470" y="279399"/>
                  </a:lnTo>
                  <a:close/>
                </a:path>
                <a:path w="415289" h="495300">
                  <a:moveTo>
                    <a:pt x="232850" y="480059"/>
                  </a:moveTo>
                  <a:lnTo>
                    <a:pt x="215784" y="480059"/>
                  </a:lnTo>
                  <a:lnTo>
                    <a:pt x="222870" y="468629"/>
                  </a:lnTo>
                  <a:lnTo>
                    <a:pt x="249686" y="439419"/>
                  </a:lnTo>
                  <a:lnTo>
                    <a:pt x="291040" y="421639"/>
                  </a:lnTo>
                  <a:lnTo>
                    <a:pt x="311305" y="419099"/>
                  </a:lnTo>
                  <a:lnTo>
                    <a:pt x="368265" y="419099"/>
                  </a:lnTo>
                  <a:lnTo>
                    <a:pt x="368265" y="260349"/>
                  </a:lnTo>
                  <a:lnTo>
                    <a:pt x="383276" y="260349"/>
                  </a:lnTo>
                  <a:lnTo>
                    <a:pt x="383276" y="430529"/>
                  </a:lnTo>
                  <a:lnTo>
                    <a:pt x="379916" y="433069"/>
                  </a:lnTo>
                  <a:lnTo>
                    <a:pt x="316936" y="433069"/>
                  </a:lnTo>
                  <a:lnTo>
                    <a:pt x="297307" y="435609"/>
                  </a:lnTo>
                  <a:lnTo>
                    <a:pt x="258564" y="452119"/>
                  </a:lnTo>
                  <a:lnTo>
                    <a:pt x="233570" y="478789"/>
                  </a:lnTo>
                  <a:lnTo>
                    <a:pt x="232850" y="480059"/>
                  </a:lnTo>
                  <a:close/>
                </a:path>
                <a:path w="415289" h="495300">
                  <a:moveTo>
                    <a:pt x="234505" y="429259"/>
                  </a:moveTo>
                  <a:lnTo>
                    <a:pt x="213994" y="429259"/>
                  </a:lnTo>
                  <a:lnTo>
                    <a:pt x="219571" y="422909"/>
                  </a:lnTo>
                  <a:lnTo>
                    <a:pt x="262823" y="393699"/>
                  </a:lnTo>
                  <a:lnTo>
                    <a:pt x="310817" y="384809"/>
                  </a:lnTo>
                  <a:lnTo>
                    <a:pt x="342232" y="384809"/>
                  </a:lnTo>
                  <a:lnTo>
                    <a:pt x="342232" y="279399"/>
                  </a:lnTo>
                  <a:lnTo>
                    <a:pt x="357243" y="279399"/>
                  </a:lnTo>
                  <a:lnTo>
                    <a:pt x="357243" y="396239"/>
                  </a:lnTo>
                  <a:lnTo>
                    <a:pt x="353883" y="400049"/>
                  </a:lnTo>
                  <a:lnTo>
                    <a:pt x="322761" y="400049"/>
                  </a:lnTo>
                  <a:lnTo>
                    <a:pt x="296997" y="401319"/>
                  </a:lnTo>
                  <a:lnTo>
                    <a:pt x="271925" y="406399"/>
                  </a:lnTo>
                  <a:lnTo>
                    <a:pt x="247025" y="419099"/>
                  </a:lnTo>
                  <a:lnTo>
                    <a:pt x="237073" y="426719"/>
                  </a:lnTo>
                  <a:lnTo>
                    <a:pt x="234505" y="429259"/>
                  </a:lnTo>
                  <a:close/>
                </a:path>
                <a:path w="415289" h="495300">
                  <a:moveTo>
                    <a:pt x="94740" y="313689"/>
                  </a:moveTo>
                  <a:lnTo>
                    <a:pt x="79727" y="313689"/>
                  </a:lnTo>
                  <a:lnTo>
                    <a:pt x="79727" y="294639"/>
                  </a:lnTo>
                  <a:lnTo>
                    <a:pt x="94740" y="294639"/>
                  </a:lnTo>
                  <a:lnTo>
                    <a:pt x="94740" y="313689"/>
                  </a:lnTo>
                  <a:close/>
                </a:path>
                <a:path w="415289" h="495300">
                  <a:moveTo>
                    <a:pt x="174470" y="313689"/>
                  </a:moveTo>
                  <a:lnTo>
                    <a:pt x="159455" y="313689"/>
                  </a:lnTo>
                  <a:lnTo>
                    <a:pt x="159455" y="294639"/>
                  </a:lnTo>
                  <a:lnTo>
                    <a:pt x="174470" y="294639"/>
                  </a:lnTo>
                  <a:lnTo>
                    <a:pt x="174470" y="313689"/>
                  </a:lnTo>
                  <a:close/>
                </a:path>
                <a:path w="415289" h="495300">
                  <a:moveTo>
                    <a:pt x="94740" y="350519"/>
                  </a:moveTo>
                  <a:lnTo>
                    <a:pt x="79727" y="350519"/>
                  </a:lnTo>
                  <a:lnTo>
                    <a:pt x="79727" y="328929"/>
                  </a:lnTo>
                  <a:lnTo>
                    <a:pt x="94740" y="328929"/>
                  </a:lnTo>
                  <a:lnTo>
                    <a:pt x="94740" y="350519"/>
                  </a:lnTo>
                  <a:close/>
                </a:path>
                <a:path w="415289" h="495300">
                  <a:moveTo>
                    <a:pt x="174470" y="350519"/>
                  </a:moveTo>
                  <a:lnTo>
                    <a:pt x="159455" y="350519"/>
                  </a:lnTo>
                  <a:lnTo>
                    <a:pt x="159455" y="328929"/>
                  </a:lnTo>
                  <a:lnTo>
                    <a:pt x="174470" y="328929"/>
                  </a:lnTo>
                  <a:lnTo>
                    <a:pt x="174470" y="350519"/>
                  </a:lnTo>
                  <a:close/>
                </a:path>
                <a:path w="415289" h="495300">
                  <a:moveTo>
                    <a:pt x="223218" y="495299"/>
                  </a:moveTo>
                  <a:lnTo>
                    <a:pt x="189754" y="495299"/>
                  </a:lnTo>
                  <a:lnTo>
                    <a:pt x="187145" y="492759"/>
                  </a:lnTo>
                  <a:lnTo>
                    <a:pt x="185880" y="490219"/>
                  </a:lnTo>
                  <a:lnTo>
                    <a:pt x="179400" y="478789"/>
                  </a:lnTo>
                  <a:lnTo>
                    <a:pt x="136050" y="440689"/>
                  </a:lnTo>
                  <a:lnTo>
                    <a:pt x="80211" y="433069"/>
                  </a:lnTo>
                  <a:lnTo>
                    <a:pt x="33053" y="433069"/>
                  </a:lnTo>
                  <a:lnTo>
                    <a:pt x="29693" y="430529"/>
                  </a:lnTo>
                  <a:lnTo>
                    <a:pt x="29693" y="365759"/>
                  </a:lnTo>
                  <a:lnTo>
                    <a:pt x="44710" y="365759"/>
                  </a:lnTo>
                  <a:lnTo>
                    <a:pt x="44710" y="419099"/>
                  </a:lnTo>
                  <a:lnTo>
                    <a:pt x="97644" y="419099"/>
                  </a:lnTo>
                  <a:lnTo>
                    <a:pt x="140692" y="426719"/>
                  </a:lnTo>
                  <a:lnTo>
                    <a:pt x="173126" y="448309"/>
                  </a:lnTo>
                  <a:lnTo>
                    <a:pt x="197187" y="480059"/>
                  </a:lnTo>
                  <a:lnTo>
                    <a:pt x="232850" y="480059"/>
                  </a:lnTo>
                  <a:lnTo>
                    <a:pt x="227091" y="490219"/>
                  </a:lnTo>
                  <a:lnTo>
                    <a:pt x="225824" y="492759"/>
                  </a:lnTo>
                  <a:lnTo>
                    <a:pt x="223218" y="495299"/>
                  </a:lnTo>
                  <a:close/>
                </a:path>
                <a:path w="415289" h="495300">
                  <a:moveTo>
                    <a:pt x="210335" y="462279"/>
                  </a:moveTo>
                  <a:lnTo>
                    <a:pt x="202715" y="462279"/>
                  </a:lnTo>
                  <a:lnTo>
                    <a:pt x="199855" y="457199"/>
                  </a:lnTo>
                  <a:lnTo>
                    <a:pt x="192882" y="445769"/>
                  </a:lnTo>
                  <a:lnTo>
                    <a:pt x="141048" y="406399"/>
                  </a:lnTo>
                  <a:lnTo>
                    <a:pt x="90214" y="400049"/>
                  </a:lnTo>
                  <a:lnTo>
                    <a:pt x="59088" y="400049"/>
                  </a:lnTo>
                  <a:lnTo>
                    <a:pt x="55728" y="396239"/>
                  </a:lnTo>
                  <a:lnTo>
                    <a:pt x="55728" y="365759"/>
                  </a:lnTo>
                  <a:lnTo>
                    <a:pt x="70743" y="365759"/>
                  </a:lnTo>
                  <a:lnTo>
                    <a:pt x="70743" y="384809"/>
                  </a:lnTo>
                  <a:lnTo>
                    <a:pt x="102158" y="384809"/>
                  </a:lnTo>
                  <a:lnTo>
                    <a:pt x="150150" y="393699"/>
                  </a:lnTo>
                  <a:lnTo>
                    <a:pt x="187442" y="416559"/>
                  </a:lnTo>
                  <a:lnTo>
                    <a:pt x="198978" y="429259"/>
                  </a:lnTo>
                  <a:lnTo>
                    <a:pt x="234505" y="429259"/>
                  </a:lnTo>
                  <a:lnTo>
                    <a:pt x="228085" y="435609"/>
                  </a:lnTo>
                  <a:lnTo>
                    <a:pt x="220088" y="445769"/>
                  </a:lnTo>
                  <a:lnTo>
                    <a:pt x="213114" y="457199"/>
                  </a:lnTo>
                  <a:lnTo>
                    <a:pt x="210335" y="4622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9346003" y="4361996"/>
            <a:ext cx="3752850" cy="3990975"/>
            <a:chOff x="9346003" y="4361996"/>
            <a:chExt cx="3752850" cy="399097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97144" y="8154411"/>
              <a:ext cx="196906" cy="18910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355528" y="4371521"/>
              <a:ext cx="3733800" cy="3971925"/>
            </a:xfrm>
            <a:custGeom>
              <a:avLst/>
              <a:gdLst/>
              <a:ahLst/>
              <a:cxnLst/>
              <a:rect l="l" t="t" r="r" b="b"/>
              <a:pathLst>
                <a:path w="3733800" h="3971925">
                  <a:moveTo>
                    <a:pt x="188056" y="3971924"/>
                  </a:moveTo>
                  <a:lnTo>
                    <a:pt x="117594" y="3957665"/>
                  </a:lnTo>
                  <a:lnTo>
                    <a:pt x="55793" y="3916371"/>
                  </a:lnTo>
                  <a:lnTo>
                    <a:pt x="14500" y="3854570"/>
                  </a:lnTo>
                  <a:lnTo>
                    <a:pt x="0" y="3781671"/>
                  </a:lnTo>
                  <a:lnTo>
                    <a:pt x="0" y="190550"/>
                  </a:lnTo>
                  <a:lnTo>
                    <a:pt x="14500" y="117651"/>
                  </a:lnTo>
                  <a:lnTo>
                    <a:pt x="55794" y="55850"/>
                  </a:lnTo>
                  <a:lnTo>
                    <a:pt x="117594" y="14557"/>
                  </a:lnTo>
                  <a:lnTo>
                    <a:pt x="190493" y="0"/>
                  </a:lnTo>
                  <a:lnTo>
                    <a:pt x="3543905" y="0"/>
                  </a:lnTo>
                  <a:lnTo>
                    <a:pt x="3616799" y="14556"/>
                  </a:lnTo>
                  <a:lnTo>
                    <a:pt x="3678600" y="55850"/>
                  </a:lnTo>
                  <a:lnTo>
                    <a:pt x="3719894" y="117651"/>
                  </a:lnTo>
                  <a:lnTo>
                    <a:pt x="3730701" y="153213"/>
                  </a:lnTo>
                  <a:lnTo>
                    <a:pt x="3733799" y="184535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9870152" y="4983769"/>
              <a:ext cx="625475" cy="625475"/>
            </a:xfrm>
            <a:custGeom>
              <a:avLst/>
              <a:gdLst/>
              <a:ahLst/>
              <a:cxnLst/>
              <a:rect l="l" t="t" r="r" b="b"/>
              <a:pathLst>
                <a:path w="625475" h="625475">
                  <a:moveTo>
                    <a:pt x="567890" y="625039"/>
                  </a:moveTo>
                  <a:lnTo>
                    <a:pt x="57150" y="625039"/>
                  </a:lnTo>
                  <a:lnTo>
                    <a:pt x="34904" y="620548"/>
                  </a:lnTo>
                  <a:lnTo>
                    <a:pt x="16739" y="608301"/>
                  </a:lnTo>
                  <a:lnTo>
                    <a:pt x="4491" y="590135"/>
                  </a:lnTo>
                  <a:lnTo>
                    <a:pt x="0" y="567889"/>
                  </a:lnTo>
                  <a:lnTo>
                    <a:pt x="0" y="57150"/>
                  </a:lnTo>
                  <a:lnTo>
                    <a:pt x="4491" y="34904"/>
                  </a:lnTo>
                  <a:lnTo>
                    <a:pt x="16739" y="16738"/>
                  </a:lnTo>
                  <a:lnTo>
                    <a:pt x="34904" y="4491"/>
                  </a:lnTo>
                  <a:lnTo>
                    <a:pt x="57150" y="0"/>
                  </a:lnTo>
                  <a:lnTo>
                    <a:pt x="567890" y="0"/>
                  </a:lnTo>
                  <a:lnTo>
                    <a:pt x="590135" y="4491"/>
                  </a:lnTo>
                  <a:lnTo>
                    <a:pt x="608301" y="16738"/>
                  </a:lnTo>
                  <a:lnTo>
                    <a:pt x="620549" y="34904"/>
                  </a:lnTo>
                  <a:lnTo>
                    <a:pt x="625040" y="57150"/>
                  </a:lnTo>
                  <a:lnTo>
                    <a:pt x="625040" y="567889"/>
                  </a:lnTo>
                  <a:lnTo>
                    <a:pt x="620549" y="590135"/>
                  </a:lnTo>
                  <a:lnTo>
                    <a:pt x="608301" y="608301"/>
                  </a:lnTo>
                  <a:lnTo>
                    <a:pt x="590135" y="620548"/>
                  </a:lnTo>
                  <a:lnTo>
                    <a:pt x="567890" y="625039"/>
                  </a:lnTo>
                  <a:close/>
                </a:path>
              </a:pathLst>
            </a:custGeom>
            <a:solidFill>
              <a:srgbClr val="F166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9871466" y="6422905"/>
              <a:ext cx="2774315" cy="0"/>
            </a:xfrm>
            <a:custGeom>
              <a:avLst/>
              <a:gdLst/>
              <a:ahLst/>
              <a:cxnLst/>
              <a:rect l="l" t="t" r="r" b="b"/>
              <a:pathLst>
                <a:path w="2774315" h="0">
                  <a:moveTo>
                    <a:pt x="0" y="0"/>
                  </a:moveTo>
                  <a:lnTo>
                    <a:pt x="2773804" y="0"/>
                  </a:lnTo>
                </a:path>
              </a:pathLst>
            </a:custGeom>
            <a:ln w="9524">
              <a:solidFill>
                <a:srgbClr val="092A3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9974063" y="5095756"/>
              <a:ext cx="417195" cy="408940"/>
            </a:xfrm>
            <a:custGeom>
              <a:avLst/>
              <a:gdLst/>
              <a:ahLst/>
              <a:cxnLst/>
              <a:rect l="l" t="t" r="r" b="b"/>
              <a:pathLst>
                <a:path w="417195" h="408939">
                  <a:moveTo>
                    <a:pt x="92362" y="134620"/>
                  </a:moveTo>
                  <a:lnTo>
                    <a:pt x="83703" y="134620"/>
                  </a:lnTo>
                  <a:lnTo>
                    <a:pt x="80817" y="130810"/>
                  </a:lnTo>
                  <a:lnTo>
                    <a:pt x="80817" y="54610"/>
                  </a:lnTo>
                  <a:lnTo>
                    <a:pt x="84481" y="33020"/>
                  </a:lnTo>
                  <a:lnTo>
                    <a:pt x="94437" y="15240"/>
                  </a:lnTo>
                  <a:lnTo>
                    <a:pt x="109128" y="3810"/>
                  </a:lnTo>
                  <a:lnTo>
                    <a:pt x="126998" y="0"/>
                  </a:lnTo>
                  <a:lnTo>
                    <a:pt x="380037" y="0"/>
                  </a:lnTo>
                  <a:lnTo>
                    <a:pt x="388843" y="3810"/>
                  </a:lnTo>
                  <a:lnTo>
                    <a:pt x="396972" y="8890"/>
                  </a:lnTo>
                  <a:lnTo>
                    <a:pt x="401715" y="13970"/>
                  </a:lnTo>
                  <a:lnTo>
                    <a:pt x="126277" y="13970"/>
                  </a:lnTo>
                  <a:lnTo>
                    <a:pt x="114122" y="16510"/>
                  </a:lnTo>
                  <a:lnTo>
                    <a:pt x="104268" y="25400"/>
                  </a:lnTo>
                  <a:lnTo>
                    <a:pt x="97661" y="38100"/>
                  </a:lnTo>
                  <a:lnTo>
                    <a:pt x="95248" y="54610"/>
                  </a:lnTo>
                  <a:lnTo>
                    <a:pt x="95248" y="130810"/>
                  </a:lnTo>
                  <a:lnTo>
                    <a:pt x="92362" y="134620"/>
                  </a:lnTo>
                  <a:close/>
                </a:path>
                <a:path w="417195" h="408939">
                  <a:moveTo>
                    <a:pt x="322491" y="398780"/>
                  </a:moveTo>
                  <a:lnTo>
                    <a:pt x="290797" y="398780"/>
                  </a:lnTo>
                  <a:lnTo>
                    <a:pt x="303064" y="396240"/>
                  </a:lnTo>
                  <a:lnTo>
                    <a:pt x="313166" y="387350"/>
                  </a:lnTo>
                  <a:lnTo>
                    <a:pt x="320022" y="374650"/>
                  </a:lnTo>
                  <a:lnTo>
                    <a:pt x="322547" y="358140"/>
                  </a:lnTo>
                  <a:lnTo>
                    <a:pt x="322547" y="54610"/>
                  </a:lnTo>
                  <a:lnTo>
                    <a:pt x="323596" y="43180"/>
                  </a:lnTo>
                  <a:lnTo>
                    <a:pt x="326606" y="31750"/>
                  </a:lnTo>
                  <a:lnTo>
                    <a:pt x="331375" y="21590"/>
                  </a:lnTo>
                  <a:lnTo>
                    <a:pt x="337700" y="13970"/>
                  </a:lnTo>
                  <a:lnTo>
                    <a:pt x="368728" y="13970"/>
                  </a:lnTo>
                  <a:lnTo>
                    <a:pt x="356574" y="17780"/>
                  </a:lnTo>
                  <a:lnTo>
                    <a:pt x="346720" y="26670"/>
                  </a:lnTo>
                  <a:lnTo>
                    <a:pt x="340113" y="39370"/>
                  </a:lnTo>
                  <a:lnTo>
                    <a:pt x="337700" y="54610"/>
                  </a:lnTo>
                  <a:lnTo>
                    <a:pt x="337700" y="68580"/>
                  </a:lnTo>
                  <a:lnTo>
                    <a:pt x="416896" y="68580"/>
                  </a:lnTo>
                  <a:lnTo>
                    <a:pt x="416896" y="76200"/>
                  </a:lnTo>
                  <a:lnTo>
                    <a:pt x="415631" y="78740"/>
                  </a:lnTo>
                  <a:lnTo>
                    <a:pt x="413467" y="81280"/>
                  </a:lnTo>
                  <a:lnTo>
                    <a:pt x="410580" y="82550"/>
                  </a:lnTo>
                  <a:lnTo>
                    <a:pt x="337700" y="82550"/>
                  </a:lnTo>
                  <a:lnTo>
                    <a:pt x="337700" y="358140"/>
                  </a:lnTo>
                  <a:lnTo>
                    <a:pt x="334036" y="379730"/>
                  </a:lnTo>
                  <a:lnTo>
                    <a:pt x="324080" y="397510"/>
                  </a:lnTo>
                  <a:lnTo>
                    <a:pt x="322491" y="398780"/>
                  </a:lnTo>
                  <a:close/>
                </a:path>
                <a:path w="417195" h="408939">
                  <a:moveTo>
                    <a:pt x="416896" y="68580"/>
                  </a:moveTo>
                  <a:lnTo>
                    <a:pt x="400478" y="68580"/>
                  </a:lnTo>
                  <a:lnTo>
                    <a:pt x="400478" y="54610"/>
                  </a:lnTo>
                  <a:lnTo>
                    <a:pt x="399824" y="45720"/>
                  </a:lnTo>
                  <a:lnTo>
                    <a:pt x="377387" y="13970"/>
                  </a:lnTo>
                  <a:lnTo>
                    <a:pt x="401715" y="13970"/>
                  </a:lnTo>
                  <a:lnTo>
                    <a:pt x="416896" y="52070"/>
                  </a:lnTo>
                  <a:lnTo>
                    <a:pt x="416896" y="68580"/>
                  </a:lnTo>
                  <a:close/>
                </a:path>
                <a:path w="417195" h="408939">
                  <a:moveTo>
                    <a:pt x="152975" y="147320"/>
                  </a:moveTo>
                  <a:lnTo>
                    <a:pt x="136379" y="147320"/>
                  </a:lnTo>
                  <a:lnTo>
                    <a:pt x="109680" y="69850"/>
                  </a:lnTo>
                  <a:lnTo>
                    <a:pt x="127720" y="69850"/>
                  </a:lnTo>
                  <a:lnTo>
                    <a:pt x="145038" y="128270"/>
                  </a:lnTo>
                  <a:lnTo>
                    <a:pt x="159540" y="128270"/>
                  </a:lnTo>
                  <a:lnTo>
                    <a:pt x="152975" y="147320"/>
                  </a:lnTo>
                  <a:close/>
                </a:path>
                <a:path w="417195" h="408939">
                  <a:moveTo>
                    <a:pt x="159540" y="128270"/>
                  </a:moveTo>
                  <a:lnTo>
                    <a:pt x="145038" y="128270"/>
                  </a:lnTo>
                  <a:lnTo>
                    <a:pt x="161634" y="69850"/>
                  </a:lnTo>
                  <a:lnTo>
                    <a:pt x="179674" y="69850"/>
                  </a:lnTo>
                  <a:lnTo>
                    <a:pt x="159540" y="128270"/>
                  </a:lnTo>
                  <a:close/>
                </a:path>
                <a:path w="417195" h="408939">
                  <a:moveTo>
                    <a:pt x="193384" y="147320"/>
                  </a:moveTo>
                  <a:lnTo>
                    <a:pt x="176787" y="147320"/>
                  </a:lnTo>
                  <a:lnTo>
                    <a:pt x="205651" y="69850"/>
                  </a:lnTo>
                  <a:lnTo>
                    <a:pt x="220082" y="69850"/>
                  </a:lnTo>
                  <a:lnTo>
                    <a:pt x="227653" y="90170"/>
                  </a:lnTo>
                  <a:lnTo>
                    <a:pt x="212866" y="90170"/>
                  </a:lnTo>
                  <a:lnTo>
                    <a:pt x="203486" y="118110"/>
                  </a:lnTo>
                  <a:lnTo>
                    <a:pt x="238063" y="118110"/>
                  </a:lnTo>
                  <a:lnTo>
                    <a:pt x="242794" y="130810"/>
                  </a:lnTo>
                  <a:lnTo>
                    <a:pt x="199156" y="130810"/>
                  </a:lnTo>
                  <a:lnTo>
                    <a:pt x="193384" y="147320"/>
                  </a:lnTo>
                  <a:close/>
                </a:path>
                <a:path w="417195" h="408939">
                  <a:moveTo>
                    <a:pt x="308115" y="82550"/>
                  </a:moveTo>
                  <a:lnTo>
                    <a:pt x="245338" y="82550"/>
                  </a:lnTo>
                  <a:lnTo>
                    <a:pt x="245338" y="69850"/>
                  </a:lnTo>
                  <a:lnTo>
                    <a:pt x="308115" y="69850"/>
                  </a:lnTo>
                  <a:lnTo>
                    <a:pt x="308115" y="82550"/>
                  </a:lnTo>
                  <a:close/>
                </a:path>
                <a:path w="417195" h="408939">
                  <a:moveTo>
                    <a:pt x="284303" y="147320"/>
                  </a:moveTo>
                  <a:lnTo>
                    <a:pt x="268428" y="147320"/>
                  </a:lnTo>
                  <a:lnTo>
                    <a:pt x="268428" y="82550"/>
                  </a:lnTo>
                  <a:lnTo>
                    <a:pt x="284303" y="82550"/>
                  </a:lnTo>
                  <a:lnTo>
                    <a:pt x="284303" y="147320"/>
                  </a:lnTo>
                  <a:close/>
                </a:path>
                <a:path w="417195" h="408939">
                  <a:moveTo>
                    <a:pt x="238063" y="118110"/>
                  </a:moveTo>
                  <a:lnTo>
                    <a:pt x="222247" y="118110"/>
                  </a:lnTo>
                  <a:lnTo>
                    <a:pt x="212866" y="90170"/>
                  </a:lnTo>
                  <a:lnTo>
                    <a:pt x="227653" y="90170"/>
                  </a:lnTo>
                  <a:lnTo>
                    <a:pt x="238063" y="118110"/>
                  </a:lnTo>
                  <a:close/>
                </a:path>
                <a:path w="417195" h="408939">
                  <a:moveTo>
                    <a:pt x="248946" y="147320"/>
                  </a:moveTo>
                  <a:lnTo>
                    <a:pt x="232349" y="147320"/>
                  </a:lnTo>
                  <a:lnTo>
                    <a:pt x="227298" y="130810"/>
                  </a:lnTo>
                  <a:lnTo>
                    <a:pt x="242794" y="130810"/>
                  </a:lnTo>
                  <a:lnTo>
                    <a:pt x="248946" y="147320"/>
                  </a:lnTo>
                  <a:close/>
                </a:path>
                <a:path w="417195" h="408939">
                  <a:moveTo>
                    <a:pt x="86589" y="314960"/>
                  </a:moveTo>
                  <a:lnTo>
                    <a:pt x="52968" y="308610"/>
                  </a:lnTo>
                  <a:lnTo>
                    <a:pt x="25435" y="289560"/>
                  </a:lnTo>
                  <a:lnTo>
                    <a:pt x="6832" y="262890"/>
                  </a:lnTo>
                  <a:lnTo>
                    <a:pt x="0" y="228600"/>
                  </a:lnTo>
                  <a:lnTo>
                    <a:pt x="6832" y="195580"/>
                  </a:lnTo>
                  <a:lnTo>
                    <a:pt x="25435" y="167640"/>
                  </a:lnTo>
                  <a:lnTo>
                    <a:pt x="52968" y="148590"/>
                  </a:lnTo>
                  <a:lnTo>
                    <a:pt x="86589" y="142240"/>
                  </a:lnTo>
                  <a:lnTo>
                    <a:pt x="120211" y="148590"/>
                  </a:lnTo>
                  <a:lnTo>
                    <a:pt x="131224" y="156210"/>
                  </a:lnTo>
                  <a:lnTo>
                    <a:pt x="86589" y="156210"/>
                  </a:lnTo>
                  <a:lnTo>
                    <a:pt x="58572" y="162560"/>
                  </a:lnTo>
                  <a:lnTo>
                    <a:pt x="35628" y="177800"/>
                  </a:lnTo>
                  <a:lnTo>
                    <a:pt x="20125" y="200660"/>
                  </a:lnTo>
                  <a:lnTo>
                    <a:pt x="14431" y="228600"/>
                  </a:lnTo>
                  <a:lnTo>
                    <a:pt x="20125" y="256540"/>
                  </a:lnTo>
                  <a:lnTo>
                    <a:pt x="35628" y="279400"/>
                  </a:lnTo>
                  <a:lnTo>
                    <a:pt x="58572" y="295910"/>
                  </a:lnTo>
                  <a:lnTo>
                    <a:pt x="86589" y="300990"/>
                  </a:lnTo>
                  <a:lnTo>
                    <a:pt x="131224" y="300990"/>
                  </a:lnTo>
                  <a:lnTo>
                    <a:pt x="120211" y="308610"/>
                  </a:lnTo>
                  <a:lnTo>
                    <a:pt x="86589" y="314960"/>
                  </a:lnTo>
                  <a:close/>
                </a:path>
                <a:path w="417195" h="408939">
                  <a:moveTo>
                    <a:pt x="131224" y="300990"/>
                  </a:moveTo>
                  <a:lnTo>
                    <a:pt x="86589" y="300990"/>
                  </a:lnTo>
                  <a:lnTo>
                    <a:pt x="114607" y="295910"/>
                  </a:lnTo>
                  <a:lnTo>
                    <a:pt x="137551" y="279400"/>
                  </a:lnTo>
                  <a:lnTo>
                    <a:pt x="153054" y="256540"/>
                  </a:lnTo>
                  <a:lnTo>
                    <a:pt x="158748" y="228600"/>
                  </a:lnTo>
                  <a:lnTo>
                    <a:pt x="153054" y="200660"/>
                  </a:lnTo>
                  <a:lnTo>
                    <a:pt x="137551" y="177800"/>
                  </a:lnTo>
                  <a:lnTo>
                    <a:pt x="114607" y="162560"/>
                  </a:lnTo>
                  <a:lnTo>
                    <a:pt x="86589" y="156210"/>
                  </a:lnTo>
                  <a:lnTo>
                    <a:pt x="131224" y="156210"/>
                  </a:lnTo>
                  <a:lnTo>
                    <a:pt x="147744" y="167640"/>
                  </a:lnTo>
                  <a:lnTo>
                    <a:pt x="166347" y="195580"/>
                  </a:lnTo>
                  <a:lnTo>
                    <a:pt x="173179" y="228600"/>
                  </a:lnTo>
                  <a:lnTo>
                    <a:pt x="166347" y="262890"/>
                  </a:lnTo>
                  <a:lnTo>
                    <a:pt x="147744" y="289560"/>
                  </a:lnTo>
                  <a:lnTo>
                    <a:pt x="131224" y="300990"/>
                  </a:lnTo>
                  <a:close/>
                </a:path>
                <a:path w="417195" h="408939">
                  <a:moveTo>
                    <a:pt x="67828" y="223520"/>
                  </a:moveTo>
                  <a:lnTo>
                    <a:pt x="53397" y="223520"/>
                  </a:lnTo>
                  <a:lnTo>
                    <a:pt x="47624" y="220980"/>
                  </a:lnTo>
                  <a:lnTo>
                    <a:pt x="42573" y="217170"/>
                  </a:lnTo>
                  <a:lnTo>
                    <a:pt x="38243" y="212090"/>
                  </a:lnTo>
                  <a:lnTo>
                    <a:pt x="36079" y="207010"/>
                  </a:lnTo>
                  <a:lnTo>
                    <a:pt x="36079" y="186690"/>
                  </a:lnTo>
                  <a:lnTo>
                    <a:pt x="38243" y="181610"/>
                  </a:lnTo>
                  <a:lnTo>
                    <a:pt x="46902" y="172720"/>
                  </a:lnTo>
                  <a:lnTo>
                    <a:pt x="52675" y="170180"/>
                  </a:lnTo>
                  <a:lnTo>
                    <a:pt x="67107" y="170180"/>
                  </a:lnTo>
                  <a:lnTo>
                    <a:pt x="72879" y="172720"/>
                  </a:lnTo>
                  <a:lnTo>
                    <a:pt x="77930" y="176530"/>
                  </a:lnTo>
                  <a:lnTo>
                    <a:pt x="82260" y="181610"/>
                  </a:lnTo>
                  <a:lnTo>
                    <a:pt x="82801" y="182880"/>
                  </a:lnTo>
                  <a:lnTo>
                    <a:pt x="57005" y="182880"/>
                  </a:lnTo>
                  <a:lnTo>
                    <a:pt x="54840" y="184150"/>
                  </a:lnTo>
                  <a:lnTo>
                    <a:pt x="52675" y="186690"/>
                  </a:lnTo>
                  <a:lnTo>
                    <a:pt x="49789" y="190500"/>
                  </a:lnTo>
                  <a:lnTo>
                    <a:pt x="49789" y="199390"/>
                  </a:lnTo>
                  <a:lnTo>
                    <a:pt x="50510" y="199390"/>
                  </a:lnTo>
                  <a:lnTo>
                    <a:pt x="50510" y="203200"/>
                  </a:lnTo>
                  <a:lnTo>
                    <a:pt x="51232" y="205740"/>
                  </a:lnTo>
                  <a:lnTo>
                    <a:pt x="53397" y="207010"/>
                  </a:lnTo>
                  <a:lnTo>
                    <a:pt x="54840" y="209550"/>
                  </a:lnTo>
                  <a:lnTo>
                    <a:pt x="83342" y="209550"/>
                  </a:lnTo>
                  <a:lnTo>
                    <a:pt x="82260" y="212090"/>
                  </a:lnTo>
                  <a:lnTo>
                    <a:pt x="73601" y="220980"/>
                  </a:lnTo>
                  <a:lnTo>
                    <a:pt x="67828" y="223520"/>
                  </a:lnTo>
                  <a:close/>
                </a:path>
                <a:path w="417195" h="408939">
                  <a:moveTo>
                    <a:pt x="313166" y="187960"/>
                  </a:moveTo>
                  <a:lnTo>
                    <a:pt x="172458" y="187960"/>
                  </a:lnTo>
                  <a:lnTo>
                    <a:pt x="169572" y="185420"/>
                  </a:lnTo>
                  <a:lnTo>
                    <a:pt x="169572" y="176530"/>
                  </a:lnTo>
                  <a:lnTo>
                    <a:pt x="172458" y="173990"/>
                  </a:lnTo>
                  <a:lnTo>
                    <a:pt x="313166" y="173990"/>
                  </a:lnTo>
                  <a:lnTo>
                    <a:pt x="316053" y="176530"/>
                  </a:lnTo>
                  <a:lnTo>
                    <a:pt x="316053" y="185420"/>
                  </a:lnTo>
                  <a:lnTo>
                    <a:pt x="313166" y="187960"/>
                  </a:lnTo>
                  <a:close/>
                </a:path>
                <a:path w="417195" h="408939">
                  <a:moveTo>
                    <a:pt x="83342" y="209550"/>
                  </a:moveTo>
                  <a:lnTo>
                    <a:pt x="65664" y="209550"/>
                  </a:lnTo>
                  <a:lnTo>
                    <a:pt x="69993" y="203200"/>
                  </a:lnTo>
                  <a:lnTo>
                    <a:pt x="69993" y="190500"/>
                  </a:lnTo>
                  <a:lnTo>
                    <a:pt x="69271" y="187960"/>
                  </a:lnTo>
                  <a:lnTo>
                    <a:pt x="67107" y="186690"/>
                  </a:lnTo>
                  <a:lnTo>
                    <a:pt x="65664" y="184150"/>
                  </a:lnTo>
                  <a:lnTo>
                    <a:pt x="62777" y="182880"/>
                  </a:lnTo>
                  <a:lnTo>
                    <a:pt x="82801" y="182880"/>
                  </a:lnTo>
                  <a:lnTo>
                    <a:pt x="84425" y="186690"/>
                  </a:lnTo>
                  <a:lnTo>
                    <a:pt x="84425" y="207010"/>
                  </a:lnTo>
                  <a:lnTo>
                    <a:pt x="83342" y="209550"/>
                  </a:lnTo>
                  <a:close/>
                </a:path>
                <a:path w="417195" h="408939">
                  <a:moveTo>
                    <a:pt x="64942" y="275590"/>
                  </a:moveTo>
                  <a:lnTo>
                    <a:pt x="54118" y="270510"/>
                  </a:lnTo>
                  <a:lnTo>
                    <a:pt x="108959" y="182880"/>
                  </a:lnTo>
                  <a:lnTo>
                    <a:pt x="119782" y="187960"/>
                  </a:lnTo>
                  <a:lnTo>
                    <a:pt x="64942" y="275590"/>
                  </a:lnTo>
                  <a:close/>
                </a:path>
                <a:path w="417195" h="408939">
                  <a:moveTo>
                    <a:pt x="298013" y="231140"/>
                  </a:moveTo>
                  <a:lnTo>
                    <a:pt x="184003" y="231140"/>
                  </a:lnTo>
                  <a:lnTo>
                    <a:pt x="181117" y="228600"/>
                  </a:lnTo>
                  <a:lnTo>
                    <a:pt x="181117" y="219710"/>
                  </a:lnTo>
                  <a:lnTo>
                    <a:pt x="184003" y="217170"/>
                  </a:lnTo>
                  <a:lnTo>
                    <a:pt x="298013" y="217170"/>
                  </a:lnTo>
                  <a:lnTo>
                    <a:pt x="300900" y="219710"/>
                  </a:lnTo>
                  <a:lnTo>
                    <a:pt x="300900" y="228600"/>
                  </a:lnTo>
                  <a:lnTo>
                    <a:pt x="298013" y="231140"/>
                  </a:lnTo>
                  <a:close/>
                </a:path>
                <a:path w="417195" h="408939">
                  <a:moveTo>
                    <a:pt x="121225" y="285750"/>
                  </a:moveTo>
                  <a:lnTo>
                    <a:pt x="106794" y="285750"/>
                  </a:lnTo>
                  <a:lnTo>
                    <a:pt x="101021" y="283210"/>
                  </a:lnTo>
                  <a:lnTo>
                    <a:pt x="95970" y="279400"/>
                  </a:lnTo>
                  <a:lnTo>
                    <a:pt x="91641" y="275590"/>
                  </a:lnTo>
                  <a:lnTo>
                    <a:pt x="89476" y="269240"/>
                  </a:lnTo>
                  <a:lnTo>
                    <a:pt x="89476" y="250190"/>
                  </a:lnTo>
                  <a:lnTo>
                    <a:pt x="91641" y="245110"/>
                  </a:lnTo>
                  <a:lnTo>
                    <a:pt x="95970" y="240030"/>
                  </a:lnTo>
                  <a:lnTo>
                    <a:pt x="101021" y="236220"/>
                  </a:lnTo>
                  <a:lnTo>
                    <a:pt x="106794" y="233680"/>
                  </a:lnTo>
                  <a:lnTo>
                    <a:pt x="121225" y="233680"/>
                  </a:lnTo>
                  <a:lnTo>
                    <a:pt x="126998" y="236220"/>
                  </a:lnTo>
                  <a:lnTo>
                    <a:pt x="135657" y="245110"/>
                  </a:lnTo>
                  <a:lnTo>
                    <a:pt x="136198" y="246380"/>
                  </a:lnTo>
                  <a:lnTo>
                    <a:pt x="111123" y="246380"/>
                  </a:lnTo>
                  <a:lnTo>
                    <a:pt x="108959" y="247650"/>
                  </a:lnTo>
                  <a:lnTo>
                    <a:pt x="106794" y="250190"/>
                  </a:lnTo>
                  <a:lnTo>
                    <a:pt x="103907" y="254000"/>
                  </a:lnTo>
                  <a:lnTo>
                    <a:pt x="103907" y="266700"/>
                  </a:lnTo>
                  <a:lnTo>
                    <a:pt x="104629" y="267970"/>
                  </a:lnTo>
                  <a:lnTo>
                    <a:pt x="108959" y="273050"/>
                  </a:lnTo>
                  <a:lnTo>
                    <a:pt x="136739" y="273050"/>
                  </a:lnTo>
                  <a:lnTo>
                    <a:pt x="135657" y="275590"/>
                  </a:lnTo>
                  <a:lnTo>
                    <a:pt x="131328" y="280670"/>
                  </a:lnTo>
                  <a:lnTo>
                    <a:pt x="126998" y="283210"/>
                  </a:lnTo>
                  <a:lnTo>
                    <a:pt x="121225" y="285750"/>
                  </a:lnTo>
                  <a:close/>
                </a:path>
                <a:path w="417195" h="408939">
                  <a:moveTo>
                    <a:pt x="136739" y="273050"/>
                  </a:moveTo>
                  <a:lnTo>
                    <a:pt x="120504" y="273050"/>
                  </a:lnTo>
                  <a:lnTo>
                    <a:pt x="123390" y="270510"/>
                  </a:lnTo>
                  <a:lnTo>
                    <a:pt x="123390" y="254000"/>
                  </a:lnTo>
                  <a:lnTo>
                    <a:pt x="122669" y="251460"/>
                  </a:lnTo>
                  <a:lnTo>
                    <a:pt x="121225" y="250190"/>
                  </a:lnTo>
                  <a:lnTo>
                    <a:pt x="119782" y="247650"/>
                  </a:lnTo>
                  <a:lnTo>
                    <a:pt x="116896" y="246380"/>
                  </a:lnTo>
                  <a:lnTo>
                    <a:pt x="136198" y="246380"/>
                  </a:lnTo>
                  <a:lnTo>
                    <a:pt x="137822" y="250190"/>
                  </a:lnTo>
                  <a:lnTo>
                    <a:pt x="137822" y="270510"/>
                  </a:lnTo>
                  <a:lnTo>
                    <a:pt x="136739" y="273050"/>
                  </a:lnTo>
                  <a:close/>
                </a:path>
                <a:path w="417195" h="408939">
                  <a:moveTo>
                    <a:pt x="313166" y="274320"/>
                  </a:moveTo>
                  <a:lnTo>
                    <a:pt x="176787" y="274320"/>
                  </a:lnTo>
                  <a:lnTo>
                    <a:pt x="173901" y="271780"/>
                  </a:lnTo>
                  <a:lnTo>
                    <a:pt x="173901" y="262890"/>
                  </a:lnTo>
                  <a:lnTo>
                    <a:pt x="176787" y="260350"/>
                  </a:lnTo>
                  <a:lnTo>
                    <a:pt x="313166" y="260350"/>
                  </a:lnTo>
                  <a:lnTo>
                    <a:pt x="316053" y="262890"/>
                  </a:lnTo>
                  <a:lnTo>
                    <a:pt x="316053" y="270510"/>
                  </a:lnTo>
                  <a:lnTo>
                    <a:pt x="313166" y="274320"/>
                  </a:lnTo>
                  <a:close/>
                </a:path>
                <a:path w="417195" h="408939">
                  <a:moveTo>
                    <a:pt x="251832" y="316230"/>
                  </a:moveTo>
                  <a:lnTo>
                    <a:pt x="142873" y="316230"/>
                  </a:lnTo>
                  <a:lnTo>
                    <a:pt x="139987" y="313690"/>
                  </a:lnTo>
                  <a:lnTo>
                    <a:pt x="139987" y="304800"/>
                  </a:lnTo>
                  <a:lnTo>
                    <a:pt x="142873" y="302260"/>
                  </a:lnTo>
                  <a:lnTo>
                    <a:pt x="251832" y="302260"/>
                  </a:lnTo>
                  <a:lnTo>
                    <a:pt x="254718" y="304800"/>
                  </a:lnTo>
                  <a:lnTo>
                    <a:pt x="254718" y="313690"/>
                  </a:lnTo>
                  <a:lnTo>
                    <a:pt x="251832" y="316230"/>
                  </a:lnTo>
                  <a:close/>
                </a:path>
                <a:path w="417195" h="408939">
                  <a:moveTo>
                    <a:pt x="93805" y="330200"/>
                  </a:moveTo>
                  <a:lnTo>
                    <a:pt x="79374" y="330200"/>
                  </a:lnTo>
                  <a:lnTo>
                    <a:pt x="79374" y="325120"/>
                  </a:lnTo>
                  <a:lnTo>
                    <a:pt x="82260" y="322580"/>
                  </a:lnTo>
                  <a:lnTo>
                    <a:pt x="90919" y="322580"/>
                  </a:lnTo>
                  <a:lnTo>
                    <a:pt x="93805" y="325120"/>
                  </a:lnTo>
                  <a:lnTo>
                    <a:pt x="93805" y="330200"/>
                  </a:lnTo>
                  <a:close/>
                </a:path>
                <a:path w="417195" h="408939">
                  <a:moveTo>
                    <a:pt x="309773" y="408940"/>
                  </a:moveTo>
                  <a:lnTo>
                    <a:pt x="29811" y="408940"/>
                  </a:lnTo>
                  <a:lnTo>
                    <a:pt x="22267" y="403860"/>
                  </a:lnTo>
                  <a:lnTo>
                    <a:pt x="2976" y="369570"/>
                  </a:lnTo>
                  <a:lnTo>
                    <a:pt x="2164" y="358140"/>
                  </a:lnTo>
                  <a:lnTo>
                    <a:pt x="2164" y="332740"/>
                  </a:lnTo>
                  <a:lnTo>
                    <a:pt x="5051" y="330200"/>
                  </a:lnTo>
                  <a:lnTo>
                    <a:pt x="256161" y="330200"/>
                  </a:lnTo>
                  <a:lnTo>
                    <a:pt x="259048" y="332740"/>
                  </a:lnTo>
                  <a:lnTo>
                    <a:pt x="259048" y="344170"/>
                  </a:lnTo>
                  <a:lnTo>
                    <a:pt x="16596" y="344170"/>
                  </a:lnTo>
                  <a:lnTo>
                    <a:pt x="16596" y="358140"/>
                  </a:lnTo>
                  <a:lnTo>
                    <a:pt x="32471" y="394970"/>
                  </a:lnTo>
                  <a:lnTo>
                    <a:pt x="40408" y="398780"/>
                  </a:lnTo>
                  <a:lnTo>
                    <a:pt x="322491" y="398780"/>
                  </a:lnTo>
                  <a:lnTo>
                    <a:pt x="309773" y="408940"/>
                  </a:lnTo>
                  <a:close/>
                </a:path>
                <a:path w="417195" h="408939">
                  <a:moveTo>
                    <a:pt x="282138" y="398780"/>
                  </a:moveTo>
                  <a:lnTo>
                    <a:pt x="260491" y="398780"/>
                  </a:lnTo>
                  <a:lnTo>
                    <a:pt x="258326" y="397510"/>
                  </a:lnTo>
                  <a:lnTo>
                    <a:pt x="252644" y="388620"/>
                  </a:lnTo>
                  <a:lnTo>
                    <a:pt x="248585" y="379730"/>
                  </a:lnTo>
                  <a:lnTo>
                    <a:pt x="246149" y="369570"/>
                  </a:lnTo>
                  <a:lnTo>
                    <a:pt x="245338" y="358140"/>
                  </a:lnTo>
                  <a:lnTo>
                    <a:pt x="245338" y="344170"/>
                  </a:lnTo>
                  <a:lnTo>
                    <a:pt x="259048" y="344170"/>
                  </a:lnTo>
                  <a:lnTo>
                    <a:pt x="259048" y="358140"/>
                  </a:lnTo>
                  <a:lnTo>
                    <a:pt x="259702" y="367030"/>
                  </a:lnTo>
                  <a:lnTo>
                    <a:pt x="261573" y="374650"/>
                  </a:lnTo>
                  <a:lnTo>
                    <a:pt x="264527" y="381000"/>
                  </a:lnTo>
                  <a:lnTo>
                    <a:pt x="268428" y="387350"/>
                  </a:lnTo>
                  <a:lnTo>
                    <a:pt x="274201" y="394970"/>
                  </a:lnTo>
                  <a:lnTo>
                    <a:pt x="282138" y="3987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/>
          <p:cNvGrpSpPr/>
          <p:nvPr/>
        </p:nvGrpSpPr>
        <p:grpSpPr>
          <a:xfrm>
            <a:off x="5184645" y="4361996"/>
            <a:ext cx="3932554" cy="3990975"/>
            <a:chOff x="5184645" y="4361996"/>
            <a:chExt cx="3932554" cy="3990975"/>
          </a:xfrm>
        </p:grpSpPr>
        <p:sp>
          <p:nvSpPr>
            <p:cNvPr id="15" name="object 15"/>
            <p:cNvSpPr/>
            <p:nvPr/>
          </p:nvSpPr>
          <p:spPr>
            <a:xfrm>
              <a:off x="5194170" y="4371521"/>
              <a:ext cx="3913504" cy="3971925"/>
            </a:xfrm>
            <a:custGeom>
              <a:avLst/>
              <a:gdLst/>
              <a:ahLst/>
              <a:cxnLst/>
              <a:rect l="l" t="t" r="r" b="b"/>
              <a:pathLst>
                <a:path w="3913504" h="3971925">
                  <a:moveTo>
                    <a:pt x="187395" y="3971911"/>
                  </a:moveTo>
                  <a:lnTo>
                    <a:pt x="117592" y="3957728"/>
                  </a:lnTo>
                  <a:lnTo>
                    <a:pt x="55789" y="3916427"/>
                  </a:lnTo>
                  <a:lnTo>
                    <a:pt x="14497" y="3854620"/>
                  </a:lnTo>
                  <a:lnTo>
                    <a:pt x="0" y="3781718"/>
                  </a:lnTo>
                  <a:lnTo>
                    <a:pt x="0" y="190503"/>
                  </a:lnTo>
                  <a:lnTo>
                    <a:pt x="3693" y="153164"/>
                  </a:lnTo>
                  <a:lnTo>
                    <a:pt x="32004" y="84812"/>
                  </a:lnTo>
                  <a:lnTo>
                    <a:pt x="84808" y="32007"/>
                  </a:lnTo>
                  <a:lnTo>
                    <a:pt x="153160" y="3694"/>
                  </a:lnTo>
                  <a:lnTo>
                    <a:pt x="190499" y="0"/>
                  </a:lnTo>
                  <a:lnTo>
                    <a:pt x="3722935" y="0"/>
                  </a:lnTo>
                  <a:lnTo>
                    <a:pt x="3795842" y="14494"/>
                  </a:lnTo>
                  <a:lnTo>
                    <a:pt x="3857652" y="55789"/>
                  </a:lnTo>
                  <a:lnTo>
                    <a:pt x="3898952" y="117596"/>
                  </a:lnTo>
                  <a:lnTo>
                    <a:pt x="3913454" y="190503"/>
                  </a:lnTo>
                  <a:lnTo>
                    <a:pt x="3913455" y="3781720"/>
                  </a:lnTo>
                  <a:lnTo>
                    <a:pt x="3909762" y="3819062"/>
                  </a:lnTo>
                  <a:lnTo>
                    <a:pt x="3881447" y="3887422"/>
                  </a:lnTo>
                  <a:lnTo>
                    <a:pt x="3828635" y="3940230"/>
                  </a:lnTo>
                  <a:lnTo>
                    <a:pt x="3760275" y="3968539"/>
                  </a:lnTo>
                  <a:lnTo>
                    <a:pt x="3726059" y="3971908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584462" y="4977196"/>
              <a:ext cx="625475" cy="625475"/>
            </a:xfrm>
            <a:custGeom>
              <a:avLst/>
              <a:gdLst/>
              <a:ahLst/>
              <a:cxnLst/>
              <a:rect l="l" t="t" r="r" b="b"/>
              <a:pathLst>
                <a:path w="625475" h="625475">
                  <a:moveTo>
                    <a:pt x="567889" y="625039"/>
                  </a:moveTo>
                  <a:lnTo>
                    <a:pt x="57150" y="625039"/>
                  </a:lnTo>
                  <a:lnTo>
                    <a:pt x="34904" y="620548"/>
                  </a:lnTo>
                  <a:lnTo>
                    <a:pt x="16738" y="608301"/>
                  </a:lnTo>
                  <a:lnTo>
                    <a:pt x="4491" y="590135"/>
                  </a:lnTo>
                  <a:lnTo>
                    <a:pt x="0" y="567889"/>
                  </a:lnTo>
                  <a:lnTo>
                    <a:pt x="0" y="57150"/>
                  </a:lnTo>
                  <a:lnTo>
                    <a:pt x="4491" y="34904"/>
                  </a:lnTo>
                  <a:lnTo>
                    <a:pt x="16738" y="16738"/>
                  </a:lnTo>
                  <a:lnTo>
                    <a:pt x="34904" y="4491"/>
                  </a:lnTo>
                  <a:lnTo>
                    <a:pt x="57150" y="0"/>
                  </a:lnTo>
                  <a:lnTo>
                    <a:pt x="567889" y="0"/>
                  </a:lnTo>
                  <a:lnTo>
                    <a:pt x="590135" y="4491"/>
                  </a:lnTo>
                  <a:lnTo>
                    <a:pt x="608301" y="16738"/>
                  </a:lnTo>
                  <a:lnTo>
                    <a:pt x="620548" y="34904"/>
                  </a:lnTo>
                  <a:lnTo>
                    <a:pt x="625039" y="57150"/>
                  </a:lnTo>
                  <a:lnTo>
                    <a:pt x="625039" y="567889"/>
                  </a:lnTo>
                  <a:lnTo>
                    <a:pt x="620548" y="590135"/>
                  </a:lnTo>
                  <a:lnTo>
                    <a:pt x="608301" y="608301"/>
                  </a:lnTo>
                  <a:lnTo>
                    <a:pt x="590135" y="620548"/>
                  </a:lnTo>
                  <a:lnTo>
                    <a:pt x="567889" y="625039"/>
                  </a:lnTo>
                  <a:close/>
                </a:path>
              </a:pathLst>
            </a:custGeom>
            <a:solidFill>
              <a:srgbClr val="F166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592539" y="6393758"/>
              <a:ext cx="2774315" cy="0"/>
            </a:xfrm>
            <a:custGeom>
              <a:avLst/>
              <a:gdLst/>
              <a:ahLst/>
              <a:cxnLst/>
              <a:rect l="l" t="t" r="r" b="b"/>
              <a:pathLst>
                <a:path w="2774315" h="0">
                  <a:moveTo>
                    <a:pt x="0" y="0"/>
                  </a:moveTo>
                  <a:lnTo>
                    <a:pt x="2773804" y="0"/>
                  </a:lnTo>
                </a:path>
              </a:pathLst>
            </a:custGeom>
            <a:ln w="9524">
              <a:solidFill>
                <a:srgbClr val="092A3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848217" y="5183056"/>
              <a:ext cx="289560" cy="289560"/>
            </a:xfrm>
            <a:custGeom>
              <a:avLst/>
              <a:gdLst/>
              <a:ahLst/>
              <a:cxnLst/>
              <a:rect l="l" t="t" r="r" b="b"/>
              <a:pathLst>
                <a:path w="289560" h="289560">
                  <a:moveTo>
                    <a:pt x="105251" y="210502"/>
                  </a:moveTo>
                  <a:lnTo>
                    <a:pt x="64946" y="202542"/>
                  </a:lnTo>
                  <a:lnTo>
                    <a:pt x="30828" y="179674"/>
                  </a:lnTo>
                  <a:lnTo>
                    <a:pt x="7960" y="145543"/>
                  </a:lnTo>
                  <a:lnTo>
                    <a:pt x="0" y="105251"/>
                  </a:lnTo>
                  <a:lnTo>
                    <a:pt x="2021" y="84552"/>
                  </a:lnTo>
                  <a:lnTo>
                    <a:pt x="17626" y="46887"/>
                  </a:lnTo>
                  <a:lnTo>
                    <a:pt x="46887" y="17626"/>
                  </a:lnTo>
                  <a:lnTo>
                    <a:pt x="84552" y="2021"/>
                  </a:lnTo>
                  <a:lnTo>
                    <a:pt x="105251" y="0"/>
                  </a:lnTo>
                  <a:lnTo>
                    <a:pt x="125950" y="2021"/>
                  </a:lnTo>
                  <a:lnTo>
                    <a:pt x="145556" y="7960"/>
                  </a:lnTo>
                  <a:lnTo>
                    <a:pt x="163615" y="17626"/>
                  </a:lnTo>
                  <a:lnTo>
                    <a:pt x="169121" y="22152"/>
                  </a:lnTo>
                  <a:lnTo>
                    <a:pt x="105269" y="22152"/>
                  </a:lnTo>
                  <a:lnTo>
                    <a:pt x="73968" y="28232"/>
                  </a:lnTo>
                  <a:lnTo>
                    <a:pt x="46474" y="46474"/>
                  </a:lnTo>
                  <a:lnTo>
                    <a:pt x="28232" y="73968"/>
                  </a:lnTo>
                  <a:lnTo>
                    <a:pt x="22156" y="105251"/>
                  </a:lnTo>
                  <a:lnTo>
                    <a:pt x="28232" y="136570"/>
                  </a:lnTo>
                  <a:lnTo>
                    <a:pt x="46474" y="164064"/>
                  </a:lnTo>
                  <a:lnTo>
                    <a:pt x="73968" y="182305"/>
                  </a:lnTo>
                  <a:lnTo>
                    <a:pt x="105269" y="188385"/>
                  </a:lnTo>
                  <a:lnTo>
                    <a:pt x="212351" y="188385"/>
                  </a:lnTo>
                  <a:lnTo>
                    <a:pt x="214663" y="190697"/>
                  </a:lnTo>
                  <a:lnTo>
                    <a:pt x="166731" y="190697"/>
                  </a:lnTo>
                  <a:lnTo>
                    <a:pt x="152769" y="199222"/>
                  </a:lnTo>
                  <a:lnTo>
                    <a:pt x="137711" y="205427"/>
                  </a:lnTo>
                  <a:lnTo>
                    <a:pt x="121793" y="209218"/>
                  </a:lnTo>
                  <a:lnTo>
                    <a:pt x="105251" y="210502"/>
                  </a:lnTo>
                  <a:close/>
                </a:path>
                <a:path w="289560" h="289560">
                  <a:moveTo>
                    <a:pt x="212351" y="188385"/>
                  </a:moveTo>
                  <a:lnTo>
                    <a:pt x="105269" y="188385"/>
                  </a:lnTo>
                  <a:lnTo>
                    <a:pt x="136570" y="182305"/>
                  </a:lnTo>
                  <a:lnTo>
                    <a:pt x="164064" y="164064"/>
                  </a:lnTo>
                  <a:lnTo>
                    <a:pt x="182305" y="136570"/>
                  </a:lnTo>
                  <a:lnTo>
                    <a:pt x="188382" y="105251"/>
                  </a:lnTo>
                  <a:lnTo>
                    <a:pt x="182305" y="73968"/>
                  </a:lnTo>
                  <a:lnTo>
                    <a:pt x="164064" y="46474"/>
                  </a:lnTo>
                  <a:lnTo>
                    <a:pt x="136570" y="28232"/>
                  </a:lnTo>
                  <a:lnTo>
                    <a:pt x="105269" y="22152"/>
                  </a:lnTo>
                  <a:lnTo>
                    <a:pt x="169121" y="22152"/>
                  </a:lnTo>
                  <a:lnTo>
                    <a:pt x="202535" y="64946"/>
                  </a:lnTo>
                  <a:lnTo>
                    <a:pt x="210502" y="105251"/>
                  </a:lnTo>
                  <a:lnTo>
                    <a:pt x="209218" y="121793"/>
                  </a:lnTo>
                  <a:lnTo>
                    <a:pt x="205427" y="137711"/>
                  </a:lnTo>
                  <a:lnTo>
                    <a:pt x="199222" y="152769"/>
                  </a:lnTo>
                  <a:lnTo>
                    <a:pt x="190697" y="166731"/>
                  </a:lnTo>
                  <a:lnTo>
                    <a:pt x="212351" y="188385"/>
                  </a:lnTo>
                  <a:close/>
                </a:path>
                <a:path w="289560" h="289560">
                  <a:moveTo>
                    <a:pt x="272107" y="289068"/>
                  </a:moveTo>
                  <a:lnTo>
                    <a:pt x="265741" y="287828"/>
                  </a:lnTo>
                  <a:lnTo>
                    <a:pt x="260141" y="284107"/>
                  </a:lnTo>
                  <a:lnTo>
                    <a:pt x="166731" y="190697"/>
                  </a:lnTo>
                  <a:lnTo>
                    <a:pt x="214663" y="190697"/>
                  </a:lnTo>
                  <a:lnTo>
                    <a:pt x="284107" y="260141"/>
                  </a:lnTo>
                  <a:lnTo>
                    <a:pt x="287807" y="265746"/>
                  </a:lnTo>
                  <a:lnTo>
                    <a:pt x="289037" y="272124"/>
                  </a:lnTo>
                  <a:lnTo>
                    <a:pt x="287793" y="278503"/>
                  </a:lnTo>
                  <a:lnTo>
                    <a:pt x="284072" y="284107"/>
                  </a:lnTo>
                  <a:lnTo>
                    <a:pt x="278473" y="287828"/>
                  </a:lnTo>
                  <a:lnTo>
                    <a:pt x="272107" y="2890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45455" y="5153614"/>
              <a:ext cx="247483" cy="233046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699265" y="5035816"/>
              <a:ext cx="368300" cy="512445"/>
            </a:xfrm>
            <a:custGeom>
              <a:avLst/>
              <a:gdLst/>
              <a:ahLst/>
              <a:cxnLst/>
              <a:rect l="l" t="t" r="r" b="b"/>
              <a:pathLst>
                <a:path w="368300" h="512445">
                  <a:moveTo>
                    <a:pt x="123596" y="103009"/>
                  </a:moveTo>
                  <a:lnTo>
                    <a:pt x="118922" y="86868"/>
                  </a:lnTo>
                  <a:lnTo>
                    <a:pt x="116662" y="79082"/>
                  </a:lnTo>
                  <a:lnTo>
                    <a:pt x="109194" y="53263"/>
                  </a:lnTo>
                  <a:lnTo>
                    <a:pt x="106705" y="44691"/>
                  </a:lnTo>
                  <a:lnTo>
                    <a:pt x="106705" y="79082"/>
                  </a:lnTo>
                  <a:lnTo>
                    <a:pt x="93294" y="79082"/>
                  </a:lnTo>
                  <a:lnTo>
                    <a:pt x="97243" y="64935"/>
                  </a:lnTo>
                  <a:lnTo>
                    <a:pt x="98196" y="61264"/>
                  </a:lnTo>
                  <a:lnTo>
                    <a:pt x="99072" y="56857"/>
                  </a:lnTo>
                  <a:lnTo>
                    <a:pt x="99847" y="53263"/>
                  </a:lnTo>
                  <a:lnTo>
                    <a:pt x="100050" y="53263"/>
                  </a:lnTo>
                  <a:lnTo>
                    <a:pt x="100876" y="56857"/>
                  </a:lnTo>
                  <a:lnTo>
                    <a:pt x="101803" y="61404"/>
                  </a:lnTo>
                  <a:lnTo>
                    <a:pt x="102743" y="64935"/>
                  </a:lnTo>
                  <a:lnTo>
                    <a:pt x="106705" y="79082"/>
                  </a:lnTo>
                  <a:lnTo>
                    <a:pt x="106705" y="44691"/>
                  </a:lnTo>
                  <a:lnTo>
                    <a:pt x="106667" y="44551"/>
                  </a:lnTo>
                  <a:lnTo>
                    <a:pt x="93903" y="44551"/>
                  </a:lnTo>
                  <a:lnTo>
                    <a:pt x="76873" y="103009"/>
                  </a:lnTo>
                  <a:lnTo>
                    <a:pt x="87287" y="103009"/>
                  </a:lnTo>
                  <a:lnTo>
                    <a:pt x="91732" y="86868"/>
                  </a:lnTo>
                  <a:lnTo>
                    <a:pt x="108229" y="86868"/>
                  </a:lnTo>
                  <a:lnTo>
                    <a:pt x="112852" y="103009"/>
                  </a:lnTo>
                  <a:lnTo>
                    <a:pt x="123596" y="103009"/>
                  </a:lnTo>
                  <a:close/>
                </a:path>
                <a:path w="368300" h="512445">
                  <a:moveTo>
                    <a:pt x="170459" y="44551"/>
                  </a:moveTo>
                  <a:lnTo>
                    <a:pt x="160223" y="44551"/>
                  </a:lnTo>
                  <a:lnTo>
                    <a:pt x="160223" y="90855"/>
                  </a:lnTo>
                  <a:lnTo>
                    <a:pt x="156159" y="95440"/>
                  </a:lnTo>
                  <a:lnTo>
                    <a:pt x="143433" y="95440"/>
                  </a:lnTo>
                  <a:lnTo>
                    <a:pt x="139204" y="90817"/>
                  </a:lnTo>
                  <a:lnTo>
                    <a:pt x="139204" y="44551"/>
                  </a:lnTo>
                  <a:lnTo>
                    <a:pt x="128930" y="44551"/>
                  </a:lnTo>
                  <a:lnTo>
                    <a:pt x="128930" y="79184"/>
                  </a:lnTo>
                  <a:lnTo>
                    <a:pt x="130327" y="90322"/>
                  </a:lnTo>
                  <a:lnTo>
                    <a:pt x="134366" y="98005"/>
                  </a:lnTo>
                  <a:lnTo>
                    <a:pt x="140766" y="102463"/>
                  </a:lnTo>
                  <a:lnTo>
                    <a:pt x="149263" y="103898"/>
                  </a:lnTo>
                  <a:lnTo>
                    <a:pt x="158026" y="102425"/>
                  </a:lnTo>
                  <a:lnTo>
                    <a:pt x="164706" y="97878"/>
                  </a:lnTo>
                  <a:lnTo>
                    <a:pt x="168960" y="90131"/>
                  </a:lnTo>
                  <a:lnTo>
                    <a:pt x="170459" y="79006"/>
                  </a:lnTo>
                  <a:lnTo>
                    <a:pt x="170459" y="44551"/>
                  </a:lnTo>
                  <a:close/>
                </a:path>
                <a:path w="368300" h="512445">
                  <a:moveTo>
                    <a:pt x="226961" y="62014"/>
                  </a:moveTo>
                  <a:lnTo>
                    <a:pt x="223659" y="54825"/>
                  </a:lnTo>
                  <a:lnTo>
                    <a:pt x="220510" y="52197"/>
                  </a:lnTo>
                  <a:lnTo>
                    <a:pt x="218249" y="50317"/>
                  </a:lnTo>
                  <a:lnTo>
                    <a:pt x="216192" y="48564"/>
                  </a:lnTo>
                  <a:lnTo>
                    <a:pt x="216192" y="72682"/>
                  </a:lnTo>
                  <a:lnTo>
                    <a:pt x="214833" y="82854"/>
                  </a:lnTo>
                  <a:lnTo>
                    <a:pt x="210972" y="89928"/>
                  </a:lnTo>
                  <a:lnTo>
                    <a:pt x="204939" y="94030"/>
                  </a:lnTo>
                  <a:lnTo>
                    <a:pt x="197269" y="95300"/>
                  </a:lnTo>
                  <a:lnTo>
                    <a:pt x="193497" y="95300"/>
                  </a:lnTo>
                  <a:lnTo>
                    <a:pt x="192214" y="95084"/>
                  </a:lnTo>
                  <a:lnTo>
                    <a:pt x="192214" y="52730"/>
                  </a:lnTo>
                  <a:lnTo>
                    <a:pt x="216192" y="72682"/>
                  </a:lnTo>
                  <a:lnTo>
                    <a:pt x="216192" y="48564"/>
                  </a:lnTo>
                  <a:lnTo>
                    <a:pt x="213448" y="46228"/>
                  </a:lnTo>
                  <a:lnTo>
                    <a:pt x="206768" y="44132"/>
                  </a:lnTo>
                  <a:lnTo>
                    <a:pt x="191439" y="44132"/>
                  </a:lnTo>
                  <a:lnTo>
                    <a:pt x="186182" y="44589"/>
                  </a:lnTo>
                  <a:lnTo>
                    <a:pt x="182016" y="45339"/>
                  </a:lnTo>
                  <a:lnTo>
                    <a:pt x="182016" y="102768"/>
                  </a:lnTo>
                  <a:lnTo>
                    <a:pt x="185115" y="103187"/>
                  </a:lnTo>
                  <a:lnTo>
                    <a:pt x="189382" y="103479"/>
                  </a:lnTo>
                  <a:lnTo>
                    <a:pt x="204876" y="103479"/>
                  </a:lnTo>
                  <a:lnTo>
                    <a:pt x="213055" y="101015"/>
                  </a:lnTo>
                  <a:lnTo>
                    <a:pt x="219214" y="95300"/>
                  </a:lnTo>
                  <a:lnTo>
                    <a:pt x="223507" y="91351"/>
                  </a:lnTo>
                  <a:lnTo>
                    <a:pt x="226961" y="83566"/>
                  </a:lnTo>
                  <a:lnTo>
                    <a:pt x="226961" y="62014"/>
                  </a:lnTo>
                  <a:close/>
                </a:path>
                <a:path w="368300" h="512445">
                  <a:moveTo>
                    <a:pt x="245872" y="44551"/>
                  </a:moveTo>
                  <a:lnTo>
                    <a:pt x="235635" y="44551"/>
                  </a:lnTo>
                  <a:lnTo>
                    <a:pt x="235635" y="103009"/>
                  </a:lnTo>
                  <a:lnTo>
                    <a:pt x="245872" y="103009"/>
                  </a:lnTo>
                  <a:lnTo>
                    <a:pt x="245872" y="44551"/>
                  </a:lnTo>
                  <a:close/>
                </a:path>
                <a:path w="368300" h="512445">
                  <a:moveTo>
                    <a:pt x="292595" y="44551"/>
                  </a:moveTo>
                  <a:lnTo>
                    <a:pt x="252564" y="44551"/>
                  </a:lnTo>
                  <a:lnTo>
                    <a:pt x="252564" y="53378"/>
                  </a:lnTo>
                  <a:lnTo>
                    <a:pt x="267385" y="53378"/>
                  </a:lnTo>
                  <a:lnTo>
                    <a:pt x="267385" y="103009"/>
                  </a:lnTo>
                  <a:lnTo>
                    <a:pt x="277660" y="103009"/>
                  </a:lnTo>
                  <a:lnTo>
                    <a:pt x="277660" y="53378"/>
                  </a:lnTo>
                  <a:lnTo>
                    <a:pt x="292595" y="53378"/>
                  </a:lnTo>
                  <a:lnTo>
                    <a:pt x="292595" y="44551"/>
                  </a:lnTo>
                  <a:close/>
                </a:path>
                <a:path w="368300" h="512445">
                  <a:moveTo>
                    <a:pt x="368084" y="422363"/>
                  </a:moveTo>
                  <a:lnTo>
                    <a:pt x="363969" y="418236"/>
                  </a:lnTo>
                  <a:lnTo>
                    <a:pt x="358914" y="418236"/>
                  </a:lnTo>
                  <a:lnTo>
                    <a:pt x="353872" y="418236"/>
                  </a:lnTo>
                  <a:lnTo>
                    <a:pt x="349783" y="422325"/>
                  </a:lnTo>
                  <a:lnTo>
                    <a:pt x="349783" y="493966"/>
                  </a:lnTo>
                  <a:lnTo>
                    <a:pt x="18300" y="493966"/>
                  </a:lnTo>
                  <a:lnTo>
                    <a:pt x="18300" y="18313"/>
                  </a:lnTo>
                  <a:lnTo>
                    <a:pt x="349783" y="18313"/>
                  </a:lnTo>
                  <a:lnTo>
                    <a:pt x="349783" y="181127"/>
                  </a:lnTo>
                  <a:lnTo>
                    <a:pt x="353872" y="185216"/>
                  </a:lnTo>
                  <a:lnTo>
                    <a:pt x="363969" y="185216"/>
                  </a:lnTo>
                  <a:lnTo>
                    <a:pt x="368058" y="181127"/>
                  </a:lnTo>
                  <a:lnTo>
                    <a:pt x="368058" y="1346"/>
                  </a:lnTo>
                  <a:lnTo>
                    <a:pt x="366699" y="0"/>
                  </a:lnTo>
                  <a:lnTo>
                    <a:pt x="1346" y="0"/>
                  </a:lnTo>
                  <a:lnTo>
                    <a:pt x="0" y="1346"/>
                  </a:lnTo>
                  <a:lnTo>
                    <a:pt x="0" y="510971"/>
                  </a:lnTo>
                  <a:lnTo>
                    <a:pt x="1346" y="512318"/>
                  </a:lnTo>
                  <a:lnTo>
                    <a:pt x="366737" y="512318"/>
                  </a:lnTo>
                  <a:lnTo>
                    <a:pt x="368084" y="510971"/>
                  </a:lnTo>
                  <a:lnTo>
                    <a:pt x="368084" y="4223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24927" y="5406289"/>
              <a:ext cx="113785" cy="113785"/>
            </a:xfrm>
            <a:prstGeom prst="rect">
              <a:avLst/>
            </a:prstGeom>
          </p:spPr>
        </p:pic>
      </p:grpSp>
      <p:grpSp>
        <p:nvGrpSpPr>
          <p:cNvPr id="22" name="object 22"/>
          <p:cNvGrpSpPr/>
          <p:nvPr/>
        </p:nvGrpSpPr>
        <p:grpSpPr>
          <a:xfrm>
            <a:off x="13242934" y="4361996"/>
            <a:ext cx="3733800" cy="3990975"/>
            <a:chOff x="13242934" y="4361996"/>
            <a:chExt cx="3733800" cy="3990975"/>
          </a:xfrm>
        </p:grpSpPr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778382" y="8185803"/>
              <a:ext cx="188908" cy="162391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252459" y="4371521"/>
              <a:ext cx="3714750" cy="3971925"/>
            </a:xfrm>
            <a:custGeom>
              <a:avLst/>
              <a:gdLst/>
              <a:ahLst/>
              <a:cxnLst/>
              <a:rect l="l" t="t" r="r" b="b"/>
              <a:pathLst>
                <a:path w="3714750" h="3971925">
                  <a:moveTo>
                    <a:pt x="187744" y="3971925"/>
                  </a:moveTo>
                  <a:lnTo>
                    <a:pt x="117596" y="3957696"/>
                  </a:lnTo>
                  <a:lnTo>
                    <a:pt x="55795" y="3916401"/>
                  </a:lnTo>
                  <a:lnTo>
                    <a:pt x="14500" y="3854600"/>
                  </a:lnTo>
                  <a:lnTo>
                    <a:pt x="0" y="3781700"/>
                  </a:lnTo>
                  <a:lnTo>
                    <a:pt x="0" y="190521"/>
                  </a:lnTo>
                  <a:lnTo>
                    <a:pt x="3694" y="153183"/>
                  </a:lnTo>
                  <a:lnTo>
                    <a:pt x="32005" y="84833"/>
                  </a:lnTo>
                  <a:lnTo>
                    <a:pt x="84809" y="32030"/>
                  </a:lnTo>
                  <a:lnTo>
                    <a:pt x="153159" y="3718"/>
                  </a:lnTo>
                  <a:lnTo>
                    <a:pt x="190496" y="0"/>
                  </a:lnTo>
                  <a:lnTo>
                    <a:pt x="3527975" y="0"/>
                  </a:lnTo>
                  <a:lnTo>
                    <a:pt x="3600872" y="14524"/>
                  </a:lnTo>
                  <a:lnTo>
                    <a:pt x="3662674" y="55819"/>
                  </a:lnTo>
                  <a:lnTo>
                    <a:pt x="3703969" y="117621"/>
                  </a:lnTo>
                  <a:lnTo>
                    <a:pt x="3714751" y="153191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3842514" y="4962064"/>
              <a:ext cx="625475" cy="625475"/>
            </a:xfrm>
            <a:custGeom>
              <a:avLst/>
              <a:gdLst/>
              <a:ahLst/>
              <a:cxnLst/>
              <a:rect l="l" t="t" r="r" b="b"/>
              <a:pathLst>
                <a:path w="625475" h="625475">
                  <a:moveTo>
                    <a:pt x="567889" y="625039"/>
                  </a:moveTo>
                  <a:lnTo>
                    <a:pt x="57150" y="625039"/>
                  </a:lnTo>
                  <a:lnTo>
                    <a:pt x="34904" y="620548"/>
                  </a:lnTo>
                  <a:lnTo>
                    <a:pt x="16738" y="608301"/>
                  </a:lnTo>
                  <a:lnTo>
                    <a:pt x="4491" y="590135"/>
                  </a:lnTo>
                  <a:lnTo>
                    <a:pt x="0" y="567889"/>
                  </a:lnTo>
                  <a:lnTo>
                    <a:pt x="0" y="57150"/>
                  </a:lnTo>
                  <a:lnTo>
                    <a:pt x="4491" y="34904"/>
                  </a:lnTo>
                  <a:lnTo>
                    <a:pt x="16738" y="16738"/>
                  </a:lnTo>
                  <a:lnTo>
                    <a:pt x="34904" y="4491"/>
                  </a:lnTo>
                  <a:lnTo>
                    <a:pt x="57150" y="0"/>
                  </a:lnTo>
                  <a:lnTo>
                    <a:pt x="567889" y="0"/>
                  </a:lnTo>
                  <a:lnTo>
                    <a:pt x="590135" y="4491"/>
                  </a:lnTo>
                  <a:lnTo>
                    <a:pt x="608300" y="16738"/>
                  </a:lnTo>
                  <a:lnTo>
                    <a:pt x="620548" y="34904"/>
                  </a:lnTo>
                  <a:lnTo>
                    <a:pt x="625039" y="57150"/>
                  </a:lnTo>
                  <a:lnTo>
                    <a:pt x="625039" y="567889"/>
                  </a:lnTo>
                  <a:lnTo>
                    <a:pt x="620548" y="590135"/>
                  </a:lnTo>
                  <a:lnTo>
                    <a:pt x="608300" y="608301"/>
                  </a:lnTo>
                  <a:lnTo>
                    <a:pt x="590135" y="620548"/>
                  </a:lnTo>
                  <a:lnTo>
                    <a:pt x="567889" y="625039"/>
                  </a:lnTo>
                  <a:close/>
                </a:path>
              </a:pathLst>
            </a:custGeom>
            <a:solidFill>
              <a:srgbClr val="F166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3767233" y="6422905"/>
              <a:ext cx="2774315" cy="0"/>
            </a:xfrm>
            <a:custGeom>
              <a:avLst/>
              <a:gdLst/>
              <a:ahLst/>
              <a:cxnLst/>
              <a:rect l="l" t="t" r="r" b="b"/>
              <a:pathLst>
                <a:path w="2774315" h="0">
                  <a:moveTo>
                    <a:pt x="0" y="0"/>
                  </a:moveTo>
                  <a:lnTo>
                    <a:pt x="2773804" y="0"/>
                  </a:lnTo>
                </a:path>
              </a:pathLst>
            </a:custGeom>
            <a:ln w="9524">
              <a:solidFill>
                <a:srgbClr val="092A3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3971803" y="5061593"/>
              <a:ext cx="371475" cy="426084"/>
            </a:xfrm>
            <a:custGeom>
              <a:avLst/>
              <a:gdLst/>
              <a:ahLst/>
              <a:cxnLst/>
              <a:rect l="l" t="t" r="r" b="b"/>
              <a:pathLst>
                <a:path w="371475" h="426085">
                  <a:moveTo>
                    <a:pt x="55805" y="59666"/>
                  </a:moveTo>
                  <a:lnTo>
                    <a:pt x="46398" y="59666"/>
                  </a:lnTo>
                  <a:lnTo>
                    <a:pt x="42584" y="55857"/>
                  </a:lnTo>
                  <a:lnTo>
                    <a:pt x="42584" y="3856"/>
                  </a:lnTo>
                  <a:lnTo>
                    <a:pt x="46398" y="0"/>
                  </a:lnTo>
                  <a:lnTo>
                    <a:pt x="266285" y="0"/>
                  </a:lnTo>
                  <a:lnTo>
                    <a:pt x="268452" y="945"/>
                  </a:lnTo>
                  <a:lnTo>
                    <a:pt x="284587" y="17081"/>
                  </a:lnTo>
                  <a:lnTo>
                    <a:pt x="59618" y="17081"/>
                  </a:lnTo>
                  <a:lnTo>
                    <a:pt x="59618" y="55857"/>
                  </a:lnTo>
                  <a:lnTo>
                    <a:pt x="55805" y="59666"/>
                  </a:lnTo>
                  <a:close/>
                </a:path>
                <a:path w="371475" h="426085">
                  <a:moveTo>
                    <a:pt x="294281" y="136319"/>
                  </a:moveTo>
                  <a:lnTo>
                    <a:pt x="80466" y="136319"/>
                  </a:lnTo>
                  <a:lnTo>
                    <a:pt x="76652" y="132510"/>
                  </a:lnTo>
                  <a:lnTo>
                    <a:pt x="76652" y="37924"/>
                  </a:lnTo>
                  <a:lnTo>
                    <a:pt x="80466" y="34115"/>
                  </a:lnTo>
                  <a:lnTo>
                    <a:pt x="246993" y="34115"/>
                  </a:lnTo>
                  <a:lnTo>
                    <a:pt x="246993" y="17081"/>
                  </a:lnTo>
                  <a:lnTo>
                    <a:pt x="284587" y="17081"/>
                  </a:lnTo>
                  <a:lnTo>
                    <a:pt x="288114" y="20607"/>
                  </a:lnTo>
                  <a:lnTo>
                    <a:pt x="264027" y="20607"/>
                  </a:lnTo>
                  <a:lnTo>
                    <a:pt x="264027" y="51149"/>
                  </a:lnTo>
                  <a:lnTo>
                    <a:pt x="93686" y="51149"/>
                  </a:lnTo>
                  <a:lnTo>
                    <a:pt x="93686" y="119285"/>
                  </a:lnTo>
                  <a:lnTo>
                    <a:pt x="298095" y="119285"/>
                  </a:lnTo>
                  <a:lnTo>
                    <a:pt x="298095" y="132510"/>
                  </a:lnTo>
                  <a:lnTo>
                    <a:pt x="294281" y="136319"/>
                  </a:lnTo>
                  <a:close/>
                </a:path>
                <a:path w="371475" h="426085">
                  <a:moveTo>
                    <a:pt x="332163" y="68183"/>
                  </a:moveTo>
                  <a:lnTo>
                    <a:pt x="311602" y="68183"/>
                  </a:lnTo>
                  <a:lnTo>
                    <a:pt x="264027" y="20607"/>
                  </a:lnTo>
                  <a:lnTo>
                    <a:pt x="288114" y="20607"/>
                  </a:lnTo>
                  <a:lnTo>
                    <a:pt x="331265" y="63758"/>
                  </a:lnTo>
                  <a:lnTo>
                    <a:pt x="332163" y="65921"/>
                  </a:lnTo>
                  <a:lnTo>
                    <a:pt x="332163" y="68183"/>
                  </a:lnTo>
                  <a:close/>
                </a:path>
                <a:path w="371475" h="426085">
                  <a:moveTo>
                    <a:pt x="230990" y="303840"/>
                  </a:moveTo>
                  <a:lnTo>
                    <a:pt x="191378" y="303840"/>
                  </a:lnTo>
                  <a:lnTo>
                    <a:pt x="315129" y="244904"/>
                  </a:lnTo>
                  <a:lnTo>
                    <a:pt x="315129" y="85217"/>
                  </a:lnTo>
                  <a:lnTo>
                    <a:pt x="250806" y="85217"/>
                  </a:lnTo>
                  <a:lnTo>
                    <a:pt x="246993" y="81408"/>
                  </a:lnTo>
                  <a:lnTo>
                    <a:pt x="246993" y="51149"/>
                  </a:lnTo>
                  <a:lnTo>
                    <a:pt x="264027" y="51149"/>
                  </a:lnTo>
                  <a:lnTo>
                    <a:pt x="264027" y="68183"/>
                  </a:lnTo>
                  <a:lnTo>
                    <a:pt x="332163" y="68183"/>
                  </a:lnTo>
                  <a:lnTo>
                    <a:pt x="332163" y="163944"/>
                  </a:lnTo>
                  <a:lnTo>
                    <a:pt x="358625" y="180352"/>
                  </a:lnTo>
                  <a:lnTo>
                    <a:pt x="363078" y="183981"/>
                  </a:lnTo>
                  <a:lnTo>
                    <a:pt x="332163" y="183981"/>
                  </a:lnTo>
                  <a:lnTo>
                    <a:pt x="332163" y="236793"/>
                  </a:lnTo>
                  <a:lnTo>
                    <a:pt x="371475" y="236793"/>
                  </a:lnTo>
                  <a:lnTo>
                    <a:pt x="371475" y="243498"/>
                  </a:lnTo>
                  <a:lnTo>
                    <a:pt x="357715" y="243498"/>
                  </a:lnTo>
                  <a:lnTo>
                    <a:pt x="230990" y="303840"/>
                  </a:lnTo>
                  <a:close/>
                </a:path>
                <a:path w="371475" h="426085">
                  <a:moveTo>
                    <a:pt x="298095" y="119285"/>
                  </a:moveTo>
                  <a:lnTo>
                    <a:pt x="281061" y="119285"/>
                  </a:lnTo>
                  <a:lnTo>
                    <a:pt x="281061" y="85217"/>
                  </a:lnTo>
                  <a:lnTo>
                    <a:pt x="298095" y="85217"/>
                  </a:lnTo>
                  <a:lnTo>
                    <a:pt x="298095" y="119285"/>
                  </a:lnTo>
                  <a:close/>
                </a:path>
                <a:path w="371475" h="426085">
                  <a:moveTo>
                    <a:pt x="340680" y="425898"/>
                  </a:moveTo>
                  <a:lnTo>
                    <a:pt x="34067" y="425898"/>
                  </a:lnTo>
                  <a:lnTo>
                    <a:pt x="20819" y="423217"/>
                  </a:lnTo>
                  <a:lnTo>
                    <a:pt x="9989" y="415910"/>
                  </a:lnTo>
                  <a:lnTo>
                    <a:pt x="2680" y="405080"/>
                  </a:lnTo>
                  <a:lnTo>
                    <a:pt x="0" y="391830"/>
                  </a:lnTo>
                  <a:lnTo>
                    <a:pt x="0" y="209313"/>
                  </a:lnTo>
                  <a:lnTo>
                    <a:pt x="42584" y="163944"/>
                  </a:lnTo>
                  <a:lnTo>
                    <a:pt x="42584" y="114578"/>
                  </a:lnTo>
                  <a:lnTo>
                    <a:pt x="46398" y="110768"/>
                  </a:lnTo>
                  <a:lnTo>
                    <a:pt x="55805" y="110768"/>
                  </a:lnTo>
                  <a:lnTo>
                    <a:pt x="59618" y="114578"/>
                  </a:lnTo>
                  <a:lnTo>
                    <a:pt x="59618" y="183981"/>
                  </a:lnTo>
                  <a:lnTo>
                    <a:pt x="42584" y="183981"/>
                  </a:lnTo>
                  <a:lnTo>
                    <a:pt x="20061" y="197976"/>
                  </a:lnTo>
                  <a:lnTo>
                    <a:pt x="17033" y="203399"/>
                  </a:lnTo>
                  <a:lnTo>
                    <a:pt x="17033" y="224626"/>
                  </a:lnTo>
                  <a:lnTo>
                    <a:pt x="42584" y="236793"/>
                  </a:lnTo>
                  <a:lnTo>
                    <a:pt x="59618" y="236793"/>
                  </a:lnTo>
                  <a:lnTo>
                    <a:pt x="59618" y="243498"/>
                  </a:lnTo>
                  <a:lnTo>
                    <a:pt x="17033" y="243498"/>
                  </a:lnTo>
                  <a:lnTo>
                    <a:pt x="17033" y="401220"/>
                  </a:lnTo>
                  <a:lnTo>
                    <a:pt x="24673" y="408864"/>
                  </a:lnTo>
                  <a:lnTo>
                    <a:pt x="369513" y="408864"/>
                  </a:lnTo>
                  <a:lnTo>
                    <a:pt x="364758" y="415910"/>
                  </a:lnTo>
                  <a:lnTo>
                    <a:pt x="353928" y="423217"/>
                  </a:lnTo>
                  <a:lnTo>
                    <a:pt x="340680" y="425898"/>
                  </a:lnTo>
                  <a:close/>
                </a:path>
                <a:path w="371475" h="426085">
                  <a:moveTo>
                    <a:pt x="59618" y="236793"/>
                  </a:moveTo>
                  <a:lnTo>
                    <a:pt x="42584" y="236793"/>
                  </a:lnTo>
                  <a:lnTo>
                    <a:pt x="42584" y="183981"/>
                  </a:lnTo>
                  <a:lnTo>
                    <a:pt x="59618" y="183981"/>
                  </a:lnTo>
                  <a:lnTo>
                    <a:pt x="59618" y="236793"/>
                  </a:lnTo>
                  <a:close/>
                </a:path>
                <a:path w="371475" h="426085">
                  <a:moveTo>
                    <a:pt x="371475" y="236793"/>
                  </a:moveTo>
                  <a:lnTo>
                    <a:pt x="332165" y="236793"/>
                  </a:lnTo>
                  <a:lnTo>
                    <a:pt x="357714" y="224626"/>
                  </a:lnTo>
                  <a:lnTo>
                    <a:pt x="357714" y="203399"/>
                  </a:lnTo>
                  <a:lnTo>
                    <a:pt x="354687" y="197976"/>
                  </a:lnTo>
                  <a:lnTo>
                    <a:pt x="332160" y="183981"/>
                  </a:lnTo>
                  <a:lnTo>
                    <a:pt x="363078" y="183981"/>
                  </a:lnTo>
                  <a:lnTo>
                    <a:pt x="365409" y="185882"/>
                  </a:lnTo>
                  <a:lnTo>
                    <a:pt x="370478" y="192771"/>
                  </a:lnTo>
                  <a:lnTo>
                    <a:pt x="371475" y="195259"/>
                  </a:lnTo>
                  <a:lnTo>
                    <a:pt x="371475" y="236793"/>
                  </a:lnTo>
                  <a:close/>
                </a:path>
                <a:path w="371475" h="426085">
                  <a:moveTo>
                    <a:pt x="187198" y="319919"/>
                  </a:moveTo>
                  <a:lnTo>
                    <a:pt x="177828" y="318877"/>
                  </a:lnTo>
                  <a:lnTo>
                    <a:pt x="169063" y="315884"/>
                  </a:lnTo>
                  <a:lnTo>
                    <a:pt x="17033" y="243498"/>
                  </a:lnTo>
                  <a:lnTo>
                    <a:pt x="59618" y="243498"/>
                  </a:lnTo>
                  <a:lnTo>
                    <a:pt x="59618" y="244904"/>
                  </a:lnTo>
                  <a:lnTo>
                    <a:pt x="183355" y="303840"/>
                  </a:lnTo>
                  <a:lnTo>
                    <a:pt x="230990" y="303840"/>
                  </a:lnTo>
                  <a:lnTo>
                    <a:pt x="205698" y="315884"/>
                  </a:lnTo>
                  <a:lnTo>
                    <a:pt x="196857" y="318877"/>
                  </a:lnTo>
                  <a:lnTo>
                    <a:pt x="197321" y="318877"/>
                  </a:lnTo>
                  <a:lnTo>
                    <a:pt x="187198" y="319919"/>
                  </a:lnTo>
                  <a:close/>
                </a:path>
                <a:path w="371475" h="426085">
                  <a:moveTo>
                    <a:pt x="369513" y="408864"/>
                  </a:moveTo>
                  <a:lnTo>
                    <a:pt x="350075" y="408864"/>
                  </a:lnTo>
                  <a:lnTo>
                    <a:pt x="357714" y="401220"/>
                  </a:lnTo>
                  <a:lnTo>
                    <a:pt x="357714" y="243498"/>
                  </a:lnTo>
                  <a:lnTo>
                    <a:pt x="371475" y="243498"/>
                  </a:lnTo>
                  <a:lnTo>
                    <a:pt x="371475" y="405957"/>
                  </a:lnTo>
                  <a:lnTo>
                    <a:pt x="369513" y="4088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066555" y="5213833"/>
              <a:ext cx="186364" cy="70386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14014386" y="5138305"/>
              <a:ext cx="298450" cy="315595"/>
            </a:xfrm>
            <a:custGeom>
              <a:avLst/>
              <a:gdLst/>
              <a:ahLst/>
              <a:cxnLst/>
              <a:rect l="l" t="t" r="r" b="b"/>
              <a:pathLst>
                <a:path w="298450" h="315595">
                  <a:moveTo>
                    <a:pt x="17030" y="6159"/>
                  </a:moveTo>
                  <a:lnTo>
                    <a:pt x="16192" y="4152"/>
                  </a:lnTo>
                  <a:lnTo>
                    <a:pt x="12877" y="825"/>
                  </a:lnTo>
                  <a:lnTo>
                    <a:pt x="10858" y="0"/>
                  </a:lnTo>
                  <a:lnTo>
                    <a:pt x="6159" y="0"/>
                  </a:lnTo>
                  <a:lnTo>
                    <a:pt x="4152" y="825"/>
                  </a:lnTo>
                  <a:lnTo>
                    <a:pt x="825" y="4152"/>
                  </a:lnTo>
                  <a:lnTo>
                    <a:pt x="0" y="6159"/>
                  </a:lnTo>
                  <a:lnTo>
                    <a:pt x="0" y="10858"/>
                  </a:lnTo>
                  <a:lnTo>
                    <a:pt x="825" y="12877"/>
                  </a:lnTo>
                  <a:lnTo>
                    <a:pt x="4152" y="16192"/>
                  </a:lnTo>
                  <a:lnTo>
                    <a:pt x="6159" y="17030"/>
                  </a:lnTo>
                  <a:lnTo>
                    <a:pt x="10858" y="17030"/>
                  </a:lnTo>
                  <a:lnTo>
                    <a:pt x="12877" y="16192"/>
                  </a:lnTo>
                  <a:lnTo>
                    <a:pt x="16192" y="12877"/>
                  </a:lnTo>
                  <a:lnTo>
                    <a:pt x="17030" y="10858"/>
                  </a:lnTo>
                  <a:lnTo>
                    <a:pt x="17030" y="8509"/>
                  </a:lnTo>
                  <a:lnTo>
                    <a:pt x="17030" y="6159"/>
                  </a:lnTo>
                  <a:close/>
                </a:path>
                <a:path w="298450" h="315595">
                  <a:moveTo>
                    <a:pt x="298094" y="301904"/>
                  </a:moveTo>
                  <a:lnTo>
                    <a:pt x="294284" y="298094"/>
                  </a:lnTo>
                  <a:lnTo>
                    <a:pt x="289572" y="298094"/>
                  </a:lnTo>
                  <a:lnTo>
                    <a:pt x="233768" y="298094"/>
                  </a:lnTo>
                  <a:lnTo>
                    <a:pt x="229958" y="301904"/>
                  </a:lnTo>
                  <a:lnTo>
                    <a:pt x="229958" y="311315"/>
                  </a:lnTo>
                  <a:lnTo>
                    <a:pt x="233768" y="315125"/>
                  </a:lnTo>
                  <a:lnTo>
                    <a:pt x="294284" y="315125"/>
                  </a:lnTo>
                  <a:lnTo>
                    <a:pt x="298094" y="311315"/>
                  </a:lnTo>
                  <a:lnTo>
                    <a:pt x="298094" y="3019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" name="object 30"/>
          <p:cNvGrpSpPr/>
          <p:nvPr/>
        </p:nvGrpSpPr>
        <p:grpSpPr>
          <a:xfrm>
            <a:off x="1518852" y="7442579"/>
            <a:ext cx="483870" cy="483870"/>
            <a:chOff x="1518852" y="7442579"/>
            <a:chExt cx="483870" cy="483870"/>
          </a:xfrm>
        </p:grpSpPr>
        <p:sp>
          <p:nvSpPr>
            <p:cNvPr id="31" name="object 31"/>
            <p:cNvSpPr/>
            <p:nvPr/>
          </p:nvSpPr>
          <p:spPr>
            <a:xfrm>
              <a:off x="1518852" y="7442579"/>
              <a:ext cx="483870" cy="483870"/>
            </a:xfrm>
            <a:custGeom>
              <a:avLst/>
              <a:gdLst/>
              <a:ahLst/>
              <a:cxnLst/>
              <a:rect l="l" t="t" r="r" b="b"/>
              <a:pathLst>
                <a:path w="483869" h="483870">
                  <a:moveTo>
                    <a:pt x="244919" y="483334"/>
                  </a:moveTo>
                  <a:lnTo>
                    <a:pt x="235160" y="483334"/>
                  </a:lnTo>
                  <a:lnTo>
                    <a:pt x="230282" y="482681"/>
                  </a:lnTo>
                  <a:lnTo>
                    <a:pt x="227027" y="482681"/>
                  </a:lnTo>
                  <a:lnTo>
                    <a:pt x="181759" y="475372"/>
                  </a:lnTo>
                  <a:lnTo>
                    <a:pt x="139503" y="459888"/>
                  </a:lnTo>
                  <a:lnTo>
                    <a:pt x="101165" y="437107"/>
                  </a:lnTo>
                  <a:lnTo>
                    <a:pt x="67652" y="407912"/>
                  </a:lnTo>
                  <a:lnTo>
                    <a:pt x="39872" y="373183"/>
                  </a:lnTo>
                  <a:lnTo>
                    <a:pt x="18732" y="333799"/>
                  </a:lnTo>
                  <a:lnTo>
                    <a:pt x="5139" y="290642"/>
                  </a:lnTo>
                  <a:lnTo>
                    <a:pt x="0" y="244593"/>
                  </a:lnTo>
                  <a:lnTo>
                    <a:pt x="4001" y="197385"/>
                  </a:lnTo>
                  <a:lnTo>
                    <a:pt x="16648" y="153195"/>
                  </a:lnTo>
                  <a:lnTo>
                    <a:pt x="37070" y="112909"/>
                  </a:lnTo>
                  <a:lnTo>
                    <a:pt x="64399" y="77410"/>
                  </a:lnTo>
                  <a:lnTo>
                    <a:pt x="97766" y="47583"/>
                  </a:lnTo>
                  <a:lnTo>
                    <a:pt x="136301" y="24312"/>
                  </a:lnTo>
                  <a:lnTo>
                    <a:pt x="179135" y="8481"/>
                  </a:lnTo>
                  <a:lnTo>
                    <a:pt x="225400" y="974"/>
                  </a:lnTo>
                  <a:lnTo>
                    <a:pt x="236134" y="0"/>
                  </a:lnTo>
                  <a:lnTo>
                    <a:pt x="241665" y="0"/>
                  </a:lnTo>
                  <a:lnTo>
                    <a:pt x="290456" y="4943"/>
                  </a:lnTo>
                  <a:lnTo>
                    <a:pt x="335912" y="19119"/>
                  </a:lnTo>
                  <a:lnTo>
                    <a:pt x="377046" y="41542"/>
                  </a:lnTo>
                  <a:lnTo>
                    <a:pt x="412871" y="71231"/>
                  </a:lnTo>
                  <a:lnTo>
                    <a:pt x="442398" y="107202"/>
                  </a:lnTo>
                  <a:lnTo>
                    <a:pt x="464642" y="148472"/>
                  </a:lnTo>
                  <a:lnTo>
                    <a:pt x="478613" y="194057"/>
                  </a:lnTo>
                  <a:lnTo>
                    <a:pt x="483326" y="242973"/>
                  </a:lnTo>
                  <a:lnTo>
                    <a:pt x="479046" y="287298"/>
                  </a:lnTo>
                  <a:lnTo>
                    <a:pt x="467143" y="329001"/>
                  </a:lnTo>
                  <a:lnTo>
                    <a:pt x="448289" y="367290"/>
                  </a:lnTo>
                  <a:lnTo>
                    <a:pt x="423154" y="401371"/>
                  </a:lnTo>
                  <a:lnTo>
                    <a:pt x="419577" y="405274"/>
                  </a:lnTo>
                  <a:lnTo>
                    <a:pt x="418603" y="411131"/>
                  </a:lnTo>
                  <a:lnTo>
                    <a:pt x="442291" y="451410"/>
                  </a:lnTo>
                  <a:lnTo>
                    <a:pt x="452432" y="464145"/>
                  </a:lnTo>
                  <a:lnTo>
                    <a:pt x="449504" y="471302"/>
                  </a:lnTo>
                  <a:lnTo>
                    <a:pt x="442999" y="472277"/>
                  </a:lnTo>
                  <a:lnTo>
                    <a:pt x="435869" y="472852"/>
                  </a:lnTo>
                  <a:lnTo>
                    <a:pt x="428647" y="472725"/>
                  </a:lnTo>
                  <a:lnTo>
                    <a:pt x="386647" y="463374"/>
                  </a:lnTo>
                  <a:lnTo>
                    <a:pt x="362982" y="453089"/>
                  </a:lnTo>
                  <a:lnTo>
                    <a:pt x="358431" y="453415"/>
                  </a:lnTo>
                  <a:lnTo>
                    <a:pt x="351274" y="456992"/>
                  </a:lnTo>
                  <a:lnTo>
                    <a:pt x="348349" y="458615"/>
                  </a:lnTo>
                  <a:lnTo>
                    <a:pt x="321577" y="469658"/>
                  </a:lnTo>
                  <a:lnTo>
                    <a:pt x="296960" y="476869"/>
                  </a:lnTo>
                  <a:lnTo>
                    <a:pt x="271367" y="481458"/>
                  </a:lnTo>
                  <a:lnTo>
                    <a:pt x="244919" y="4833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52990" y="7651350"/>
              <a:ext cx="65407" cy="65407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27865" y="7651350"/>
              <a:ext cx="65407" cy="65407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02739" y="7651350"/>
              <a:ext cx="65407" cy="65407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1397657" y="1555000"/>
            <a:ext cx="1710055" cy="2209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 spc="-30" b="1">
                <a:latin typeface="Trebuchet MS"/>
                <a:cs typeface="Trebuchet MS"/>
              </a:rPr>
              <a:t>Trusted</a:t>
            </a:r>
            <a:r>
              <a:rPr dirty="0" sz="1250" spc="-229" b="1">
                <a:latin typeface="Trebuchet MS"/>
                <a:cs typeface="Trebuchet MS"/>
              </a:rPr>
              <a:t> </a:t>
            </a:r>
            <a:r>
              <a:rPr dirty="0" sz="1250" b="1">
                <a:latin typeface="Trebuchet MS"/>
                <a:cs typeface="Trebuchet MS"/>
              </a:rPr>
              <a:t>By</a:t>
            </a:r>
            <a:r>
              <a:rPr dirty="0" sz="1250" spc="-229" b="1">
                <a:latin typeface="Trebuchet MS"/>
                <a:cs typeface="Trebuchet MS"/>
              </a:rPr>
              <a:t> </a:t>
            </a:r>
            <a:r>
              <a:rPr dirty="0" sz="1250" spc="55" b="1">
                <a:latin typeface="Trebuchet MS"/>
                <a:cs typeface="Trebuchet MS"/>
              </a:rPr>
              <a:t>7000+SMEs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067936" y="3221529"/>
            <a:ext cx="5687695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0" spc="80" b="1">
                <a:solidFill>
                  <a:srgbClr val="092A3B"/>
                </a:solidFill>
                <a:latin typeface="Trebuchet MS"/>
                <a:cs typeface="Trebuchet MS"/>
              </a:rPr>
              <a:t>Ensuring</a:t>
            </a:r>
            <a:r>
              <a:rPr dirty="0" sz="4500" spc="-565" b="1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4500" spc="45" b="1">
                <a:solidFill>
                  <a:srgbClr val="092A3B"/>
                </a:solidFill>
                <a:latin typeface="Trebuchet MS"/>
                <a:cs typeface="Trebuchet MS"/>
              </a:rPr>
              <a:t>Compliance</a:t>
            </a:r>
            <a:endParaRPr sz="4500">
              <a:latin typeface="Trebuchet MS"/>
              <a:cs typeface="Trebuchet MS"/>
            </a:endParaRPr>
          </a:p>
        </p:txBody>
      </p:sp>
      <p:sp>
        <p:nvSpPr>
          <p:cNvPr id="37" name="object 3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8918" rIns="0" bIns="0" rtlCol="0" vert="horz">
            <a:spAutoFit/>
          </a:bodyPr>
          <a:lstStyle/>
          <a:p>
            <a:pPr marL="102235">
              <a:lnSpc>
                <a:spcPct val="100000"/>
              </a:lnSpc>
              <a:spcBef>
                <a:spcPts val="100"/>
              </a:spcBef>
            </a:pPr>
            <a:r>
              <a:rPr dirty="0" sz="2000" spc="130" b="0">
                <a:solidFill>
                  <a:srgbClr val="F1660F"/>
                </a:solidFill>
                <a:latin typeface="Trebuchet MS"/>
                <a:cs typeface="Trebuchet MS"/>
              </a:rPr>
              <a:t>PHASE</a:t>
            </a:r>
            <a:r>
              <a:rPr dirty="0" sz="2000" spc="-160" b="0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2000" spc="105" b="0">
                <a:solidFill>
                  <a:srgbClr val="F1660F"/>
                </a:solidFill>
                <a:latin typeface="Trebuchet MS"/>
                <a:cs typeface="Trebuchet MS"/>
              </a:rPr>
              <a:t>2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503576" y="6492335"/>
            <a:ext cx="2693670" cy="7086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9500"/>
              </a:lnSpc>
              <a:spcBef>
                <a:spcPts val="90"/>
              </a:spcBef>
            </a:pP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Ensure</a:t>
            </a:r>
            <a:r>
              <a:rPr dirty="0" sz="1250" spc="-3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40">
                <a:solidFill>
                  <a:srgbClr val="092A3B"/>
                </a:solidFill>
                <a:latin typeface="Trebuchet MS"/>
                <a:cs typeface="Trebuchet MS"/>
              </a:rPr>
              <a:t>timely</a:t>
            </a:r>
            <a:r>
              <a:rPr dirty="0" sz="1250" spc="-2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Corporate</a:t>
            </a:r>
            <a:r>
              <a:rPr dirty="0" sz="1250" spc="-25">
                <a:solidFill>
                  <a:srgbClr val="092A3B"/>
                </a:solidFill>
                <a:latin typeface="Trebuchet MS"/>
                <a:cs typeface="Trebuchet MS"/>
              </a:rPr>
              <a:t> Tax registration</a:t>
            </a:r>
            <a:r>
              <a:rPr dirty="0" sz="1250" spc="-6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and</a:t>
            </a:r>
            <a:r>
              <a:rPr dirty="0" sz="1250" spc="-6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45">
                <a:solidFill>
                  <a:srgbClr val="092A3B"/>
                </a:solidFill>
                <a:latin typeface="Trebuchet MS"/>
                <a:cs typeface="Trebuchet MS"/>
              </a:rPr>
              <a:t>filing</a:t>
            </a:r>
            <a:r>
              <a:rPr dirty="0" sz="1250" spc="-6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35">
                <a:solidFill>
                  <a:srgbClr val="092A3B"/>
                </a:solidFill>
                <a:latin typeface="Trebuchet MS"/>
                <a:cs typeface="Trebuchet MS"/>
              </a:rPr>
              <a:t>within</a:t>
            </a:r>
            <a:r>
              <a:rPr dirty="0" sz="1250" spc="-6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145">
                <a:solidFill>
                  <a:srgbClr val="092A3B"/>
                </a:solidFill>
                <a:latin typeface="Trebuchet MS"/>
                <a:cs typeface="Trebuchet MS"/>
              </a:rPr>
              <a:t>9</a:t>
            </a:r>
            <a:r>
              <a:rPr dirty="0" sz="1250" spc="-6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months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of</a:t>
            </a:r>
            <a:r>
              <a:rPr dirty="0" sz="1250" spc="-2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year-</a:t>
            </a:r>
            <a:r>
              <a:rPr dirty="0" sz="1250" spc="-20">
                <a:solidFill>
                  <a:srgbClr val="092A3B"/>
                </a:solidFill>
                <a:latin typeface="Trebuchet MS"/>
                <a:cs typeface="Trebuchet MS"/>
              </a:rPr>
              <a:t>end.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510338" y="5908790"/>
            <a:ext cx="1282700" cy="24955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50" b="1">
                <a:solidFill>
                  <a:srgbClr val="092A3B"/>
                </a:solidFill>
                <a:latin typeface="Trebuchet MS"/>
                <a:cs typeface="Trebuchet MS"/>
              </a:rPr>
              <a:t>Corporate</a:t>
            </a:r>
            <a:r>
              <a:rPr dirty="0" sz="1450" spc="-5" b="1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450" spc="-25" b="1">
                <a:solidFill>
                  <a:srgbClr val="092A3B"/>
                </a:solidFill>
                <a:latin typeface="Trebuchet MS"/>
                <a:cs typeface="Trebuchet MS"/>
              </a:rPr>
              <a:t>Tax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850690" y="6606984"/>
            <a:ext cx="977265" cy="2216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Not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 specified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857451" y="5904121"/>
            <a:ext cx="1189355" cy="24955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50" spc="155" b="1">
                <a:solidFill>
                  <a:srgbClr val="092A3B"/>
                </a:solidFill>
                <a:latin typeface="Trebuchet MS"/>
                <a:cs typeface="Trebuchet MS"/>
              </a:rPr>
              <a:t>WPS</a:t>
            </a:r>
            <a:r>
              <a:rPr dirty="0" sz="1450" spc="-185" b="1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92A3B"/>
                </a:solidFill>
                <a:latin typeface="Trebuchet MS"/>
                <a:cs typeface="Trebuchet MS"/>
              </a:rPr>
              <a:t>/</a:t>
            </a:r>
            <a:r>
              <a:rPr dirty="0" sz="1450" spc="-180" b="1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92A3B"/>
                </a:solidFill>
                <a:latin typeface="Trebuchet MS"/>
                <a:cs typeface="Trebuchet MS"/>
              </a:rPr>
              <a:t>Payroll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571762" y="6546244"/>
            <a:ext cx="2542540" cy="4813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9500"/>
              </a:lnSpc>
              <a:spcBef>
                <a:spcPts val="90"/>
              </a:spcBef>
            </a:pPr>
            <a:r>
              <a:rPr dirty="0" sz="1250" spc="75">
                <a:solidFill>
                  <a:srgbClr val="092A3B"/>
                </a:solidFill>
                <a:latin typeface="Trebuchet MS"/>
                <a:cs typeface="Trebuchet MS"/>
              </a:rPr>
              <a:t>VAT</a:t>
            </a:r>
            <a:r>
              <a:rPr dirty="0" sz="1250" spc="-5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25">
                <a:solidFill>
                  <a:srgbClr val="092A3B"/>
                </a:solidFill>
                <a:latin typeface="Trebuchet MS"/>
                <a:cs typeface="Trebuchet MS"/>
              </a:rPr>
              <a:t>registration</a:t>
            </a:r>
            <a:r>
              <a:rPr dirty="0" sz="1250" spc="-5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and</a:t>
            </a:r>
            <a:r>
              <a:rPr dirty="0" sz="1250" spc="-5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25">
                <a:solidFill>
                  <a:srgbClr val="092A3B"/>
                </a:solidFill>
                <a:latin typeface="Trebuchet MS"/>
                <a:cs typeface="Trebuchet MS"/>
              </a:rPr>
              <a:t>quarterly</a:t>
            </a:r>
            <a:r>
              <a:rPr dirty="0" sz="1250" spc="-5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filing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are</a:t>
            </a:r>
            <a:r>
              <a:rPr dirty="0" sz="1250" spc="-10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included</a:t>
            </a:r>
            <a:r>
              <a:rPr dirty="0" sz="1250" spc="-10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35">
                <a:solidFill>
                  <a:srgbClr val="092A3B"/>
                </a:solidFill>
                <a:latin typeface="Trebuchet MS"/>
                <a:cs typeface="Trebuchet MS"/>
              </a:rPr>
              <a:t>in</a:t>
            </a:r>
            <a:r>
              <a:rPr dirty="0" sz="1250" spc="-10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the</a:t>
            </a:r>
            <a:r>
              <a:rPr dirty="0" sz="1250" spc="-10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service.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571762" y="5906456"/>
            <a:ext cx="418465" cy="24955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50" spc="100" b="1">
                <a:solidFill>
                  <a:srgbClr val="092A3B"/>
                </a:solidFill>
                <a:latin typeface="Trebuchet MS"/>
                <a:cs typeface="Trebuchet MS"/>
              </a:rPr>
              <a:t>VAT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3746457" y="6575391"/>
            <a:ext cx="2595245" cy="7086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9500"/>
              </a:lnSpc>
              <a:spcBef>
                <a:spcPts val="90"/>
              </a:spcBef>
            </a:pPr>
            <a:r>
              <a:rPr dirty="0" sz="1250" spc="70">
                <a:solidFill>
                  <a:srgbClr val="092A3B"/>
                </a:solidFill>
                <a:latin typeface="Trebuchet MS"/>
                <a:cs typeface="Trebuchet MS"/>
              </a:rPr>
              <a:t>We</a:t>
            </a:r>
            <a:r>
              <a:rPr dirty="0" sz="1250" spc="-11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60">
                <a:solidFill>
                  <a:srgbClr val="092A3B"/>
                </a:solidFill>
                <a:latin typeface="Trebuchet MS"/>
                <a:cs typeface="Trebuchet MS"/>
              </a:rPr>
              <a:t>will</a:t>
            </a:r>
            <a:r>
              <a:rPr dirty="0" sz="1250" spc="-10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track</a:t>
            </a:r>
            <a:r>
              <a:rPr dirty="0" sz="1250" spc="-10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the</a:t>
            </a:r>
            <a:r>
              <a:rPr dirty="0" sz="1250" spc="-11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trade</a:t>
            </a:r>
            <a:r>
              <a:rPr dirty="0" sz="1250" spc="-10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licence </a:t>
            </a:r>
            <a:r>
              <a:rPr dirty="0" sz="1250" spc="-35">
                <a:solidFill>
                  <a:srgbClr val="092A3B"/>
                </a:solidFill>
                <a:latin typeface="Trebuchet MS"/>
                <a:cs typeface="Trebuchet MS"/>
              </a:rPr>
              <a:t>renewal/expiry</a:t>
            </a:r>
            <a:r>
              <a:rPr dirty="0" sz="1250" spc="-5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date</a:t>
            </a:r>
            <a:r>
              <a:rPr dirty="0" sz="1250" spc="-5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and</a:t>
            </a:r>
            <a:r>
              <a:rPr dirty="0" sz="1250" spc="-5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remind</a:t>
            </a:r>
            <a:r>
              <a:rPr dirty="0" sz="1250" spc="-5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25">
                <a:solidFill>
                  <a:srgbClr val="092A3B"/>
                </a:solidFill>
                <a:latin typeface="Trebuchet MS"/>
                <a:cs typeface="Trebuchet MS"/>
              </a:rPr>
              <a:t>you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before</a:t>
            </a:r>
            <a:r>
              <a:rPr dirty="0" sz="1250" spc="-10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80">
                <a:solidFill>
                  <a:srgbClr val="092A3B"/>
                </a:solidFill>
                <a:latin typeface="Trebuchet MS"/>
                <a:cs typeface="Trebuchet MS"/>
              </a:rPr>
              <a:t>it</a:t>
            </a:r>
            <a:r>
              <a:rPr dirty="0" sz="1250" spc="-10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lapses.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3753217" y="5885441"/>
            <a:ext cx="2215515" cy="24955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50" b="1">
                <a:solidFill>
                  <a:srgbClr val="092A3B"/>
                </a:solidFill>
                <a:latin typeface="Trebuchet MS"/>
                <a:cs typeface="Trebuchet MS"/>
              </a:rPr>
              <a:t>Trade</a:t>
            </a:r>
            <a:r>
              <a:rPr dirty="0" sz="1450" spc="-114" b="1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92A3B"/>
                </a:solidFill>
                <a:latin typeface="Trebuchet MS"/>
                <a:cs typeface="Trebuchet MS"/>
              </a:rPr>
              <a:t>Licence</a:t>
            </a:r>
            <a:r>
              <a:rPr dirty="0" sz="1450" spc="-114" b="1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450" spc="400" b="1">
                <a:solidFill>
                  <a:srgbClr val="092A3B"/>
                </a:solidFill>
                <a:latin typeface="Trebuchet MS"/>
                <a:cs typeface="Trebuchet MS"/>
              </a:rPr>
              <a:t>—</a:t>
            </a:r>
            <a:r>
              <a:rPr dirty="0" sz="1450" spc="-110" b="1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92A3B"/>
                </a:solidFill>
                <a:latin typeface="Trebuchet MS"/>
                <a:cs typeface="Trebuchet MS"/>
              </a:rPr>
              <a:t>renewal</a:t>
            </a:r>
            <a:endParaRPr sz="1450">
              <a:latin typeface="Trebuchet MS"/>
              <a:cs typeface="Trebuchet MS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5587037" y="7442579"/>
            <a:ext cx="483870" cy="483870"/>
            <a:chOff x="5587037" y="7442579"/>
            <a:chExt cx="483870" cy="483870"/>
          </a:xfrm>
        </p:grpSpPr>
        <p:sp>
          <p:nvSpPr>
            <p:cNvPr id="47" name="object 47"/>
            <p:cNvSpPr/>
            <p:nvPr/>
          </p:nvSpPr>
          <p:spPr>
            <a:xfrm>
              <a:off x="5587037" y="7442579"/>
              <a:ext cx="483870" cy="483870"/>
            </a:xfrm>
            <a:custGeom>
              <a:avLst/>
              <a:gdLst/>
              <a:ahLst/>
              <a:cxnLst/>
              <a:rect l="l" t="t" r="r" b="b"/>
              <a:pathLst>
                <a:path w="483870" h="483870">
                  <a:moveTo>
                    <a:pt x="244919" y="483334"/>
                  </a:moveTo>
                  <a:lnTo>
                    <a:pt x="235160" y="483334"/>
                  </a:lnTo>
                  <a:lnTo>
                    <a:pt x="230282" y="482681"/>
                  </a:lnTo>
                  <a:lnTo>
                    <a:pt x="227027" y="482681"/>
                  </a:lnTo>
                  <a:lnTo>
                    <a:pt x="181759" y="475372"/>
                  </a:lnTo>
                  <a:lnTo>
                    <a:pt x="139503" y="459888"/>
                  </a:lnTo>
                  <a:lnTo>
                    <a:pt x="101165" y="437107"/>
                  </a:lnTo>
                  <a:lnTo>
                    <a:pt x="67652" y="407912"/>
                  </a:lnTo>
                  <a:lnTo>
                    <a:pt x="39872" y="373183"/>
                  </a:lnTo>
                  <a:lnTo>
                    <a:pt x="18732" y="333799"/>
                  </a:lnTo>
                  <a:lnTo>
                    <a:pt x="5139" y="290642"/>
                  </a:lnTo>
                  <a:lnTo>
                    <a:pt x="0" y="244593"/>
                  </a:lnTo>
                  <a:lnTo>
                    <a:pt x="4001" y="197385"/>
                  </a:lnTo>
                  <a:lnTo>
                    <a:pt x="16648" y="153195"/>
                  </a:lnTo>
                  <a:lnTo>
                    <a:pt x="37070" y="112909"/>
                  </a:lnTo>
                  <a:lnTo>
                    <a:pt x="64399" y="77410"/>
                  </a:lnTo>
                  <a:lnTo>
                    <a:pt x="97766" y="47583"/>
                  </a:lnTo>
                  <a:lnTo>
                    <a:pt x="136301" y="24312"/>
                  </a:lnTo>
                  <a:lnTo>
                    <a:pt x="179135" y="8481"/>
                  </a:lnTo>
                  <a:lnTo>
                    <a:pt x="225400" y="974"/>
                  </a:lnTo>
                  <a:lnTo>
                    <a:pt x="236134" y="0"/>
                  </a:lnTo>
                  <a:lnTo>
                    <a:pt x="241665" y="0"/>
                  </a:lnTo>
                  <a:lnTo>
                    <a:pt x="290456" y="4943"/>
                  </a:lnTo>
                  <a:lnTo>
                    <a:pt x="335912" y="19119"/>
                  </a:lnTo>
                  <a:lnTo>
                    <a:pt x="377046" y="41542"/>
                  </a:lnTo>
                  <a:lnTo>
                    <a:pt x="412871" y="71231"/>
                  </a:lnTo>
                  <a:lnTo>
                    <a:pt x="442398" y="107202"/>
                  </a:lnTo>
                  <a:lnTo>
                    <a:pt x="464642" y="148472"/>
                  </a:lnTo>
                  <a:lnTo>
                    <a:pt x="478613" y="194057"/>
                  </a:lnTo>
                  <a:lnTo>
                    <a:pt x="483326" y="242973"/>
                  </a:lnTo>
                  <a:lnTo>
                    <a:pt x="479046" y="287298"/>
                  </a:lnTo>
                  <a:lnTo>
                    <a:pt x="467143" y="329001"/>
                  </a:lnTo>
                  <a:lnTo>
                    <a:pt x="448289" y="367290"/>
                  </a:lnTo>
                  <a:lnTo>
                    <a:pt x="423154" y="401371"/>
                  </a:lnTo>
                  <a:lnTo>
                    <a:pt x="419577" y="405274"/>
                  </a:lnTo>
                  <a:lnTo>
                    <a:pt x="418603" y="411131"/>
                  </a:lnTo>
                  <a:lnTo>
                    <a:pt x="442291" y="451410"/>
                  </a:lnTo>
                  <a:lnTo>
                    <a:pt x="452432" y="464145"/>
                  </a:lnTo>
                  <a:lnTo>
                    <a:pt x="449504" y="471302"/>
                  </a:lnTo>
                  <a:lnTo>
                    <a:pt x="442999" y="472277"/>
                  </a:lnTo>
                  <a:lnTo>
                    <a:pt x="435869" y="472852"/>
                  </a:lnTo>
                  <a:lnTo>
                    <a:pt x="428647" y="472725"/>
                  </a:lnTo>
                  <a:lnTo>
                    <a:pt x="386647" y="463374"/>
                  </a:lnTo>
                  <a:lnTo>
                    <a:pt x="362982" y="453089"/>
                  </a:lnTo>
                  <a:lnTo>
                    <a:pt x="358431" y="453415"/>
                  </a:lnTo>
                  <a:lnTo>
                    <a:pt x="351274" y="456992"/>
                  </a:lnTo>
                  <a:lnTo>
                    <a:pt x="348349" y="458615"/>
                  </a:lnTo>
                  <a:lnTo>
                    <a:pt x="321577" y="469658"/>
                  </a:lnTo>
                  <a:lnTo>
                    <a:pt x="296960" y="476869"/>
                  </a:lnTo>
                  <a:lnTo>
                    <a:pt x="271367" y="481458"/>
                  </a:lnTo>
                  <a:lnTo>
                    <a:pt x="244919" y="4833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21176" y="7651350"/>
              <a:ext cx="65407" cy="65407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96050" y="7651350"/>
              <a:ext cx="65407" cy="65407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670925" y="7651350"/>
              <a:ext cx="65407" cy="65407"/>
            </a:xfrm>
            <a:prstGeom prst="rect">
              <a:avLst/>
            </a:prstGeom>
          </p:spPr>
        </p:pic>
      </p:grpSp>
      <p:grpSp>
        <p:nvGrpSpPr>
          <p:cNvPr id="51" name="object 51"/>
          <p:cNvGrpSpPr/>
          <p:nvPr/>
        </p:nvGrpSpPr>
        <p:grpSpPr>
          <a:xfrm>
            <a:off x="9865966" y="7442579"/>
            <a:ext cx="483870" cy="483870"/>
            <a:chOff x="9865966" y="7442579"/>
            <a:chExt cx="483870" cy="483870"/>
          </a:xfrm>
        </p:grpSpPr>
        <p:sp>
          <p:nvSpPr>
            <p:cNvPr id="52" name="object 52"/>
            <p:cNvSpPr/>
            <p:nvPr/>
          </p:nvSpPr>
          <p:spPr>
            <a:xfrm>
              <a:off x="9865966" y="7442579"/>
              <a:ext cx="483870" cy="483870"/>
            </a:xfrm>
            <a:custGeom>
              <a:avLst/>
              <a:gdLst/>
              <a:ahLst/>
              <a:cxnLst/>
              <a:rect l="l" t="t" r="r" b="b"/>
              <a:pathLst>
                <a:path w="483870" h="483870">
                  <a:moveTo>
                    <a:pt x="244919" y="483334"/>
                  </a:moveTo>
                  <a:lnTo>
                    <a:pt x="235160" y="483334"/>
                  </a:lnTo>
                  <a:lnTo>
                    <a:pt x="230282" y="482681"/>
                  </a:lnTo>
                  <a:lnTo>
                    <a:pt x="227027" y="482681"/>
                  </a:lnTo>
                  <a:lnTo>
                    <a:pt x="181759" y="475372"/>
                  </a:lnTo>
                  <a:lnTo>
                    <a:pt x="139503" y="459888"/>
                  </a:lnTo>
                  <a:lnTo>
                    <a:pt x="101165" y="437107"/>
                  </a:lnTo>
                  <a:lnTo>
                    <a:pt x="67652" y="407912"/>
                  </a:lnTo>
                  <a:lnTo>
                    <a:pt x="39872" y="373183"/>
                  </a:lnTo>
                  <a:lnTo>
                    <a:pt x="18732" y="333799"/>
                  </a:lnTo>
                  <a:lnTo>
                    <a:pt x="5139" y="290642"/>
                  </a:lnTo>
                  <a:lnTo>
                    <a:pt x="0" y="244593"/>
                  </a:lnTo>
                  <a:lnTo>
                    <a:pt x="4001" y="197385"/>
                  </a:lnTo>
                  <a:lnTo>
                    <a:pt x="16648" y="153195"/>
                  </a:lnTo>
                  <a:lnTo>
                    <a:pt x="37070" y="112909"/>
                  </a:lnTo>
                  <a:lnTo>
                    <a:pt x="64399" y="77410"/>
                  </a:lnTo>
                  <a:lnTo>
                    <a:pt x="97766" y="47583"/>
                  </a:lnTo>
                  <a:lnTo>
                    <a:pt x="136301" y="24312"/>
                  </a:lnTo>
                  <a:lnTo>
                    <a:pt x="179135" y="8481"/>
                  </a:lnTo>
                  <a:lnTo>
                    <a:pt x="225400" y="974"/>
                  </a:lnTo>
                  <a:lnTo>
                    <a:pt x="236134" y="0"/>
                  </a:lnTo>
                  <a:lnTo>
                    <a:pt x="241665" y="0"/>
                  </a:lnTo>
                  <a:lnTo>
                    <a:pt x="290456" y="4943"/>
                  </a:lnTo>
                  <a:lnTo>
                    <a:pt x="335912" y="19119"/>
                  </a:lnTo>
                  <a:lnTo>
                    <a:pt x="377046" y="41542"/>
                  </a:lnTo>
                  <a:lnTo>
                    <a:pt x="412871" y="71231"/>
                  </a:lnTo>
                  <a:lnTo>
                    <a:pt x="442398" y="107202"/>
                  </a:lnTo>
                  <a:lnTo>
                    <a:pt x="464642" y="148472"/>
                  </a:lnTo>
                  <a:lnTo>
                    <a:pt x="478613" y="194057"/>
                  </a:lnTo>
                  <a:lnTo>
                    <a:pt x="483326" y="242973"/>
                  </a:lnTo>
                  <a:lnTo>
                    <a:pt x="479046" y="287298"/>
                  </a:lnTo>
                  <a:lnTo>
                    <a:pt x="467143" y="329001"/>
                  </a:lnTo>
                  <a:lnTo>
                    <a:pt x="448289" y="367290"/>
                  </a:lnTo>
                  <a:lnTo>
                    <a:pt x="423154" y="401371"/>
                  </a:lnTo>
                  <a:lnTo>
                    <a:pt x="419577" y="405274"/>
                  </a:lnTo>
                  <a:lnTo>
                    <a:pt x="418603" y="411131"/>
                  </a:lnTo>
                  <a:lnTo>
                    <a:pt x="442291" y="451410"/>
                  </a:lnTo>
                  <a:lnTo>
                    <a:pt x="452432" y="464145"/>
                  </a:lnTo>
                  <a:lnTo>
                    <a:pt x="449504" y="471302"/>
                  </a:lnTo>
                  <a:lnTo>
                    <a:pt x="442999" y="472277"/>
                  </a:lnTo>
                  <a:lnTo>
                    <a:pt x="435869" y="472852"/>
                  </a:lnTo>
                  <a:lnTo>
                    <a:pt x="428647" y="472725"/>
                  </a:lnTo>
                  <a:lnTo>
                    <a:pt x="386647" y="463374"/>
                  </a:lnTo>
                  <a:lnTo>
                    <a:pt x="362982" y="453089"/>
                  </a:lnTo>
                  <a:lnTo>
                    <a:pt x="358431" y="453415"/>
                  </a:lnTo>
                  <a:lnTo>
                    <a:pt x="351274" y="456992"/>
                  </a:lnTo>
                  <a:lnTo>
                    <a:pt x="348349" y="458615"/>
                  </a:lnTo>
                  <a:lnTo>
                    <a:pt x="321577" y="469658"/>
                  </a:lnTo>
                  <a:lnTo>
                    <a:pt x="296960" y="476869"/>
                  </a:lnTo>
                  <a:lnTo>
                    <a:pt x="271367" y="481458"/>
                  </a:lnTo>
                  <a:lnTo>
                    <a:pt x="244919" y="4833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200105" y="7651350"/>
              <a:ext cx="65407" cy="65407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074979" y="7651350"/>
              <a:ext cx="65407" cy="65407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949854" y="7651350"/>
              <a:ext cx="65407" cy="65407"/>
            </a:xfrm>
            <a:prstGeom prst="rect">
              <a:avLst/>
            </a:prstGeom>
          </p:spPr>
        </p:pic>
      </p:grpSp>
      <p:grpSp>
        <p:nvGrpSpPr>
          <p:cNvPr id="56" name="object 56"/>
          <p:cNvGrpSpPr/>
          <p:nvPr/>
        </p:nvGrpSpPr>
        <p:grpSpPr>
          <a:xfrm>
            <a:off x="13768492" y="7442579"/>
            <a:ext cx="483870" cy="483870"/>
            <a:chOff x="13768492" y="7442579"/>
            <a:chExt cx="483870" cy="483870"/>
          </a:xfrm>
        </p:grpSpPr>
        <p:sp>
          <p:nvSpPr>
            <p:cNvPr id="57" name="object 57"/>
            <p:cNvSpPr/>
            <p:nvPr/>
          </p:nvSpPr>
          <p:spPr>
            <a:xfrm>
              <a:off x="13768492" y="7442579"/>
              <a:ext cx="483870" cy="483870"/>
            </a:xfrm>
            <a:custGeom>
              <a:avLst/>
              <a:gdLst/>
              <a:ahLst/>
              <a:cxnLst/>
              <a:rect l="l" t="t" r="r" b="b"/>
              <a:pathLst>
                <a:path w="483869" h="483870">
                  <a:moveTo>
                    <a:pt x="244919" y="483334"/>
                  </a:moveTo>
                  <a:lnTo>
                    <a:pt x="235160" y="483334"/>
                  </a:lnTo>
                  <a:lnTo>
                    <a:pt x="230282" y="482681"/>
                  </a:lnTo>
                  <a:lnTo>
                    <a:pt x="227027" y="482681"/>
                  </a:lnTo>
                  <a:lnTo>
                    <a:pt x="181759" y="475372"/>
                  </a:lnTo>
                  <a:lnTo>
                    <a:pt x="139503" y="459888"/>
                  </a:lnTo>
                  <a:lnTo>
                    <a:pt x="101165" y="437107"/>
                  </a:lnTo>
                  <a:lnTo>
                    <a:pt x="67652" y="407912"/>
                  </a:lnTo>
                  <a:lnTo>
                    <a:pt x="39872" y="373183"/>
                  </a:lnTo>
                  <a:lnTo>
                    <a:pt x="18732" y="333799"/>
                  </a:lnTo>
                  <a:lnTo>
                    <a:pt x="5139" y="290642"/>
                  </a:lnTo>
                  <a:lnTo>
                    <a:pt x="0" y="244593"/>
                  </a:lnTo>
                  <a:lnTo>
                    <a:pt x="4001" y="197385"/>
                  </a:lnTo>
                  <a:lnTo>
                    <a:pt x="16648" y="153195"/>
                  </a:lnTo>
                  <a:lnTo>
                    <a:pt x="37070" y="112909"/>
                  </a:lnTo>
                  <a:lnTo>
                    <a:pt x="64399" y="77410"/>
                  </a:lnTo>
                  <a:lnTo>
                    <a:pt x="97766" y="47583"/>
                  </a:lnTo>
                  <a:lnTo>
                    <a:pt x="136301" y="24312"/>
                  </a:lnTo>
                  <a:lnTo>
                    <a:pt x="179135" y="8481"/>
                  </a:lnTo>
                  <a:lnTo>
                    <a:pt x="225400" y="974"/>
                  </a:lnTo>
                  <a:lnTo>
                    <a:pt x="236134" y="0"/>
                  </a:lnTo>
                  <a:lnTo>
                    <a:pt x="241665" y="0"/>
                  </a:lnTo>
                  <a:lnTo>
                    <a:pt x="290456" y="4943"/>
                  </a:lnTo>
                  <a:lnTo>
                    <a:pt x="335912" y="19119"/>
                  </a:lnTo>
                  <a:lnTo>
                    <a:pt x="377046" y="41542"/>
                  </a:lnTo>
                  <a:lnTo>
                    <a:pt x="412871" y="71231"/>
                  </a:lnTo>
                  <a:lnTo>
                    <a:pt x="442398" y="107202"/>
                  </a:lnTo>
                  <a:lnTo>
                    <a:pt x="464642" y="148472"/>
                  </a:lnTo>
                  <a:lnTo>
                    <a:pt x="478613" y="194057"/>
                  </a:lnTo>
                  <a:lnTo>
                    <a:pt x="483326" y="242973"/>
                  </a:lnTo>
                  <a:lnTo>
                    <a:pt x="479046" y="287298"/>
                  </a:lnTo>
                  <a:lnTo>
                    <a:pt x="467143" y="329001"/>
                  </a:lnTo>
                  <a:lnTo>
                    <a:pt x="448289" y="367290"/>
                  </a:lnTo>
                  <a:lnTo>
                    <a:pt x="423154" y="401371"/>
                  </a:lnTo>
                  <a:lnTo>
                    <a:pt x="419577" y="405274"/>
                  </a:lnTo>
                  <a:lnTo>
                    <a:pt x="418603" y="411131"/>
                  </a:lnTo>
                  <a:lnTo>
                    <a:pt x="442291" y="451410"/>
                  </a:lnTo>
                  <a:lnTo>
                    <a:pt x="452432" y="464145"/>
                  </a:lnTo>
                  <a:lnTo>
                    <a:pt x="449504" y="471302"/>
                  </a:lnTo>
                  <a:lnTo>
                    <a:pt x="442999" y="472277"/>
                  </a:lnTo>
                  <a:lnTo>
                    <a:pt x="435869" y="472852"/>
                  </a:lnTo>
                  <a:lnTo>
                    <a:pt x="428647" y="472725"/>
                  </a:lnTo>
                  <a:lnTo>
                    <a:pt x="386647" y="463374"/>
                  </a:lnTo>
                  <a:lnTo>
                    <a:pt x="362982" y="453089"/>
                  </a:lnTo>
                  <a:lnTo>
                    <a:pt x="358431" y="453415"/>
                  </a:lnTo>
                  <a:lnTo>
                    <a:pt x="351274" y="456992"/>
                  </a:lnTo>
                  <a:lnTo>
                    <a:pt x="348349" y="458615"/>
                  </a:lnTo>
                  <a:lnTo>
                    <a:pt x="321577" y="469658"/>
                  </a:lnTo>
                  <a:lnTo>
                    <a:pt x="296960" y="476869"/>
                  </a:lnTo>
                  <a:lnTo>
                    <a:pt x="271367" y="481458"/>
                  </a:lnTo>
                  <a:lnTo>
                    <a:pt x="244919" y="4833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102631" y="7651350"/>
              <a:ext cx="65407" cy="65407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977505" y="7651350"/>
              <a:ext cx="65407" cy="65407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852380" y="7651350"/>
              <a:ext cx="65407" cy="65407"/>
            </a:xfrm>
            <a:prstGeom prst="rect">
              <a:avLst/>
            </a:prstGeom>
          </p:spPr>
        </p:pic>
      </p:grpSp>
      <p:sp>
        <p:nvSpPr>
          <p:cNvPr id="61" name="object 61"/>
          <p:cNvSpPr txBox="1"/>
          <p:nvPr/>
        </p:nvSpPr>
        <p:spPr>
          <a:xfrm>
            <a:off x="1016000" y="9647656"/>
            <a:ext cx="1519555" cy="208279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200" spc="-10">
                <a:solidFill>
                  <a:srgbClr val="092A3B"/>
                </a:solidFill>
                <a:latin typeface="Trebuchet MS"/>
                <a:cs typeface="Trebuchet MS"/>
                <a:hlinkClick r:id="rId10"/>
              </a:rPr>
              <a:t>www.finanshels.com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7165153" y="9690726"/>
            <a:ext cx="254000" cy="268605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600" spc="30">
                <a:solidFill>
                  <a:srgbClr val="0D2E32"/>
                </a:solidFill>
                <a:latin typeface="Trebuchet MS"/>
                <a:cs typeface="Trebuchet MS"/>
              </a:rPr>
              <a:t>07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700" y="698618"/>
            <a:ext cx="179705" cy="1083310"/>
          </a:xfrm>
          <a:custGeom>
            <a:avLst/>
            <a:gdLst/>
            <a:ahLst/>
            <a:cxnLst/>
            <a:rect l="l" t="t" r="r" b="b"/>
            <a:pathLst>
              <a:path w="179705" h="1083310">
                <a:moveTo>
                  <a:pt x="179550" y="1082912"/>
                </a:moveTo>
                <a:lnTo>
                  <a:pt x="0" y="1082912"/>
                </a:lnTo>
                <a:lnTo>
                  <a:pt x="0" y="0"/>
                </a:lnTo>
                <a:lnTo>
                  <a:pt x="179550" y="0"/>
                </a:lnTo>
                <a:lnTo>
                  <a:pt x="179550" y="1082912"/>
                </a:lnTo>
                <a:close/>
              </a:path>
            </a:pathLst>
          </a:custGeom>
          <a:solidFill>
            <a:srgbClr val="F1660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8439077" y="4361996"/>
            <a:ext cx="6807200" cy="3771900"/>
            <a:chOff x="8439077" y="4361996"/>
            <a:chExt cx="6807200" cy="3771900"/>
          </a:xfrm>
        </p:grpSpPr>
        <p:sp>
          <p:nvSpPr>
            <p:cNvPr id="4" name="object 4"/>
            <p:cNvSpPr/>
            <p:nvPr/>
          </p:nvSpPr>
          <p:spPr>
            <a:xfrm>
              <a:off x="8448602" y="4371522"/>
              <a:ext cx="6786880" cy="3752850"/>
            </a:xfrm>
            <a:custGeom>
              <a:avLst/>
              <a:gdLst/>
              <a:ahLst/>
              <a:cxnLst/>
              <a:rect l="l" t="t" r="r" b="b"/>
              <a:pathLst>
                <a:path w="6786880" h="3752850">
                  <a:moveTo>
                    <a:pt x="6597572" y="3752427"/>
                  </a:moveTo>
                  <a:lnTo>
                    <a:pt x="190500" y="3752427"/>
                  </a:lnTo>
                  <a:lnTo>
                    <a:pt x="153162" y="3748733"/>
                  </a:lnTo>
                  <a:lnTo>
                    <a:pt x="84810" y="3720421"/>
                  </a:lnTo>
                  <a:lnTo>
                    <a:pt x="32006" y="3667617"/>
                  </a:lnTo>
                  <a:lnTo>
                    <a:pt x="3694" y="3599266"/>
                  </a:lnTo>
                  <a:lnTo>
                    <a:pt x="0" y="3561927"/>
                  </a:lnTo>
                  <a:lnTo>
                    <a:pt x="0" y="190500"/>
                  </a:lnTo>
                  <a:lnTo>
                    <a:pt x="14500" y="117598"/>
                  </a:lnTo>
                  <a:lnTo>
                    <a:pt x="55796" y="55796"/>
                  </a:lnTo>
                  <a:lnTo>
                    <a:pt x="117599" y="14501"/>
                  </a:lnTo>
                  <a:lnTo>
                    <a:pt x="190500" y="0"/>
                  </a:lnTo>
                  <a:lnTo>
                    <a:pt x="6597572" y="0"/>
                  </a:lnTo>
                  <a:lnTo>
                    <a:pt x="6634910" y="3694"/>
                  </a:lnTo>
                  <a:lnTo>
                    <a:pt x="6703262" y="32006"/>
                  </a:lnTo>
                  <a:lnTo>
                    <a:pt x="6756066" y="84810"/>
                  </a:lnTo>
                  <a:lnTo>
                    <a:pt x="6784379" y="153161"/>
                  </a:lnTo>
                  <a:lnTo>
                    <a:pt x="6786617" y="175781"/>
                  </a:lnTo>
                  <a:lnTo>
                    <a:pt x="6786617" y="3576645"/>
                  </a:lnTo>
                  <a:lnTo>
                    <a:pt x="6773572" y="3634829"/>
                  </a:lnTo>
                  <a:lnTo>
                    <a:pt x="6732276" y="3696631"/>
                  </a:lnTo>
                  <a:lnTo>
                    <a:pt x="6670474" y="3737926"/>
                  </a:lnTo>
                  <a:lnTo>
                    <a:pt x="6597572" y="3752427"/>
                  </a:lnTo>
                  <a:close/>
                </a:path>
              </a:pathLst>
            </a:custGeom>
            <a:solidFill>
              <a:srgbClr val="092A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448602" y="4371521"/>
              <a:ext cx="6788150" cy="3752850"/>
            </a:xfrm>
            <a:custGeom>
              <a:avLst/>
              <a:gdLst/>
              <a:ahLst/>
              <a:cxnLst/>
              <a:rect l="l" t="t" r="r" b="b"/>
              <a:pathLst>
                <a:path w="6788150" h="3752850">
                  <a:moveTo>
                    <a:pt x="190509" y="0"/>
                  </a:moveTo>
                  <a:lnTo>
                    <a:pt x="6597539" y="0"/>
                  </a:lnTo>
                  <a:lnTo>
                    <a:pt x="6634880" y="3686"/>
                  </a:lnTo>
                  <a:lnTo>
                    <a:pt x="6703242" y="31990"/>
                  </a:lnTo>
                  <a:lnTo>
                    <a:pt x="6756058" y="84796"/>
                  </a:lnTo>
                  <a:lnTo>
                    <a:pt x="6784378" y="153158"/>
                  </a:lnTo>
                  <a:lnTo>
                    <a:pt x="6788075" y="3561908"/>
                  </a:lnTo>
                  <a:lnTo>
                    <a:pt x="6784382" y="3599254"/>
                  </a:lnTo>
                  <a:lnTo>
                    <a:pt x="6756064" y="3667620"/>
                  </a:lnTo>
                  <a:lnTo>
                    <a:pt x="6703246" y="3720430"/>
                  </a:lnTo>
                  <a:lnTo>
                    <a:pt x="6634880" y="3748737"/>
                  </a:lnTo>
                  <a:lnTo>
                    <a:pt x="190507" y="3752429"/>
                  </a:lnTo>
                  <a:lnTo>
                    <a:pt x="153163" y="3748734"/>
                  </a:lnTo>
                  <a:lnTo>
                    <a:pt x="84804" y="3720417"/>
                  </a:lnTo>
                  <a:lnTo>
                    <a:pt x="31998" y="3667603"/>
                  </a:lnTo>
                  <a:lnTo>
                    <a:pt x="3691" y="3599244"/>
                  </a:lnTo>
                  <a:lnTo>
                    <a:pt x="0" y="3561905"/>
                  </a:lnTo>
                  <a:lnTo>
                    <a:pt x="0" y="190498"/>
                  </a:lnTo>
                  <a:lnTo>
                    <a:pt x="14503" y="117594"/>
                  </a:lnTo>
                  <a:lnTo>
                    <a:pt x="55802" y="55791"/>
                  </a:lnTo>
                  <a:lnTo>
                    <a:pt x="117608" y="14499"/>
                  </a:lnTo>
                  <a:lnTo>
                    <a:pt x="190509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0357" y="838028"/>
            <a:ext cx="2647949" cy="3524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80563" y="1279642"/>
            <a:ext cx="1428749" cy="2285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84659" y="9722024"/>
            <a:ext cx="225674" cy="225673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1019174" y="4361996"/>
            <a:ext cx="6807200" cy="3771900"/>
            <a:chOff x="1019174" y="4361996"/>
            <a:chExt cx="6807200" cy="3771900"/>
          </a:xfrm>
        </p:grpSpPr>
        <p:sp>
          <p:nvSpPr>
            <p:cNvPr id="10" name="object 10"/>
            <p:cNvSpPr/>
            <p:nvPr/>
          </p:nvSpPr>
          <p:spPr>
            <a:xfrm>
              <a:off x="1028699" y="4371522"/>
              <a:ext cx="6786880" cy="3752850"/>
            </a:xfrm>
            <a:custGeom>
              <a:avLst/>
              <a:gdLst/>
              <a:ahLst/>
              <a:cxnLst/>
              <a:rect l="l" t="t" r="r" b="b"/>
              <a:pathLst>
                <a:path w="6786880" h="3752850">
                  <a:moveTo>
                    <a:pt x="6597572" y="3752427"/>
                  </a:moveTo>
                  <a:lnTo>
                    <a:pt x="190500" y="3752427"/>
                  </a:lnTo>
                  <a:lnTo>
                    <a:pt x="153161" y="3748733"/>
                  </a:lnTo>
                  <a:lnTo>
                    <a:pt x="84810" y="3720421"/>
                  </a:lnTo>
                  <a:lnTo>
                    <a:pt x="32006" y="3667617"/>
                  </a:lnTo>
                  <a:lnTo>
                    <a:pt x="3694" y="3599266"/>
                  </a:lnTo>
                  <a:lnTo>
                    <a:pt x="0" y="3561927"/>
                  </a:lnTo>
                  <a:lnTo>
                    <a:pt x="0" y="190500"/>
                  </a:lnTo>
                  <a:lnTo>
                    <a:pt x="14500" y="117598"/>
                  </a:lnTo>
                  <a:lnTo>
                    <a:pt x="55796" y="55796"/>
                  </a:lnTo>
                  <a:lnTo>
                    <a:pt x="117598" y="14501"/>
                  </a:lnTo>
                  <a:lnTo>
                    <a:pt x="190500" y="0"/>
                  </a:lnTo>
                  <a:lnTo>
                    <a:pt x="6597572" y="0"/>
                  </a:lnTo>
                  <a:lnTo>
                    <a:pt x="6634911" y="3694"/>
                  </a:lnTo>
                  <a:lnTo>
                    <a:pt x="6703262" y="32006"/>
                  </a:lnTo>
                  <a:lnTo>
                    <a:pt x="6756066" y="84810"/>
                  </a:lnTo>
                  <a:lnTo>
                    <a:pt x="6784379" y="153161"/>
                  </a:lnTo>
                  <a:lnTo>
                    <a:pt x="6786617" y="175785"/>
                  </a:lnTo>
                  <a:lnTo>
                    <a:pt x="6786617" y="3576642"/>
                  </a:lnTo>
                  <a:lnTo>
                    <a:pt x="6773572" y="3634829"/>
                  </a:lnTo>
                  <a:lnTo>
                    <a:pt x="6732277" y="3696631"/>
                  </a:lnTo>
                  <a:lnTo>
                    <a:pt x="6670474" y="3737926"/>
                  </a:lnTo>
                  <a:lnTo>
                    <a:pt x="6597572" y="3752427"/>
                  </a:lnTo>
                  <a:close/>
                </a:path>
              </a:pathLst>
            </a:custGeom>
            <a:solidFill>
              <a:srgbClr val="FFF6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028699" y="4371521"/>
              <a:ext cx="6788150" cy="3752850"/>
            </a:xfrm>
            <a:custGeom>
              <a:avLst/>
              <a:gdLst/>
              <a:ahLst/>
              <a:cxnLst/>
              <a:rect l="l" t="t" r="r" b="b"/>
              <a:pathLst>
                <a:path w="6788150" h="3752850">
                  <a:moveTo>
                    <a:pt x="190509" y="0"/>
                  </a:moveTo>
                  <a:lnTo>
                    <a:pt x="6597540" y="0"/>
                  </a:lnTo>
                  <a:lnTo>
                    <a:pt x="6634880" y="3686"/>
                  </a:lnTo>
                  <a:lnTo>
                    <a:pt x="6703242" y="31990"/>
                  </a:lnTo>
                  <a:lnTo>
                    <a:pt x="6756059" y="84796"/>
                  </a:lnTo>
                  <a:lnTo>
                    <a:pt x="6784378" y="153158"/>
                  </a:lnTo>
                  <a:lnTo>
                    <a:pt x="6788075" y="3561908"/>
                  </a:lnTo>
                  <a:lnTo>
                    <a:pt x="6784382" y="3599254"/>
                  </a:lnTo>
                  <a:lnTo>
                    <a:pt x="6756065" y="3667620"/>
                  </a:lnTo>
                  <a:lnTo>
                    <a:pt x="6703246" y="3720430"/>
                  </a:lnTo>
                  <a:lnTo>
                    <a:pt x="6634880" y="3748737"/>
                  </a:lnTo>
                  <a:lnTo>
                    <a:pt x="190507" y="3752429"/>
                  </a:lnTo>
                  <a:lnTo>
                    <a:pt x="153164" y="3748734"/>
                  </a:lnTo>
                  <a:lnTo>
                    <a:pt x="84804" y="3720417"/>
                  </a:lnTo>
                  <a:lnTo>
                    <a:pt x="31998" y="3667603"/>
                  </a:lnTo>
                  <a:lnTo>
                    <a:pt x="3692" y="3599244"/>
                  </a:lnTo>
                  <a:lnTo>
                    <a:pt x="0" y="3561905"/>
                  </a:lnTo>
                  <a:lnTo>
                    <a:pt x="0" y="190498"/>
                  </a:lnTo>
                  <a:lnTo>
                    <a:pt x="14503" y="117594"/>
                  </a:lnTo>
                  <a:lnTo>
                    <a:pt x="55802" y="55791"/>
                  </a:lnTo>
                  <a:lnTo>
                    <a:pt x="117608" y="14499"/>
                  </a:lnTo>
                  <a:lnTo>
                    <a:pt x="190509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524353" y="5346002"/>
              <a:ext cx="2774315" cy="0"/>
            </a:xfrm>
            <a:custGeom>
              <a:avLst/>
              <a:gdLst/>
              <a:ahLst/>
              <a:cxnLst/>
              <a:rect l="l" t="t" r="r" b="b"/>
              <a:pathLst>
                <a:path w="2774315" h="0">
                  <a:moveTo>
                    <a:pt x="0" y="0"/>
                  </a:moveTo>
                  <a:lnTo>
                    <a:pt x="2773804" y="0"/>
                  </a:lnTo>
                </a:path>
              </a:pathLst>
            </a:custGeom>
            <a:ln w="9524">
              <a:solidFill>
                <a:srgbClr val="092A3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/>
          <p:nvPr/>
        </p:nvSpPr>
        <p:spPr>
          <a:xfrm>
            <a:off x="8846971" y="5346002"/>
            <a:ext cx="2774315" cy="0"/>
          </a:xfrm>
          <a:custGeom>
            <a:avLst/>
            <a:gdLst/>
            <a:ahLst/>
            <a:cxnLst/>
            <a:rect l="l" t="t" r="r" b="b"/>
            <a:pathLst>
              <a:path w="2774315" h="0">
                <a:moveTo>
                  <a:pt x="0" y="0"/>
                </a:moveTo>
                <a:lnTo>
                  <a:pt x="2773804" y="0"/>
                </a:lnTo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4" name="object 14"/>
          <p:cNvGrpSpPr/>
          <p:nvPr/>
        </p:nvGrpSpPr>
        <p:grpSpPr>
          <a:xfrm>
            <a:off x="1525613" y="7478513"/>
            <a:ext cx="483870" cy="483870"/>
            <a:chOff x="1525613" y="7478513"/>
            <a:chExt cx="483870" cy="483870"/>
          </a:xfrm>
        </p:grpSpPr>
        <p:sp>
          <p:nvSpPr>
            <p:cNvPr id="15" name="object 15"/>
            <p:cNvSpPr/>
            <p:nvPr/>
          </p:nvSpPr>
          <p:spPr>
            <a:xfrm>
              <a:off x="1525613" y="7478513"/>
              <a:ext cx="483870" cy="483870"/>
            </a:xfrm>
            <a:custGeom>
              <a:avLst/>
              <a:gdLst/>
              <a:ahLst/>
              <a:cxnLst/>
              <a:rect l="l" t="t" r="r" b="b"/>
              <a:pathLst>
                <a:path w="483869" h="483870">
                  <a:moveTo>
                    <a:pt x="244919" y="483334"/>
                  </a:moveTo>
                  <a:lnTo>
                    <a:pt x="235160" y="483334"/>
                  </a:lnTo>
                  <a:lnTo>
                    <a:pt x="230282" y="482681"/>
                  </a:lnTo>
                  <a:lnTo>
                    <a:pt x="227027" y="482681"/>
                  </a:lnTo>
                  <a:lnTo>
                    <a:pt x="181759" y="475372"/>
                  </a:lnTo>
                  <a:lnTo>
                    <a:pt x="139503" y="459888"/>
                  </a:lnTo>
                  <a:lnTo>
                    <a:pt x="101165" y="437107"/>
                  </a:lnTo>
                  <a:lnTo>
                    <a:pt x="67652" y="407912"/>
                  </a:lnTo>
                  <a:lnTo>
                    <a:pt x="39872" y="373183"/>
                  </a:lnTo>
                  <a:lnTo>
                    <a:pt x="18732" y="333799"/>
                  </a:lnTo>
                  <a:lnTo>
                    <a:pt x="5139" y="290642"/>
                  </a:lnTo>
                  <a:lnTo>
                    <a:pt x="0" y="244593"/>
                  </a:lnTo>
                  <a:lnTo>
                    <a:pt x="4001" y="197385"/>
                  </a:lnTo>
                  <a:lnTo>
                    <a:pt x="16648" y="153195"/>
                  </a:lnTo>
                  <a:lnTo>
                    <a:pt x="37070" y="112909"/>
                  </a:lnTo>
                  <a:lnTo>
                    <a:pt x="64399" y="77410"/>
                  </a:lnTo>
                  <a:lnTo>
                    <a:pt x="97766" y="47583"/>
                  </a:lnTo>
                  <a:lnTo>
                    <a:pt x="136301" y="24312"/>
                  </a:lnTo>
                  <a:lnTo>
                    <a:pt x="179135" y="8481"/>
                  </a:lnTo>
                  <a:lnTo>
                    <a:pt x="225400" y="974"/>
                  </a:lnTo>
                  <a:lnTo>
                    <a:pt x="236134" y="0"/>
                  </a:lnTo>
                  <a:lnTo>
                    <a:pt x="241665" y="0"/>
                  </a:lnTo>
                  <a:lnTo>
                    <a:pt x="290456" y="4943"/>
                  </a:lnTo>
                  <a:lnTo>
                    <a:pt x="335912" y="19119"/>
                  </a:lnTo>
                  <a:lnTo>
                    <a:pt x="377046" y="41542"/>
                  </a:lnTo>
                  <a:lnTo>
                    <a:pt x="412871" y="71231"/>
                  </a:lnTo>
                  <a:lnTo>
                    <a:pt x="442398" y="107202"/>
                  </a:lnTo>
                  <a:lnTo>
                    <a:pt x="464642" y="148472"/>
                  </a:lnTo>
                  <a:lnTo>
                    <a:pt x="478613" y="194057"/>
                  </a:lnTo>
                  <a:lnTo>
                    <a:pt x="483326" y="242973"/>
                  </a:lnTo>
                  <a:lnTo>
                    <a:pt x="479046" y="287298"/>
                  </a:lnTo>
                  <a:lnTo>
                    <a:pt x="467143" y="329001"/>
                  </a:lnTo>
                  <a:lnTo>
                    <a:pt x="448289" y="367290"/>
                  </a:lnTo>
                  <a:lnTo>
                    <a:pt x="423154" y="401371"/>
                  </a:lnTo>
                  <a:lnTo>
                    <a:pt x="419577" y="405274"/>
                  </a:lnTo>
                  <a:lnTo>
                    <a:pt x="418603" y="411131"/>
                  </a:lnTo>
                  <a:lnTo>
                    <a:pt x="442291" y="451410"/>
                  </a:lnTo>
                  <a:lnTo>
                    <a:pt x="452432" y="464145"/>
                  </a:lnTo>
                  <a:lnTo>
                    <a:pt x="449504" y="471302"/>
                  </a:lnTo>
                  <a:lnTo>
                    <a:pt x="442999" y="472277"/>
                  </a:lnTo>
                  <a:lnTo>
                    <a:pt x="435869" y="472852"/>
                  </a:lnTo>
                  <a:lnTo>
                    <a:pt x="428647" y="472725"/>
                  </a:lnTo>
                  <a:lnTo>
                    <a:pt x="386647" y="463374"/>
                  </a:lnTo>
                  <a:lnTo>
                    <a:pt x="362982" y="453089"/>
                  </a:lnTo>
                  <a:lnTo>
                    <a:pt x="358431" y="453415"/>
                  </a:lnTo>
                  <a:lnTo>
                    <a:pt x="351274" y="456992"/>
                  </a:lnTo>
                  <a:lnTo>
                    <a:pt x="348349" y="458615"/>
                  </a:lnTo>
                  <a:lnTo>
                    <a:pt x="321577" y="469658"/>
                  </a:lnTo>
                  <a:lnTo>
                    <a:pt x="296960" y="476869"/>
                  </a:lnTo>
                  <a:lnTo>
                    <a:pt x="271367" y="481458"/>
                  </a:lnTo>
                  <a:lnTo>
                    <a:pt x="244919" y="483334"/>
                  </a:lnTo>
                  <a:close/>
                </a:path>
              </a:pathLst>
            </a:custGeom>
            <a:solidFill>
              <a:srgbClr val="FFF6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59752" y="7687283"/>
              <a:ext cx="65407" cy="6540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34626" y="7687283"/>
              <a:ext cx="65407" cy="6540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09501" y="7687283"/>
              <a:ext cx="65407" cy="65407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397657" y="1555000"/>
            <a:ext cx="1710055" cy="2209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 spc="-30" b="1">
                <a:latin typeface="Trebuchet MS"/>
                <a:cs typeface="Trebuchet MS"/>
              </a:rPr>
              <a:t>Trusted</a:t>
            </a:r>
            <a:r>
              <a:rPr dirty="0" sz="1250" spc="-229" b="1">
                <a:latin typeface="Trebuchet MS"/>
                <a:cs typeface="Trebuchet MS"/>
              </a:rPr>
              <a:t> </a:t>
            </a:r>
            <a:r>
              <a:rPr dirty="0" sz="1250" b="1">
                <a:latin typeface="Trebuchet MS"/>
                <a:cs typeface="Trebuchet MS"/>
              </a:rPr>
              <a:t>By</a:t>
            </a:r>
            <a:r>
              <a:rPr dirty="0" sz="1250" spc="-229" b="1">
                <a:latin typeface="Trebuchet MS"/>
                <a:cs typeface="Trebuchet MS"/>
              </a:rPr>
              <a:t> </a:t>
            </a:r>
            <a:r>
              <a:rPr dirty="0" sz="1250" spc="55" b="1">
                <a:latin typeface="Trebuchet MS"/>
                <a:cs typeface="Trebuchet MS"/>
              </a:rPr>
              <a:t>7000+SMEs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67936" y="3221529"/>
            <a:ext cx="5678805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0" spc="90" b="1">
                <a:solidFill>
                  <a:srgbClr val="092A3B"/>
                </a:solidFill>
                <a:latin typeface="Trebuchet MS"/>
                <a:cs typeface="Trebuchet MS"/>
              </a:rPr>
              <a:t>Accounting</a:t>
            </a:r>
            <a:r>
              <a:rPr dirty="0" sz="4500" spc="-550" b="1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4500" spc="50" b="1">
                <a:solidFill>
                  <a:srgbClr val="092A3B"/>
                </a:solidFill>
                <a:latin typeface="Trebuchet MS"/>
                <a:cs typeface="Trebuchet MS"/>
              </a:rPr>
              <a:t>Software</a:t>
            </a:r>
            <a:endParaRPr sz="4500">
              <a:latin typeface="Trebuchet MS"/>
              <a:cs typeface="Trebuchet MS"/>
            </a:endParaRPr>
          </a:p>
        </p:txBody>
      </p: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8918" rIns="0" bIns="0" rtlCol="0" vert="horz">
            <a:spAutoFit/>
          </a:bodyPr>
          <a:lstStyle/>
          <a:p>
            <a:pPr marL="102235">
              <a:lnSpc>
                <a:spcPct val="100000"/>
              </a:lnSpc>
              <a:spcBef>
                <a:spcPts val="100"/>
              </a:spcBef>
            </a:pPr>
            <a:r>
              <a:rPr dirty="0" sz="2000" spc="130" b="0">
                <a:solidFill>
                  <a:srgbClr val="F1660F"/>
                </a:solidFill>
                <a:latin typeface="Trebuchet MS"/>
                <a:cs typeface="Trebuchet MS"/>
              </a:rPr>
              <a:t>PHASE</a:t>
            </a:r>
            <a:r>
              <a:rPr dirty="0" sz="2000" spc="-160" b="0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2000" spc="170" b="0">
                <a:solidFill>
                  <a:srgbClr val="F1660F"/>
                </a:solidFill>
                <a:latin typeface="Trebuchet MS"/>
                <a:cs typeface="Trebuchet MS"/>
              </a:rPr>
              <a:t>3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03576" y="5476171"/>
            <a:ext cx="4227830" cy="2216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50" spc="70">
                <a:solidFill>
                  <a:srgbClr val="092A3B"/>
                </a:solidFill>
                <a:latin typeface="Trebuchet MS"/>
                <a:cs typeface="Trebuchet MS"/>
              </a:rPr>
              <a:t>We</a:t>
            </a:r>
            <a:r>
              <a:rPr dirty="0" sz="1250" spc="-9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60">
                <a:solidFill>
                  <a:srgbClr val="092A3B"/>
                </a:solidFill>
                <a:latin typeface="Trebuchet MS"/>
                <a:cs typeface="Trebuchet MS"/>
              </a:rPr>
              <a:t>will</a:t>
            </a:r>
            <a:r>
              <a:rPr dirty="0" sz="1250" spc="-8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review</a:t>
            </a:r>
            <a:r>
              <a:rPr dirty="0" sz="1250" spc="-8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any</a:t>
            </a:r>
            <a:r>
              <a:rPr dirty="0" sz="1250" spc="-8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existing</a:t>
            </a:r>
            <a:r>
              <a:rPr dirty="0" sz="1250" spc="-8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accounting</a:t>
            </a:r>
            <a:r>
              <a:rPr dirty="0" sz="1250" spc="-8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tools</a:t>
            </a:r>
            <a:r>
              <a:rPr dirty="0" sz="1250" spc="-8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for</a:t>
            </a:r>
            <a:r>
              <a:rPr dirty="0" sz="1250" spc="-8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integration.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10338" y="4861035"/>
            <a:ext cx="2509520" cy="24955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50" spc="-10" b="1">
                <a:solidFill>
                  <a:srgbClr val="092A3B"/>
                </a:solidFill>
                <a:latin typeface="Trebuchet MS"/>
                <a:cs typeface="Trebuchet MS"/>
              </a:rPr>
              <a:t>If</a:t>
            </a:r>
            <a:r>
              <a:rPr dirty="0" sz="1450" spc="-85" b="1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92A3B"/>
                </a:solidFill>
                <a:latin typeface="Trebuchet MS"/>
                <a:cs typeface="Trebuchet MS"/>
              </a:rPr>
              <a:t>you</a:t>
            </a:r>
            <a:r>
              <a:rPr dirty="0" sz="1450" spc="-85" b="1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92A3B"/>
                </a:solidFill>
                <a:latin typeface="Trebuchet MS"/>
                <a:cs typeface="Trebuchet MS"/>
              </a:rPr>
              <a:t>have</a:t>
            </a:r>
            <a:r>
              <a:rPr dirty="0" sz="1450" spc="-85" b="1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92A3B"/>
                </a:solidFill>
                <a:latin typeface="Trebuchet MS"/>
                <a:cs typeface="Trebuchet MS"/>
              </a:rPr>
              <a:t>existing</a:t>
            </a:r>
            <a:r>
              <a:rPr dirty="0" sz="1450" spc="-85" b="1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92A3B"/>
                </a:solidFill>
                <a:latin typeface="Trebuchet MS"/>
                <a:cs typeface="Trebuchet MS"/>
              </a:rPr>
              <a:t>software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826194" y="5530080"/>
            <a:ext cx="4178935" cy="2216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50">
                <a:solidFill>
                  <a:srgbClr val="FFFFFF"/>
                </a:solidFill>
                <a:latin typeface="Trebuchet MS"/>
                <a:cs typeface="Trebuchet MS"/>
              </a:rPr>
              <a:t>Zoho</a:t>
            </a:r>
            <a:r>
              <a:rPr dirty="0" sz="125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 spc="60">
                <a:solidFill>
                  <a:srgbClr val="FFFFFF"/>
                </a:solidFill>
                <a:latin typeface="Trebuchet MS"/>
                <a:cs typeface="Trebuchet MS"/>
              </a:rPr>
              <a:t>Books</a:t>
            </a:r>
            <a:r>
              <a:rPr dirty="0" sz="125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FFFFFF"/>
                </a:solidFill>
                <a:latin typeface="Trebuchet MS"/>
                <a:cs typeface="Trebuchet MS"/>
              </a:rPr>
              <a:t>suits</a:t>
            </a:r>
            <a:r>
              <a:rPr dirty="0" sz="125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Trebuchet MS"/>
                <a:cs typeface="Trebuchet MS"/>
              </a:rPr>
              <a:t>them</a:t>
            </a:r>
            <a:r>
              <a:rPr dirty="0" sz="125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dirty="0" sz="125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 spc="-20">
                <a:solidFill>
                  <a:srgbClr val="FFFFFF"/>
                </a:solidFill>
                <a:latin typeface="Trebuchet MS"/>
                <a:cs typeface="Trebuchet MS"/>
              </a:rPr>
              <a:t>its</a:t>
            </a:r>
            <a:r>
              <a:rPr dirty="0" sz="125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Trebuchet MS"/>
                <a:cs typeface="Trebuchet MS"/>
              </a:rPr>
              <a:t>healthcare-specific</a:t>
            </a:r>
            <a:r>
              <a:rPr dirty="0" sz="125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Trebuchet MS"/>
                <a:cs typeface="Trebuchet MS"/>
              </a:rPr>
              <a:t>features.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826194" y="4858699"/>
            <a:ext cx="3030220" cy="24955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50" b="1">
                <a:solidFill>
                  <a:srgbClr val="FFFFFF"/>
                </a:solidFill>
                <a:latin typeface="Trebuchet MS"/>
                <a:cs typeface="Trebuchet MS"/>
              </a:rPr>
              <a:t>Our</a:t>
            </a:r>
            <a:r>
              <a:rPr dirty="0" sz="1450" spc="-12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FFFFFF"/>
                </a:solidFill>
                <a:latin typeface="Trebuchet MS"/>
                <a:cs typeface="Trebuchet MS"/>
              </a:rPr>
              <a:t>recommendation</a:t>
            </a:r>
            <a:r>
              <a:rPr dirty="0" sz="1450" spc="-114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 spc="-110" b="1">
                <a:solidFill>
                  <a:srgbClr val="FFFFFF"/>
                </a:solidFill>
                <a:latin typeface="Trebuchet MS"/>
                <a:cs typeface="Trebuchet MS"/>
              </a:rPr>
              <a:t>·</a:t>
            </a:r>
            <a:r>
              <a:rPr dirty="0" sz="1450" spc="-114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 spc="55" b="1">
                <a:solidFill>
                  <a:srgbClr val="FFFFFF"/>
                </a:solidFill>
                <a:latin typeface="Trebuchet MS"/>
                <a:cs typeface="Trebuchet MS"/>
              </a:rPr>
              <a:t>Zoho</a:t>
            </a:r>
            <a:r>
              <a:rPr dirty="0" sz="1450" spc="-12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 spc="40" b="1">
                <a:solidFill>
                  <a:srgbClr val="FFFFFF"/>
                </a:solidFill>
                <a:latin typeface="Trebuchet MS"/>
                <a:cs typeface="Trebuchet MS"/>
              </a:rPr>
              <a:t>Books</a:t>
            </a:r>
            <a:endParaRPr sz="1450">
              <a:latin typeface="Trebuchet MS"/>
              <a:cs typeface="Trebuchet MS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8848232" y="7478513"/>
            <a:ext cx="483870" cy="483870"/>
            <a:chOff x="8848232" y="7478513"/>
            <a:chExt cx="483870" cy="483870"/>
          </a:xfrm>
        </p:grpSpPr>
        <p:sp>
          <p:nvSpPr>
            <p:cNvPr id="27" name="object 27"/>
            <p:cNvSpPr/>
            <p:nvPr/>
          </p:nvSpPr>
          <p:spPr>
            <a:xfrm>
              <a:off x="8848232" y="7478513"/>
              <a:ext cx="483870" cy="483870"/>
            </a:xfrm>
            <a:custGeom>
              <a:avLst/>
              <a:gdLst/>
              <a:ahLst/>
              <a:cxnLst/>
              <a:rect l="l" t="t" r="r" b="b"/>
              <a:pathLst>
                <a:path w="483870" h="483870">
                  <a:moveTo>
                    <a:pt x="244919" y="483334"/>
                  </a:moveTo>
                  <a:lnTo>
                    <a:pt x="235160" y="483334"/>
                  </a:lnTo>
                  <a:lnTo>
                    <a:pt x="230282" y="482681"/>
                  </a:lnTo>
                  <a:lnTo>
                    <a:pt x="227027" y="482681"/>
                  </a:lnTo>
                  <a:lnTo>
                    <a:pt x="181759" y="475372"/>
                  </a:lnTo>
                  <a:lnTo>
                    <a:pt x="139503" y="459888"/>
                  </a:lnTo>
                  <a:lnTo>
                    <a:pt x="101165" y="437107"/>
                  </a:lnTo>
                  <a:lnTo>
                    <a:pt x="67652" y="407912"/>
                  </a:lnTo>
                  <a:lnTo>
                    <a:pt x="39872" y="373183"/>
                  </a:lnTo>
                  <a:lnTo>
                    <a:pt x="18732" y="333799"/>
                  </a:lnTo>
                  <a:lnTo>
                    <a:pt x="5139" y="290642"/>
                  </a:lnTo>
                  <a:lnTo>
                    <a:pt x="0" y="244593"/>
                  </a:lnTo>
                  <a:lnTo>
                    <a:pt x="4001" y="197385"/>
                  </a:lnTo>
                  <a:lnTo>
                    <a:pt x="16648" y="153195"/>
                  </a:lnTo>
                  <a:lnTo>
                    <a:pt x="37070" y="112909"/>
                  </a:lnTo>
                  <a:lnTo>
                    <a:pt x="64399" y="77410"/>
                  </a:lnTo>
                  <a:lnTo>
                    <a:pt x="97766" y="47583"/>
                  </a:lnTo>
                  <a:lnTo>
                    <a:pt x="136301" y="24312"/>
                  </a:lnTo>
                  <a:lnTo>
                    <a:pt x="179135" y="8481"/>
                  </a:lnTo>
                  <a:lnTo>
                    <a:pt x="225400" y="974"/>
                  </a:lnTo>
                  <a:lnTo>
                    <a:pt x="236134" y="0"/>
                  </a:lnTo>
                  <a:lnTo>
                    <a:pt x="241665" y="0"/>
                  </a:lnTo>
                  <a:lnTo>
                    <a:pt x="290456" y="4943"/>
                  </a:lnTo>
                  <a:lnTo>
                    <a:pt x="335912" y="19119"/>
                  </a:lnTo>
                  <a:lnTo>
                    <a:pt x="377046" y="41542"/>
                  </a:lnTo>
                  <a:lnTo>
                    <a:pt x="412871" y="71231"/>
                  </a:lnTo>
                  <a:lnTo>
                    <a:pt x="442398" y="107202"/>
                  </a:lnTo>
                  <a:lnTo>
                    <a:pt x="464642" y="148472"/>
                  </a:lnTo>
                  <a:lnTo>
                    <a:pt x="478613" y="194057"/>
                  </a:lnTo>
                  <a:lnTo>
                    <a:pt x="483326" y="242973"/>
                  </a:lnTo>
                  <a:lnTo>
                    <a:pt x="479046" y="287298"/>
                  </a:lnTo>
                  <a:lnTo>
                    <a:pt x="467143" y="329001"/>
                  </a:lnTo>
                  <a:lnTo>
                    <a:pt x="448289" y="367290"/>
                  </a:lnTo>
                  <a:lnTo>
                    <a:pt x="423154" y="401371"/>
                  </a:lnTo>
                  <a:lnTo>
                    <a:pt x="419577" y="405274"/>
                  </a:lnTo>
                  <a:lnTo>
                    <a:pt x="418603" y="411131"/>
                  </a:lnTo>
                  <a:lnTo>
                    <a:pt x="442291" y="451410"/>
                  </a:lnTo>
                  <a:lnTo>
                    <a:pt x="452432" y="464145"/>
                  </a:lnTo>
                  <a:lnTo>
                    <a:pt x="449504" y="471302"/>
                  </a:lnTo>
                  <a:lnTo>
                    <a:pt x="442999" y="472277"/>
                  </a:lnTo>
                  <a:lnTo>
                    <a:pt x="435869" y="472852"/>
                  </a:lnTo>
                  <a:lnTo>
                    <a:pt x="428647" y="472725"/>
                  </a:lnTo>
                  <a:lnTo>
                    <a:pt x="386647" y="463374"/>
                  </a:lnTo>
                  <a:lnTo>
                    <a:pt x="362982" y="453089"/>
                  </a:lnTo>
                  <a:lnTo>
                    <a:pt x="358431" y="453415"/>
                  </a:lnTo>
                  <a:lnTo>
                    <a:pt x="351274" y="456992"/>
                  </a:lnTo>
                  <a:lnTo>
                    <a:pt x="348349" y="458615"/>
                  </a:lnTo>
                  <a:lnTo>
                    <a:pt x="321577" y="469658"/>
                  </a:lnTo>
                  <a:lnTo>
                    <a:pt x="296960" y="476869"/>
                  </a:lnTo>
                  <a:lnTo>
                    <a:pt x="271367" y="481458"/>
                  </a:lnTo>
                  <a:lnTo>
                    <a:pt x="244919" y="483334"/>
                  </a:lnTo>
                  <a:close/>
                </a:path>
              </a:pathLst>
            </a:custGeom>
            <a:solidFill>
              <a:srgbClr val="092A3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82371" y="7687283"/>
              <a:ext cx="65407" cy="6540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57245" y="7687283"/>
              <a:ext cx="65407" cy="65407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32120" y="7687283"/>
              <a:ext cx="65407" cy="65407"/>
            </a:xfrm>
            <a:prstGeom prst="rect">
              <a:avLst/>
            </a:prstGeom>
          </p:spPr>
        </p:pic>
      </p:grpSp>
      <p:sp>
        <p:nvSpPr>
          <p:cNvPr id="31" name="object 31"/>
          <p:cNvSpPr/>
          <p:nvPr/>
        </p:nvSpPr>
        <p:spPr>
          <a:xfrm>
            <a:off x="8838894" y="6474536"/>
            <a:ext cx="4901565" cy="633730"/>
          </a:xfrm>
          <a:custGeom>
            <a:avLst/>
            <a:gdLst/>
            <a:ahLst/>
            <a:cxnLst/>
            <a:rect l="l" t="t" r="r" b="b"/>
            <a:pathLst>
              <a:path w="4901565" h="633729">
                <a:moveTo>
                  <a:pt x="4828483" y="633401"/>
                </a:moveTo>
                <a:lnTo>
                  <a:pt x="73298" y="633401"/>
                </a:lnTo>
                <a:lnTo>
                  <a:pt x="44773" y="627711"/>
                </a:lnTo>
                <a:lnTo>
                  <a:pt x="21474" y="612194"/>
                </a:lnTo>
                <a:lnTo>
                  <a:pt x="5762" y="589183"/>
                </a:lnTo>
                <a:lnTo>
                  <a:pt x="0" y="561012"/>
                </a:lnTo>
                <a:lnTo>
                  <a:pt x="0" y="72388"/>
                </a:lnTo>
                <a:lnTo>
                  <a:pt x="21474" y="21207"/>
                </a:lnTo>
                <a:lnTo>
                  <a:pt x="73298" y="0"/>
                </a:lnTo>
                <a:lnTo>
                  <a:pt x="4828483" y="0"/>
                </a:lnTo>
                <a:lnTo>
                  <a:pt x="4857007" y="5690"/>
                </a:lnTo>
                <a:lnTo>
                  <a:pt x="4880307" y="21207"/>
                </a:lnTo>
                <a:lnTo>
                  <a:pt x="4896019" y="44218"/>
                </a:lnTo>
                <a:lnTo>
                  <a:pt x="4901442" y="70733"/>
                </a:lnTo>
                <a:lnTo>
                  <a:pt x="4901442" y="562667"/>
                </a:lnTo>
                <a:lnTo>
                  <a:pt x="4896019" y="589183"/>
                </a:lnTo>
                <a:lnTo>
                  <a:pt x="4880307" y="612194"/>
                </a:lnTo>
                <a:lnTo>
                  <a:pt x="4857007" y="627711"/>
                </a:lnTo>
                <a:lnTo>
                  <a:pt x="4828483" y="633401"/>
                </a:lnTo>
                <a:close/>
              </a:path>
            </a:pathLst>
          </a:custGeom>
          <a:solidFill>
            <a:srgbClr val="F973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9359999" y="6662808"/>
            <a:ext cx="3859529" cy="2216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50" spc="-40">
                <a:solidFill>
                  <a:srgbClr val="FFFFFF"/>
                </a:solidFill>
                <a:latin typeface="Trebuchet MS"/>
                <a:cs typeface="Trebuchet MS"/>
              </a:rPr>
              <a:t>Plan:</a:t>
            </a:r>
            <a:r>
              <a:rPr dirty="0" sz="125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FFFFFF"/>
                </a:solidFill>
                <a:latin typeface="Trebuchet MS"/>
                <a:cs typeface="Trebuchet MS"/>
              </a:rPr>
              <a:t>Standard</a:t>
            </a:r>
            <a:r>
              <a:rPr dirty="0" sz="125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 spc="365">
                <a:solidFill>
                  <a:srgbClr val="FFFFFF"/>
                </a:solidFill>
                <a:latin typeface="Trebuchet MS"/>
                <a:cs typeface="Trebuchet MS"/>
              </a:rPr>
              <a:t>—</a:t>
            </a:r>
            <a:r>
              <a:rPr dirty="0" sz="125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 spc="-20">
                <a:solidFill>
                  <a:srgbClr val="FFFFFF"/>
                </a:solidFill>
                <a:latin typeface="Trebuchet MS"/>
                <a:cs typeface="Trebuchet MS"/>
              </a:rPr>
              <a:t>suitable</a:t>
            </a:r>
            <a:r>
              <a:rPr dirty="0" sz="125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dirty="0" sz="125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FFFFFF"/>
                </a:solidFill>
                <a:latin typeface="Trebuchet MS"/>
                <a:cs typeface="Trebuchet MS"/>
              </a:rPr>
              <a:t>basic</a:t>
            </a:r>
            <a:r>
              <a:rPr dirty="0" sz="125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FFFFFF"/>
                </a:solidFill>
                <a:latin typeface="Trebuchet MS"/>
                <a:cs typeface="Trebuchet MS"/>
              </a:rPr>
              <a:t>accounting</a:t>
            </a:r>
            <a:r>
              <a:rPr dirty="0" sz="125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Trebuchet MS"/>
                <a:cs typeface="Trebuchet MS"/>
              </a:rPr>
              <a:t>needs.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16000" y="9647656"/>
            <a:ext cx="1519555" cy="208279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200" spc="-10">
                <a:solidFill>
                  <a:srgbClr val="092A3B"/>
                </a:solidFill>
                <a:latin typeface="Trebuchet MS"/>
                <a:cs typeface="Trebuchet MS"/>
                <a:hlinkClick r:id="rId7"/>
              </a:rPr>
              <a:t>www.finanshels.com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7155926" y="9690726"/>
            <a:ext cx="263525" cy="268605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600" spc="65">
                <a:solidFill>
                  <a:srgbClr val="0D2E32"/>
                </a:solidFill>
                <a:latin typeface="Trebuchet MS"/>
                <a:cs typeface="Trebuchet MS"/>
              </a:rPr>
              <a:t>08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16000" y="8767483"/>
            <a:ext cx="9656445" cy="2216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50" spc="-25" b="1">
                <a:solidFill>
                  <a:srgbClr val="F1660F"/>
                </a:solidFill>
                <a:latin typeface="Trebuchet MS"/>
                <a:cs typeface="Trebuchet MS"/>
              </a:rPr>
              <a:t>Note:</a:t>
            </a:r>
            <a:r>
              <a:rPr dirty="0" sz="1250" spc="-80" b="1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the</a:t>
            </a:r>
            <a:r>
              <a:rPr dirty="0" sz="1250" spc="-8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accounting</a:t>
            </a:r>
            <a:r>
              <a:rPr dirty="0" sz="1250" spc="-8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software</a:t>
            </a:r>
            <a:r>
              <a:rPr dirty="0" sz="1250" spc="-8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subscription</a:t>
            </a:r>
            <a:r>
              <a:rPr dirty="0" sz="1250" spc="-7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is</a:t>
            </a:r>
            <a:r>
              <a:rPr dirty="0" sz="1250" spc="-8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40">
                <a:solidFill>
                  <a:srgbClr val="092A3B"/>
                </a:solidFill>
                <a:latin typeface="Trebuchet MS"/>
                <a:cs typeface="Trebuchet MS"/>
              </a:rPr>
              <a:t>billed</a:t>
            </a:r>
            <a:r>
              <a:rPr dirty="0" sz="1250" spc="-8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70">
                <a:solidFill>
                  <a:srgbClr val="092A3B"/>
                </a:solidFill>
                <a:latin typeface="Trebuchet MS"/>
                <a:cs typeface="Trebuchet MS"/>
              </a:rPr>
              <a:t>by</a:t>
            </a:r>
            <a:r>
              <a:rPr dirty="0" sz="1250" spc="-8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the</a:t>
            </a:r>
            <a:r>
              <a:rPr dirty="0" sz="1250" spc="-7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provider</a:t>
            </a:r>
            <a:r>
              <a:rPr dirty="0" sz="1250" spc="-8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55">
                <a:solidFill>
                  <a:srgbClr val="092A3B"/>
                </a:solidFill>
                <a:latin typeface="Trebuchet MS"/>
                <a:cs typeface="Trebuchet MS"/>
              </a:rPr>
              <a:t>(e.g.</a:t>
            </a:r>
            <a:r>
              <a:rPr dirty="0" sz="1250" spc="-8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Zoho)</a:t>
            </a:r>
            <a:r>
              <a:rPr dirty="0" sz="1250" spc="-8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and</a:t>
            </a:r>
            <a:r>
              <a:rPr dirty="0" sz="1250" spc="-7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paid</a:t>
            </a:r>
            <a:r>
              <a:rPr dirty="0" sz="1250" spc="-8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70">
                <a:solidFill>
                  <a:srgbClr val="092A3B"/>
                </a:solidFill>
                <a:latin typeface="Trebuchet MS"/>
                <a:cs typeface="Trebuchet MS"/>
              </a:rPr>
              <a:t>by</a:t>
            </a:r>
            <a:r>
              <a:rPr dirty="0" sz="1250" spc="-8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the</a:t>
            </a:r>
            <a:r>
              <a:rPr dirty="0" sz="1250" spc="-8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45">
                <a:solidFill>
                  <a:srgbClr val="092A3B"/>
                </a:solidFill>
                <a:latin typeface="Trebuchet MS"/>
                <a:cs typeface="Trebuchet MS"/>
              </a:rPr>
              <a:t>client</a:t>
            </a:r>
            <a:r>
              <a:rPr dirty="0" sz="1250" spc="-7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365">
                <a:solidFill>
                  <a:srgbClr val="092A3B"/>
                </a:solidFill>
                <a:latin typeface="Trebuchet MS"/>
                <a:cs typeface="Trebuchet MS"/>
              </a:rPr>
              <a:t>—</a:t>
            </a:r>
            <a:r>
              <a:rPr dirty="0" sz="1250" spc="-8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not</a:t>
            </a:r>
            <a:r>
              <a:rPr dirty="0" sz="1250" spc="-8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included</a:t>
            </a:r>
            <a:r>
              <a:rPr dirty="0" sz="1250" spc="-8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35">
                <a:solidFill>
                  <a:srgbClr val="092A3B"/>
                </a:solidFill>
                <a:latin typeface="Trebuchet MS"/>
                <a:cs typeface="Trebuchet MS"/>
              </a:rPr>
              <a:t>in</a:t>
            </a:r>
            <a:r>
              <a:rPr dirty="0" sz="1250" spc="-7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our</a:t>
            </a:r>
            <a:r>
              <a:rPr dirty="0" sz="1250" spc="-8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service</a:t>
            </a:r>
            <a:r>
              <a:rPr dirty="0" sz="1250" spc="-8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fees.</a:t>
            </a:r>
            <a:endParaRPr sz="12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700" y="698618"/>
            <a:ext cx="179705" cy="1083310"/>
          </a:xfrm>
          <a:custGeom>
            <a:avLst/>
            <a:gdLst/>
            <a:ahLst/>
            <a:cxnLst/>
            <a:rect l="l" t="t" r="r" b="b"/>
            <a:pathLst>
              <a:path w="179705" h="1083310">
                <a:moveTo>
                  <a:pt x="179550" y="1082912"/>
                </a:moveTo>
                <a:lnTo>
                  <a:pt x="0" y="1082912"/>
                </a:lnTo>
                <a:lnTo>
                  <a:pt x="0" y="0"/>
                </a:lnTo>
                <a:lnTo>
                  <a:pt x="179550" y="0"/>
                </a:lnTo>
                <a:lnTo>
                  <a:pt x="179550" y="1082912"/>
                </a:lnTo>
                <a:close/>
              </a:path>
            </a:pathLst>
          </a:custGeom>
          <a:solidFill>
            <a:srgbClr val="F1660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8439077" y="4361996"/>
            <a:ext cx="6807200" cy="3771900"/>
            <a:chOff x="8439077" y="4361996"/>
            <a:chExt cx="6807200" cy="3771900"/>
          </a:xfrm>
        </p:grpSpPr>
        <p:sp>
          <p:nvSpPr>
            <p:cNvPr id="4" name="object 4"/>
            <p:cNvSpPr/>
            <p:nvPr/>
          </p:nvSpPr>
          <p:spPr>
            <a:xfrm>
              <a:off x="8448602" y="4371522"/>
              <a:ext cx="6786880" cy="3752850"/>
            </a:xfrm>
            <a:custGeom>
              <a:avLst/>
              <a:gdLst/>
              <a:ahLst/>
              <a:cxnLst/>
              <a:rect l="l" t="t" r="r" b="b"/>
              <a:pathLst>
                <a:path w="6786880" h="3752850">
                  <a:moveTo>
                    <a:pt x="6597572" y="3752427"/>
                  </a:moveTo>
                  <a:lnTo>
                    <a:pt x="190500" y="3752427"/>
                  </a:lnTo>
                  <a:lnTo>
                    <a:pt x="153162" y="3748733"/>
                  </a:lnTo>
                  <a:lnTo>
                    <a:pt x="84810" y="3720421"/>
                  </a:lnTo>
                  <a:lnTo>
                    <a:pt x="32006" y="3667617"/>
                  </a:lnTo>
                  <a:lnTo>
                    <a:pt x="3694" y="3599266"/>
                  </a:lnTo>
                  <a:lnTo>
                    <a:pt x="0" y="3561927"/>
                  </a:lnTo>
                  <a:lnTo>
                    <a:pt x="0" y="190500"/>
                  </a:lnTo>
                  <a:lnTo>
                    <a:pt x="14500" y="117598"/>
                  </a:lnTo>
                  <a:lnTo>
                    <a:pt x="55796" y="55796"/>
                  </a:lnTo>
                  <a:lnTo>
                    <a:pt x="117599" y="14501"/>
                  </a:lnTo>
                  <a:lnTo>
                    <a:pt x="190500" y="0"/>
                  </a:lnTo>
                  <a:lnTo>
                    <a:pt x="6597572" y="0"/>
                  </a:lnTo>
                  <a:lnTo>
                    <a:pt x="6634910" y="3694"/>
                  </a:lnTo>
                  <a:lnTo>
                    <a:pt x="6703262" y="32006"/>
                  </a:lnTo>
                  <a:lnTo>
                    <a:pt x="6756066" y="84810"/>
                  </a:lnTo>
                  <a:lnTo>
                    <a:pt x="6784379" y="153161"/>
                  </a:lnTo>
                  <a:lnTo>
                    <a:pt x="6786617" y="175781"/>
                  </a:lnTo>
                  <a:lnTo>
                    <a:pt x="6786617" y="3576645"/>
                  </a:lnTo>
                  <a:lnTo>
                    <a:pt x="6773572" y="3634829"/>
                  </a:lnTo>
                  <a:lnTo>
                    <a:pt x="6732276" y="3696631"/>
                  </a:lnTo>
                  <a:lnTo>
                    <a:pt x="6670474" y="3737926"/>
                  </a:lnTo>
                  <a:lnTo>
                    <a:pt x="6597572" y="3752427"/>
                  </a:lnTo>
                  <a:close/>
                </a:path>
              </a:pathLst>
            </a:custGeom>
            <a:solidFill>
              <a:srgbClr val="FFF6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448602" y="4371521"/>
              <a:ext cx="6788150" cy="3752850"/>
            </a:xfrm>
            <a:custGeom>
              <a:avLst/>
              <a:gdLst/>
              <a:ahLst/>
              <a:cxnLst/>
              <a:rect l="l" t="t" r="r" b="b"/>
              <a:pathLst>
                <a:path w="6788150" h="3752850">
                  <a:moveTo>
                    <a:pt x="190509" y="0"/>
                  </a:moveTo>
                  <a:lnTo>
                    <a:pt x="6597539" y="0"/>
                  </a:lnTo>
                  <a:lnTo>
                    <a:pt x="6634880" y="3686"/>
                  </a:lnTo>
                  <a:lnTo>
                    <a:pt x="6703242" y="31990"/>
                  </a:lnTo>
                  <a:lnTo>
                    <a:pt x="6756058" y="84796"/>
                  </a:lnTo>
                  <a:lnTo>
                    <a:pt x="6784378" y="153158"/>
                  </a:lnTo>
                  <a:lnTo>
                    <a:pt x="6788075" y="3561908"/>
                  </a:lnTo>
                  <a:lnTo>
                    <a:pt x="6784382" y="3599254"/>
                  </a:lnTo>
                  <a:lnTo>
                    <a:pt x="6756064" y="3667620"/>
                  </a:lnTo>
                  <a:lnTo>
                    <a:pt x="6703246" y="3720430"/>
                  </a:lnTo>
                  <a:lnTo>
                    <a:pt x="6634880" y="3748737"/>
                  </a:lnTo>
                  <a:lnTo>
                    <a:pt x="190507" y="3752429"/>
                  </a:lnTo>
                  <a:lnTo>
                    <a:pt x="153163" y="3748734"/>
                  </a:lnTo>
                  <a:lnTo>
                    <a:pt x="84804" y="3720417"/>
                  </a:lnTo>
                  <a:lnTo>
                    <a:pt x="31998" y="3667603"/>
                  </a:lnTo>
                  <a:lnTo>
                    <a:pt x="3691" y="3599244"/>
                  </a:lnTo>
                  <a:lnTo>
                    <a:pt x="0" y="3561905"/>
                  </a:lnTo>
                  <a:lnTo>
                    <a:pt x="0" y="190498"/>
                  </a:lnTo>
                  <a:lnTo>
                    <a:pt x="14503" y="117594"/>
                  </a:lnTo>
                  <a:lnTo>
                    <a:pt x="55802" y="55791"/>
                  </a:lnTo>
                  <a:lnTo>
                    <a:pt x="117608" y="14499"/>
                  </a:lnTo>
                  <a:lnTo>
                    <a:pt x="190509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0357" y="838028"/>
            <a:ext cx="2647949" cy="3524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80563" y="1279642"/>
            <a:ext cx="1428749" cy="2285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84659" y="9722024"/>
            <a:ext cx="225674" cy="225673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1019174" y="4361996"/>
            <a:ext cx="6807200" cy="3771900"/>
            <a:chOff x="1019174" y="4361996"/>
            <a:chExt cx="6807200" cy="3771900"/>
          </a:xfrm>
        </p:grpSpPr>
        <p:sp>
          <p:nvSpPr>
            <p:cNvPr id="10" name="object 10"/>
            <p:cNvSpPr/>
            <p:nvPr/>
          </p:nvSpPr>
          <p:spPr>
            <a:xfrm>
              <a:off x="1028699" y="4371522"/>
              <a:ext cx="6786880" cy="3752850"/>
            </a:xfrm>
            <a:custGeom>
              <a:avLst/>
              <a:gdLst/>
              <a:ahLst/>
              <a:cxnLst/>
              <a:rect l="l" t="t" r="r" b="b"/>
              <a:pathLst>
                <a:path w="6786880" h="3752850">
                  <a:moveTo>
                    <a:pt x="6597572" y="3752427"/>
                  </a:moveTo>
                  <a:lnTo>
                    <a:pt x="190500" y="3752427"/>
                  </a:lnTo>
                  <a:lnTo>
                    <a:pt x="153161" y="3748733"/>
                  </a:lnTo>
                  <a:lnTo>
                    <a:pt x="84810" y="3720421"/>
                  </a:lnTo>
                  <a:lnTo>
                    <a:pt x="32006" y="3667617"/>
                  </a:lnTo>
                  <a:lnTo>
                    <a:pt x="3694" y="3599266"/>
                  </a:lnTo>
                  <a:lnTo>
                    <a:pt x="0" y="3561927"/>
                  </a:lnTo>
                  <a:lnTo>
                    <a:pt x="0" y="190500"/>
                  </a:lnTo>
                  <a:lnTo>
                    <a:pt x="14500" y="117598"/>
                  </a:lnTo>
                  <a:lnTo>
                    <a:pt x="55796" y="55796"/>
                  </a:lnTo>
                  <a:lnTo>
                    <a:pt x="117598" y="14501"/>
                  </a:lnTo>
                  <a:lnTo>
                    <a:pt x="190500" y="0"/>
                  </a:lnTo>
                  <a:lnTo>
                    <a:pt x="6597572" y="0"/>
                  </a:lnTo>
                  <a:lnTo>
                    <a:pt x="6634911" y="3694"/>
                  </a:lnTo>
                  <a:lnTo>
                    <a:pt x="6703262" y="32006"/>
                  </a:lnTo>
                  <a:lnTo>
                    <a:pt x="6756066" y="84810"/>
                  </a:lnTo>
                  <a:lnTo>
                    <a:pt x="6784379" y="153161"/>
                  </a:lnTo>
                  <a:lnTo>
                    <a:pt x="6786617" y="175785"/>
                  </a:lnTo>
                  <a:lnTo>
                    <a:pt x="6786617" y="3576642"/>
                  </a:lnTo>
                  <a:lnTo>
                    <a:pt x="6773572" y="3634829"/>
                  </a:lnTo>
                  <a:lnTo>
                    <a:pt x="6732277" y="3696631"/>
                  </a:lnTo>
                  <a:lnTo>
                    <a:pt x="6670474" y="3737926"/>
                  </a:lnTo>
                  <a:lnTo>
                    <a:pt x="6597572" y="3752427"/>
                  </a:lnTo>
                  <a:close/>
                </a:path>
              </a:pathLst>
            </a:custGeom>
            <a:solidFill>
              <a:srgbClr val="092A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028699" y="4371521"/>
              <a:ext cx="6788150" cy="3752850"/>
            </a:xfrm>
            <a:custGeom>
              <a:avLst/>
              <a:gdLst/>
              <a:ahLst/>
              <a:cxnLst/>
              <a:rect l="l" t="t" r="r" b="b"/>
              <a:pathLst>
                <a:path w="6788150" h="3752850">
                  <a:moveTo>
                    <a:pt x="190509" y="0"/>
                  </a:moveTo>
                  <a:lnTo>
                    <a:pt x="6597540" y="0"/>
                  </a:lnTo>
                  <a:lnTo>
                    <a:pt x="6634880" y="3686"/>
                  </a:lnTo>
                  <a:lnTo>
                    <a:pt x="6703242" y="31990"/>
                  </a:lnTo>
                  <a:lnTo>
                    <a:pt x="6756059" y="84796"/>
                  </a:lnTo>
                  <a:lnTo>
                    <a:pt x="6784378" y="153158"/>
                  </a:lnTo>
                  <a:lnTo>
                    <a:pt x="6788075" y="3561908"/>
                  </a:lnTo>
                  <a:lnTo>
                    <a:pt x="6784382" y="3599254"/>
                  </a:lnTo>
                  <a:lnTo>
                    <a:pt x="6756065" y="3667620"/>
                  </a:lnTo>
                  <a:lnTo>
                    <a:pt x="6703246" y="3720430"/>
                  </a:lnTo>
                  <a:lnTo>
                    <a:pt x="6634880" y="3748737"/>
                  </a:lnTo>
                  <a:lnTo>
                    <a:pt x="190507" y="3752429"/>
                  </a:lnTo>
                  <a:lnTo>
                    <a:pt x="153164" y="3748734"/>
                  </a:lnTo>
                  <a:lnTo>
                    <a:pt x="84804" y="3720417"/>
                  </a:lnTo>
                  <a:lnTo>
                    <a:pt x="31998" y="3667603"/>
                  </a:lnTo>
                  <a:lnTo>
                    <a:pt x="3692" y="3599244"/>
                  </a:lnTo>
                  <a:lnTo>
                    <a:pt x="0" y="3561905"/>
                  </a:lnTo>
                  <a:lnTo>
                    <a:pt x="0" y="190498"/>
                  </a:lnTo>
                  <a:lnTo>
                    <a:pt x="14503" y="117594"/>
                  </a:lnTo>
                  <a:lnTo>
                    <a:pt x="55802" y="55791"/>
                  </a:lnTo>
                  <a:lnTo>
                    <a:pt x="117608" y="14499"/>
                  </a:lnTo>
                  <a:lnTo>
                    <a:pt x="190509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524353" y="5346002"/>
              <a:ext cx="2774315" cy="0"/>
            </a:xfrm>
            <a:custGeom>
              <a:avLst/>
              <a:gdLst/>
              <a:ahLst/>
              <a:cxnLst/>
              <a:rect l="l" t="t" r="r" b="b"/>
              <a:pathLst>
                <a:path w="2774315" h="0">
                  <a:moveTo>
                    <a:pt x="0" y="0"/>
                  </a:moveTo>
                  <a:lnTo>
                    <a:pt x="2773804" y="0"/>
                  </a:lnTo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/>
          <p:nvPr/>
        </p:nvSpPr>
        <p:spPr>
          <a:xfrm>
            <a:off x="8846971" y="5346002"/>
            <a:ext cx="2774315" cy="0"/>
          </a:xfrm>
          <a:custGeom>
            <a:avLst/>
            <a:gdLst/>
            <a:ahLst/>
            <a:cxnLst/>
            <a:rect l="l" t="t" r="r" b="b"/>
            <a:pathLst>
              <a:path w="2774315" h="0">
                <a:moveTo>
                  <a:pt x="0" y="0"/>
                </a:moveTo>
                <a:lnTo>
                  <a:pt x="2773804" y="0"/>
                </a:lnTo>
              </a:path>
            </a:pathLst>
          </a:custGeom>
          <a:ln w="9524">
            <a:solidFill>
              <a:srgbClr val="092A3B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4" name="object 14"/>
          <p:cNvGrpSpPr/>
          <p:nvPr/>
        </p:nvGrpSpPr>
        <p:grpSpPr>
          <a:xfrm>
            <a:off x="1525613" y="7478513"/>
            <a:ext cx="483870" cy="483870"/>
            <a:chOff x="1525613" y="7478513"/>
            <a:chExt cx="483870" cy="483870"/>
          </a:xfrm>
        </p:grpSpPr>
        <p:sp>
          <p:nvSpPr>
            <p:cNvPr id="15" name="object 15"/>
            <p:cNvSpPr/>
            <p:nvPr/>
          </p:nvSpPr>
          <p:spPr>
            <a:xfrm>
              <a:off x="1525613" y="7478513"/>
              <a:ext cx="483870" cy="483870"/>
            </a:xfrm>
            <a:custGeom>
              <a:avLst/>
              <a:gdLst/>
              <a:ahLst/>
              <a:cxnLst/>
              <a:rect l="l" t="t" r="r" b="b"/>
              <a:pathLst>
                <a:path w="483869" h="483870">
                  <a:moveTo>
                    <a:pt x="244919" y="483334"/>
                  </a:moveTo>
                  <a:lnTo>
                    <a:pt x="235160" y="483334"/>
                  </a:lnTo>
                  <a:lnTo>
                    <a:pt x="230282" y="482681"/>
                  </a:lnTo>
                  <a:lnTo>
                    <a:pt x="227027" y="482681"/>
                  </a:lnTo>
                  <a:lnTo>
                    <a:pt x="181759" y="475372"/>
                  </a:lnTo>
                  <a:lnTo>
                    <a:pt x="139503" y="459888"/>
                  </a:lnTo>
                  <a:lnTo>
                    <a:pt x="101165" y="437107"/>
                  </a:lnTo>
                  <a:lnTo>
                    <a:pt x="67652" y="407912"/>
                  </a:lnTo>
                  <a:lnTo>
                    <a:pt x="39872" y="373183"/>
                  </a:lnTo>
                  <a:lnTo>
                    <a:pt x="18732" y="333799"/>
                  </a:lnTo>
                  <a:lnTo>
                    <a:pt x="5139" y="290642"/>
                  </a:lnTo>
                  <a:lnTo>
                    <a:pt x="0" y="244593"/>
                  </a:lnTo>
                  <a:lnTo>
                    <a:pt x="4001" y="197385"/>
                  </a:lnTo>
                  <a:lnTo>
                    <a:pt x="16648" y="153195"/>
                  </a:lnTo>
                  <a:lnTo>
                    <a:pt x="37070" y="112909"/>
                  </a:lnTo>
                  <a:lnTo>
                    <a:pt x="64399" y="77410"/>
                  </a:lnTo>
                  <a:lnTo>
                    <a:pt x="97766" y="47583"/>
                  </a:lnTo>
                  <a:lnTo>
                    <a:pt x="136301" y="24312"/>
                  </a:lnTo>
                  <a:lnTo>
                    <a:pt x="179135" y="8481"/>
                  </a:lnTo>
                  <a:lnTo>
                    <a:pt x="225400" y="974"/>
                  </a:lnTo>
                  <a:lnTo>
                    <a:pt x="236134" y="0"/>
                  </a:lnTo>
                  <a:lnTo>
                    <a:pt x="241665" y="0"/>
                  </a:lnTo>
                  <a:lnTo>
                    <a:pt x="290456" y="4943"/>
                  </a:lnTo>
                  <a:lnTo>
                    <a:pt x="335912" y="19119"/>
                  </a:lnTo>
                  <a:lnTo>
                    <a:pt x="377046" y="41542"/>
                  </a:lnTo>
                  <a:lnTo>
                    <a:pt x="412871" y="71231"/>
                  </a:lnTo>
                  <a:lnTo>
                    <a:pt x="442398" y="107202"/>
                  </a:lnTo>
                  <a:lnTo>
                    <a:pt x="464642" y="148472"/>
                  </a:lnTo>
                  <a:lnTo>
                    <a:pt x="478613" y="194057"/>
                  </a:lnTo>
                  <a:lnTo>
                    <a:pt x="483326" y="242973"/>
                  </a:lnTo>
                  <a:lnTo>
                    <a:pt x="479046" y="287298"/>
                  </a:lnTo>
                  <a:lnTo>
                    <a:pt x="467143" y="329001"/>
                  </a:lnTo>
                  <a:lnTo>
                    <a:pt x="448289" y="367290"/>
                  </a:lnTo>
                  <a:lnTo>
                    <a:pt x="423154" y="401371"/>
                  </a:lnTo>
                  <a:lnTo>
                    <a:pt x="419577" y="405274"/>
                  </a:lnTo>
                  <a:lnTo>
                    <a:pt x="418603" y="411131"/>
                  </a:lnTo>
                  <a:lnTo>
                    <a:pt x="442291" y="451410"/>
                  </a:lnTo>
                  <a:lnTo>
                    <a:pt x="452432" y="464145"/>
                  </a:lnTo>
                  <a:lnTo>
                    <a:pt x="449504" y="471302"/>
                  </a:lnTo>
                  <a:lnTo>
                    <a:pt x="442999" y="472277"/>
                  </a:lnTo>
                  <a:lnTo>
                    <a:pt x="435869" y="472852"/>
                  </a:lnTo>
                  <a:lnTo>
                    <a:pt x="428647" y="472725"/>
                  </a:lnTo>
                  <a:lnTo>
                    <a:pt x="386647" y="463374"/>
                  </a:lnTo>
                  <a:lnTo>
                    <a:pt x="362982" y="453089"/>
                  </a:lnTo>
                  <a:lnTo>
                    <a:pt x="358431" y="453415"/>
                  </a:lnTo>
                  <a:lnTo>
                    <a:pt x="351274" y="456992"/>
                  </a:lnTo>
                  <a:lnTo>
                    <a:pt x="348349" y="458615"/>
                  </a:lnTo>
                  <a:lnTo>
                    <a:pt x="321577" y="469658"/>
                  </a:lnTo>
                  <a:lnTo>
                    <a:pt x="296960" y="476869"/>
                  </a:lnTo>
                  <a:lnTo>
                    <a:pt x="271367" y="481458"/>
                  </a:lnTo>
                  <a:lnTo>
                    <a:pt x="244919" y="483334"/>
                  </a:lnTo>
                  <a:close/>
                </a:path>
              </a:pathLst>
            </a:custGeom>
            <a:solidFill>
              <a:srgbClr val="092A3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59752" y="7687283"/>
              <a:ext cx="65407" cy="6540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34626" y="7687283"/>
              <a:ext cx="65407" cy="6540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09501" y="7687283"/>
              <a:ext cx="65407" cy="65407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397657" y="1555000"/>
            <a:ext cx="1710055" cy="2209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 spc="-30" b="1">
                <a:latin typeface="Trebuchet MS"/>
                <a:cs typeface="Trebuchet MS"/>
              </a:rPr>
              <a:t>Trusted</a:t>
            </a:r>
            <a:r>
              <a:rPr dirty="0" sz="1250" spc="-229" b="1">
                <a:latin typeface="Trebuchet MS"/>
                <a:cs typeface="Trebuchet MS"/>
              </a:rPr>
              <a:t> </a:t>
            </a:r>
            <a:r>
              <a:rPr dirty="0" sz="1250" b="1">
                <a:latin typeface="Trebuchet MS"/>
                <a:cs typeface="Trebuchet MS"/>
              </a:rPr>
              <a:t>By</a:t>
            </a:r>
            <a:r>
              <a:rPr dirty="0" sz="1250" spc="-229" b="1">
                <a:latin typeface="Trebuchet MS"/>
                <a:cs typeface="Trebuchet MS"/>
              </a:rPr>
              <a:t> </a:t>
            </a:r>
            <a:r>
              <a:rPr dirty="0" sz="1250" spc="55" b="1">
                <a:latin typeface="Trebuchet MS"/>
                <a:cs typeface="Trebuchet MS"/>
              </a:rPr>
              <a:t>7000+SMEs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67936" y="3221529"/>
            <a:ext cx="6915150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0" spc="95" b="1">
                <a:solidFill>
                  <a:srgbClr val="092A3B"/>
                </a:solidFill>
                <a:latin typeface="Trebuchet MS"/>
                <a:cs typeface="Trebuchet MS"/>
              </a:rPr>
              <a:t>Secure</a:t>
            </a:r>
            <a:r>
              <a:rPr dirty="0" sz="4500" spc="-580" b="1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4500" spc="75" b="1">
                <a:solidFill>
                  <a:srgbClr val="092A3B"/>
                </a:solidFill>
                <a:latin typeface="Trebuchet MS"/>
                <a:cs typeface="Trebuchet MS"/>
              </a:rPr>
              <a:t>Data</a:t>
            </a:r>
            <a:r>
              <a:rPr dirty="0" sz="4500" spc="-580" b="1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4500" spc="100" b="1">
                <a:solidFill>
                  <a:srgbClr val="092A3B"/>
                </a:solidFill>
                <a:latin typeface="Trebuchet MS"/>
                <a:cs typeface="Trebuchet MS"/>
              </a:rPr>
              <a:t>Management</a:t>
            </a:r>
            <a:endParaRPr sz="4500">
              <a:latin typeface="Trebuchet MS"/>
              <a:cs typeface="Trebuchet MS"/>
            </a:endParaRPr>
          </a:p>
        </p:txBody>
      </p: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8918" rIns="0" bIns="0" rtlCol="0" vert="horz">
            <a:spAutoFit/>
          </a:bodyPr>
          <a:lstStyle/>
          <a:p>
            <a:pPr marL="102235">
              <a:lnSpc>
                <a:spcPct val="100000"/>
              </a:lnSpc>
              <a:spcBef>
                <a:spcPts val="100"/>
              </a:spcBef>
            </a:pPr>
            <a:r>
              <a:rPr dirty="0" sz="2000" spc="130" b="0">
                <a:solidFill>
                  <a:srgbClr val="F1660F"/>
                </a:solidFill>
                <a:latin typeface="Trebuchet MS"/>
                <a:cs typeface="Trebuchet MS"/>
              </a:rPr>
              <a:t>PHASE</a:t>
            </a:r>
            <a:r>
              <a:rPr dirty="0" sz="2000" spc="-160" b="0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2000" spc="180" b="0">
                <a:solidFill>
                  <a:srgbClr val="F1660F"/>
                </a:solidFill>
                <a:latin typeface="Trebuchet MS"/>
                <a:cs typeface="Trebuchet MS"/>
              </a:rPr>
              <a:t>4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03576" y="5444579"/>
            <a:ext cx="4295140" cy="4813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9500"/>
              </a:lnSpc>
              <a:spcBef>
                <a:spcPts val="90"/>
              </a:spcBef>
            </a:pPr>
            <a:r>
              <a:rPr dirty="0" sz="1250" spc="125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25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 spc="-20">
                <a:solidFill>
                  <a:srgbClr val="FFFFFF"/>
                </a:solidFill>
                <a:latin typeface="Trebuchet MS"/>
                <a:cs typeface="Trebuchet MS"/>
              </a:rPr>
              <a:t>dedicated,</a:t>
            </a:r>
            <a:r>
              <a:rPr dirty="0" sz="125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FFFFFF"/>
                </a:solidFill>
                <a:latin typeface="Trebuchet MS"/>
                <a:cs typeface="Trebuchet MS"/>
              </a:rPr>
              <a:t>encrypted</a:t>
            </a:r>
            <a:r>
              <a:rPr dirty="0" sz="125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FFFFFF"/>
                </a:solidFill>
                <a:latin typeface="Trebuchet MS"/>
                <a:cs typeface="Trebuchet MS"/>
              </a:rPr>
              <a:t>Google</a:t>
            </a:r>
            <a:r>
              <a:rPr dirty="0" sz="125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FFFFFF"/>
                </a:solidFill>
                <a:latin typeface="Trebuchet MS"/>
                <a:cs typeface="Trebuchet MS"/>
              </a:rPr>
              <a:t>Drive</a:t>
            </a:r>
            <a:r>
              <a:rPr dirty="0" sz="125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FFFFFF"/>
                </a:solidFill>
                <a:latin typeface="Trebuchet MS"/>
                <a:cs typeface="Trebuchet MS"/>
              </a:rPr>
              <a:t>organised</a:t>
            </a:r>
            <a:r>
              <a:rPr dirty="0" sz="125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 spc="70">
                <a:solidFill>
                  <a:srgbClr val="FFFFFF"/>
                </a:solidFill>
                <a:latin typeface="Trebuchet MS"/>
                <a:cs typeface="Trebuchet MS"/>
              </a:rPr>
              <a:t>by</a:t>
            </a:r>
            <a:r>
              <a:rPr dirty="0" sz="125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FFFFFF"/>
                </a:solidFill>
                <a:latin typeface="Trebuchet MS"/>
                <a:cs typeface="Trebuchet MS"/>
              </a:rPr>
              <a:t>year</a:t>
            </a:r>
            <a:r>
              <a:rPr dirty="0" sz="125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 spc="-25">
                <a:solidFill>
                  <a:srgbClr val="FFFFFF"/>
                </a:solidFill>
                <a:latin typeface="Trebuchet MS"/>
                <a:cs typeface="Trebuchet MS"/>
              </a:rPr>
              <a:t>and </a:t>
            </a:r>
            <a:r>
              <a:rPr dirty="0" sz="1250">
                <a:solidFill>
                  <a:srgbClr val="FFFFFF"/>
                </a:solidFill>
                <a:latin typeface="Trebuchet MS"/>
                <a:cs typeface="Trebuchet MS"/>
              </a:rPr>
              <a:t>document</a:t>
            </a:r>
            <a:r>
              <a:rPr dirty="0" sz="125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FFFFFF"/>
                </a:solidFill>
                <a:latin typeface="Trebuchet MS"/>
                <a:cs typeface="Trebuchet MS"/>
              </a:rPr>
              <a:t>type</a:t>
            </a:r>
            <a:r>
              <a:rPr dirty="0" sz="125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 spc="365">
                <a:solidFill>
                  <a:srgbClr val="FFFFFF"/>
                </a:solidFill>
                <a:latin typeface="Trebuchet MS"/>
                <a:cs typeface="Trebuchet MS"/>
              </a:rPr>
              <a:t>—</a:t>
            </a:r>
            <a:r>
              <a:rPr dirty="0" sz="125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 spc="-25">
                <a:solidFill>
                  <a:srgbClr val="FFFFFF"/>
                </a:solidFill>
                <a:latin typeface="Trebuchet MS"/>
                <a:cs typeface="Trebuchet MS"/>
              </a:rPr>
              <a:t>controlled</a:t>
            </a:r>
            <a:r>
              <a:rPr dirty="0" sz="125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FFFFFF"/>
                </a:solidFill>
                <a:latin typeface="Trebuchet MS"/>
                <a:cs typeface="Trebuchet MS"/>
              </a:rPr>
              <a:t>access,</a:t>
            </a:r>
            <a:r>
              <a:rPr dirty="0" sz="125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 spc="50">
                <a:solidFill>
                  <a:srgbClr val="FFFFFF"/>
                </a:solidFill>
                <a:latin typeface="Trebuchet MS"/>
                <a:cs typeface="Trebuchet MS"/>
              </a:rPr>
              <a:t>easy</a:t>
            </a:r>
            <a:r>
              <a:rPr dirty="0" sz="125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Trebuchet MS"/>
                <a:cs typeface="Trebuchet MS"/>
              </a:rPr>
              <a:t>retrieval.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10338" y="4861035"/>
            <a:ext cx="1383030" cy="24955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50" spc="60" b="1">
                <a:solidFill>
                  <a:srgbClr val="FFFFFF"/>
                </a:solidFill>
                <a:latin typeface="Trebuchet MS"/>
                <a:cs typeface="Trebuchet MS"/>
              </a:rPr>
              <a:t>OUR</a:t>
            </a:r>
            <a:r>
              <a:rPr dirty="0" sz="1450" spc="-18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 spc="45" b="1">
                <a:solidFill>
                  <a:srgbClr val="FFFFFF"/>
                </a:solidFill>
                <a:latin typeface="Trebuchet MS"/>
                <a:cs typeface="Trebuchet MS"/>
              </a:rPr>
              <a:t>SOLUTION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953194" y="562552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92A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8953194" y="585412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92A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8953194" y="608272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92A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8953194" y="631132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92A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8953194" y="653992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92A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8953194" y="676852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92A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8953194" y="699712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92A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8953194" y="722572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92A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9103907" y="5493099"/>
            <a:ext cx="2319655" cy="18542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1329690">
              <a:lnSpc>
                <a:spcPct val="120000"/>
              </a:lnSpc>
              <a:spcBef>
                <a:spcPts val="90"/>
              </a:spcBef>
            </a:pP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Trade</a:t>
            </a:r>
            <a:r>
              <a:rPr dirty="0" sz="1250" spc="-3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licence </a:t>
            </a:r>
            <a:r>
              <a:rPr dirty="0" sz="1250" spc="140">
                <a:solidFill>
                  <a:srgbClr val="092A3B"/>
                </a:solidFill>
                <a:latin typeface="Trebuchet MS"/>
                <a:cs typeface="Trebuchet MS"/>
              </a:rPr>
              <a:t>MOA</a:t>
            </a:r>
            <a:r>
              <a:rPr dirty="0" sz="1250" spc="-11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80">
                <a:solidFill>
                  <a:srgbClr val="092A3B"/>
                </a:solidFill>
                <a:latin typeface="Trebuchet MS"/>
                <a:cs typeface="Trebuchet MS"/>
              </a:rPr>
              <a:t>&amp;</a:t>
            </a:r>
            <a:r>
              <a:rPr dirty="0" sz="1250" spc="-11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65">
                <a:solidFill>
                  <a:srgbClr val="092A3B"/>
                </a:solidFill>
                <a:latin typeface="Trebuchet MS"/>
                <a:cs typeface="Trebuchet MS"/>
              </a:rPr>
              <a:t>AOA</a:t>
            </a:r>
            <a:endParaRPr sz="1250">
              <a:latin typeface="Trebuchet MS"/>
              <a:cs typeface="Trebuchet MS"/>
            </a:endParaRPr>
          </a:p>
          <a:p>
            <a:pPr marL="12700" marR="5080">
              <a:lnSpc>
                <a:spcPct val="120000"/>
              </a:lnSpc>
            </a:pP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Owner</a:t>
            </a:r>
            <a:r>
              <a:rPr dirty="0" sz="1250" spc="1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passports</a:t>
            </a:r>
            <a:r>
              <a:rPr dirty="0" sz="1250" spc="1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80">
                <a:solidFill>
                  <a:srgbClr val="092A3B"/>
                </a:solidFill>
                <a:latin typeface="Trebuchet MS"/>
                <a:cs typeface="Trebuchet MS"/>
              </a:rPr>
              <a:t>&amp;</a:t>
            </a:r>
            <a:r>
              <a:rPr dirty="0" sz="1250" spc="2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Emirates</a:t>
            </a:r>
            <a:r>
              <a:rPr dirty="0" sz="1250" spc="1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40">
                <a:solidFill>
                  <a:srgbClr val="092A3B"/>
                </a:solidFill>
                <a:latin typeface="Trebuchet MS"/>
                <a:cs typeface="Trebuchet MS"/>
              </a:rPr>
              <a:t>IDs </a:t>
            </a:r>
            <a:r>
              <a:rPr dirty="0" sz="1250" spc="105">
                <a:solidFill>
                  <a:srgbClr val="092A3B"/>
                </a:solidFill>
                <a:latin typeface="Trebuchet MS"/>
                <a:cs typeface="Trebuchet MS"/>
              </a:rPr>
              <a:t>CT</a:t>
            </a:r>
            <a:r>
              <a:rPr dirty="0" sz="1250" spc="-114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registration</a:t>
            </a:r>
            <a:endParaRPr sz="1250">
              <a:latin typeface="Trebuchet MS"/>
              <a:cs typeface="Trebuchet MS"/>
            </a:endParaRPr>
          </a:p>
          <a:p>
            <a:pPr marL="12700" marR="495300">
              <a:lnSpc>
                <a:spcPct val="120000"/>
              </a:lnSpc>
            </a:pPr>
            <a:r>
              <a:rPr dirty="0" sz="1250" spc="75">
                <a:solidFill>
                  <a:srgbClr val="092A3B"/>
                </a:solidFill>
                <a:latin typeface="Trebuchet MS"/>
                <a:cs typeface="Trebuchet MS"/>
              </a:rPr>
              <a:t>VAT</a:t>
            </a:r>
            <a:r>
              <a:rPr dirty="0" sz="1250" spc="-7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45">
                <a:solidFill>
                  <a:srgbClr val="092A3B"/>
                </a:solidFill>
                <a:latin typeface="Trebuchet MS"/>
                <a:cs typeface="Trebuchet MS"/>
              </a:rPr>
              <a:t>certificate</a:t>
            </a:r>
            <a:r>
              <a:rPr dirty="0" sz="1250" spc="-7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65">
                <a:solidFill>
                  <a:srgbClr val="092A3B"/>
                </a:solidFill>
                <a:latin typeface="Trebuchet MS"/>
                <a:cs typeface="Trebuchet MS"/>
              </a:rPr>
              <a:t>(if</a:t>
            </a:r>
            <a:r>
              <a:rPr dirty="0" sz="1250" spc="-7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20">
                <a:solidFill>
                  <a:srgbClr val="092A3B"/>
                </a:solidFill>
                <a:latin typeface="Trebuchet MS"/>
                <a:cs typeface="Trebuchet MS"/>
              </a:rPr>
              <a:t>any) Prior</a:t>
            </a:r>
            <a:r>
              <a:rPr dirty="0" sz="1250" spc="-7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40">
                <a:solidFill>
                  <a:srgbClr val="092A3B"/>
                </a:solidFill>
                <a:latin typeface="Trebuchet MS"/>
                <a:cs typeface="Trebuchet MS"/>
              </a:rPr>
              <a:t>financial</a:t>
            </a:r>
            <a:r>
              <a:rPr dirty="0" sz="1250" spc="-6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statements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Bank</a:t>
            </a:r>
            <a:r>
              <a:rPr dirty="0" sz="1250" spc="2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statements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Commercial</a:t>
            </a:r>
            <a:r>
              <a:rPr dirty="0" sz="1250" spc="-114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contracts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826194" y="4858699"/>
            <a:ext cx="2296160" cy="24955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50" spc="105" b="1">
                <a:solidFill>
                  <a:srgbClr val="092A3B"/>
                </a:solidFill>
                <a:latin typeface="Trebuchet MS"/>
                <a:cs typeface="Trebuchet MS"/>
              </a:rPr>
              <a:t>DOCUMENTS</a:t>
            </a:r>
            <a:r>
              <a:rPr dirty="0" sz="1450" spc="-100" b="1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92A3B"/>
                </a:solidFill>
                <a:latin typeface="Trebuchet MS"/>
                <a:cs typeface="Trebuchet MS"/>
              </a:rPr>
              <a:t>WE'LL</a:t>
            </a:r>
            <a:r>
              <a:rPr dirty="0" sz="1450" spc="-95" b="1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450" spc="45" b="1">
                <a:solidFill>
                  <a:srgbClr val="092A3B"/>
                </a:solidFill>
                <a:latin typeface="Trebuchet MS"/>
                <a:cs typeface="Trebuchet MS"/>
              </a:rPr>
              <a:t>NEED</a:t>
            </a:r>
            <a:endParaRPr sz="1450">
              <a:latin typeface="Trebuchet MS"/>
              <a:cs typeface="Trebuchet MS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8848232" y="7478513"/>
            <a:ext cx="483870" cy="483870"/>
            <a:chOff x="8848232" y="7478513"/>
            <a:chExt cx="483870" cy="483870"/>
          </a:xfrm>
        </p:grpSpPr>
        <p:sp>
          <p:nvSpPr>
            <p:cNvPr id="35" name="object 35"/>
            <p:cNvSpPr/>
            <p:nvPr/>
          </p:nvSpPr>
          <p:spPr>
            <a:xfrm>
              <a:off x="8848232" y="7478513"/>
              <a:ext cx="483870" cy="483870"/>
            </a:xfrm>
            <a:custGeom>
              <a:avLst/>
              <a:gdLst/>
              <a:ahLst/>
              <a:cxnLst/>
              <a:rect l="l" t="t" r="r" b="b"/>
              <a:pathLst>
                <a:path w="483870" h="483870">
                  <a:moveTo>
                    <a:pt x="244919" y="483334"/>
                  </a:moveTo>
                  <a:lnTo>
                    <a:pt x="235160" y="483334"/>
                  </a:lnTo>
                  <a:lnTo>
                    <a:pt x="230282" y="482681"/>
                  </a:lnTo>
                  <a:lnTo>
                    <a:pt x="227027" y="482681"/>
                  </a:lnTo>
                  <a:lnTo>
                    <a:pt x="181759" y="475372"/>
                  </a:lnTo>
                  <a:lnTo>
                    <a:pt x="139503" y="459888"/>
                  </a:lnTo>
                  <a:lnTo>
                    <a:pt x="101165" y="437107"/>
                  </a:lnTo>
                  <a:lnTo>
                    <a:pt x="67652" y="407912"/>
                  </a:lnTo>
                  <a:lnTo>
                    <a:pt x="39872" y="373183"/>
                  </a:lnTo>
                  <a:lnTo>
                    <a:pt x="18732" y="333799"/>
                  </a:lnTo>
                  <a:lnTo>
                    <a:pt x="5139" y="290642"/>
                  </a:lnTo>
                  <a:lnTo>
                    <a:pt x="0" y="244593"/>
                  </a:lnTo>
                  <a:lnTo>
                    <a:pt x="4001" y="197385"/>
                  </a:lnTo>
                  <a:lnTo>
                    <a:pt x="16648" y="153195"/>
                  </a:lnTo>
                  <a:lnTo>
                    <a:pt x="37070" y="112909"/>
                  </a:lnTo>
                  <a:lnTo>
                    <a:pt x="64399" y="77410"/>
                  </a:lnTo>
                  <a:lnTo>
                    <a:pt x="97766" y="47583"/>
                  </a:lnTo>
                  <a:lnTo>
                    <a:pt x="136301" y="24312"/>
                  </a:lnTo>
                  <a:lnTo>
                    <a:pt x="179135" y="8481"/>
                  </a:lnTo>
                  <a:lnTo>
                    <a:pt x="225400" y="974"/>
                  </a:lnTo>
                  <a:lnTo>
                    <a:pt x="236134" y="0"/>
                  </a:lnTo>
                  <a:lnTo>
                    <a:pt x="241665" y="0"/>
                  </a:lnTo>
                  <a:lnTo>
                    <a:pt x="290456" y="4943"/>
                  </a:lnTo>
                  <a:lnTo>
                    <a:pt x="335912" y="19119"/>
                  </a:lnTo>
                  <a:lnTo>
                    <a:pt x="377046" y="41542"/>
                  </a:lnTo>
                  <a:lnTo>
                    <a:pt x="412871" y="71231"/>
                  </a:lnTo>
                  <a:lnTo>
                    <a:pt x="442398" y="107202"/>
                  </a:lnTo>
                  <a:lnTo>
                    <a:pt x="464642" y="148472"/>
                  </a:lnTo>
                  <a:lnTo>
                    <a:pt x="478613" y="194057"/>
                  </a:lnTo>
                  <a:lnTo>
                    <a:pt x="483326" y="242973"/>
                  </a:lnTo>
                  <a:lnTo>
                    <a:pt x="479046" y="287298"/>
                  </a:lnTo>
                  <a:lnTo>
                    <a:pt x="467143" y="329001"/>
                  </a:lnTo>
                  <a:lnTo>
                    <a:pt x="448289" y="367290"/>
                  </a:lnTo>
                  <a:lnTo>
                    <a:pt x="423154" y="401371"/>
                  </a:lnTo>
                  <a:lnTo>
                    <a:pt x="419577" y="405274"/>
                  </a:lnTo>
                  <a:lnTo>
                    <a:pt x="418603" y="411131"/>
                  </a:lnTo>
                  <a:lnTo>
                    <a:pt x="442291" y="451410"/>
                  </a:lnTo>
                  <a:lnTo>
                    <a:pt x="452432" y="464145"/>
                  </a:lnTo>
                  <a:lnTo>
                    <a:pt x="449504" y="471302"/>
                  </a:lnTo>
                  <a:lnTo>
                    <a:pt x="442999" y="472277"/>
                  </a:lnTo>
                  <a:lnTo>
                    <a:pt x="435869" y="472852"/>
                  </a:lnTo>
                  <a:lnTo>
                    <a:pt x="428647" y="472725"/>
                  </a:lnTo>
                  <a:lnTo>
                    <a:pt x="386647" y="463374"/>
                  </a:lnTo>
                  <a:lnTo>
                    <a:pt x="362982" y="453089"/>
                  </a:lnTo>
                  <a:lnTo>
                    <a:pt x="358431" y="453415"/>
                  </a:lnTo>
                  <a:lnTo>
                    <a:pt x="351274" y="456992"/>
                  </a:lnTo>
                  <a:lnTo>
                    <a:pt x="348349" y="458615"/>
                  </a:lnTo>
                  <a:lnTo>
                    <a:pt x="321577" y="469658"/>
                  </a:lnTo>
                  <a:lnTo>
                    <a:pt x="296960" y="476869"/>
                  </a:lnTo>
                  <a:lnTo>
                    <a:pt x="271367" y="481458"/>
                  </a:lnTo>
                  <a:lnTo>
                    <a:pt x="244919" y="483334"/>
                  </a:lnTo>
                  <a:close/>
                </a:path>
              </a:pathLst>
            </a:custGeom>
            <a:solidFill>
              <a:srgbClr val="FFF6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82371" y="7687283"/>
              <a:ext cx="65407" cy="6540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57245" y="7687283"/>
              <a:ext cx="65407" cy="65407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32120" y="7687283"/>
              <a:ext cx="65407" cy="65407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1016000" y="8767483"/>
            <a:ext cx="13362305" cy="2216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50">
                <a:solidFill>
                  <a:srgbClr val="F1660F"/>
                </a:solidFill>
                <a:latin typeface="Trebuchet MS"/>
                <a:cs typeface="Trebuchet MS"/>
              </a:rPr>
              <a:t>Documents</a:t>
            </a:r>
            <a:r>
              <a:rPr dirty="0" sz="1250" spc="-65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F1660F"/>
                </a:solidFill>
                <a:latin typeface="Trebuchet MS"/>
                <a:cs typeface="Trebuchet MS"/>
              </a:rPr>
              <a:t>attached</a:t>
            </a:r>
            <a:r>
              <a:rPr dirty="0" sz="1250" spc="-60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250" spc="70">
                <a:solidFill>
                  <a:srgbClr val="F1660F"/>
                </a:solidFill>
                <a:latin typeface="Trebuchet MS"/>
                <a:cs typeface="Trebuchet MS"/>
              </a:rPr>
              <a:t>by</a:t>
            </a:r>
            <a:r>
              <a:rPr dirty="0" sz="1250" spc="-60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F1660F"/>
                </a:solidFill>
                <a:latin typeface="Trebuchet MS"/>
                <a:cs typeface="Trebuchet MS"/>
              </a:rPr>
              <a:t>our</a:t>
            </a:r>
            <a:r>
              <a:rPr dirty="0" sz="1250" spc="-65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F1660F"/>
                </a:solidFill>
                <a:latin typeface="Trebuchet MS"/>
                <a:cs typeface="Trebuchet MS"/>
              </a:rPr>
              <a:t>Sales</a:t>
            </a:r>
            <a:r>
              <a:rPr dirty="0" sz="1250" spc="-60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F1660F"/>
                </a:solidFill>
                <a:latin typeface="Trebuchet MS"/>
                <a:cs typeface="Trebuchet MS"/>
              </a:rPr>
              <a:t>team</a:t>
            </a:r>
            <a:r>
              <a:rPr dirty="0" sz="1250" spc="-60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250" spc="85">
                <a:solidFill>
                  <a:srgbClr val="F1660F"/>
                </a:solidFill>
                <a:latin typeface="Trebuchet MS"/>
                <a:cs typeface="Trebuchet MS"/>
              </a:rPr>
              <a:t>as</a:t>
            </a:r>
            <a:r>
              <a:rPr dirty="0" sz="1250" spc="-65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F1660F"/>
                </a:solidFill>
                <a:latin typeface="Trebuchet MS"/>
                <a:cs typeface="Trebuchet MS"/>
              </a:rPr>
              <a:t>of</a:t>
            </a:r>
            <a:r>
              <a:rPr dirty="0" sz="1250" spc="-60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250" spc="50">
                <a:solidFill>
                  <a:srgbClr val="F1660F"/>
                </a:solidFill>
                <a:latin typeface="Trebuchet MS"/>
                <a:cs typeface="Trebuchet MS"/>
              </a:rPr>
              <a:t>now</a:t>
            </a:r>
            <a:r>
              <a:rPr dirty="0" sz="1250" spc="-60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F1660F"/>
                </a:solidFill>
                <a:latin typeface="Trebuchet MS"/>
                <a:cs typeface="Trebuchet MS"/>
              </a:rPr>
              <a:t>(already</a:t>
            </a:r>
            <a:r>
              <a:rPr dirty="0" sz="1250" spc="-65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250" spc="-25">
                <a:solidFill>
                  <a:srgbClr val="F1660F"/>
                </a:solidFill>
                <a:latin typeface="Trebuchet MS"/>
                <a:cs typeface="Trebuchet MS"/>
              </a:rPr>
              <a:t>received,</a:t>
            </a:r>
            <a:r>
              <a:rPr dirty="0" sz="1250" spc="-60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F1660F"/>
                </a:solidFill>
                <a:latin typeface="Trebuchet MS"/>
                <a:cs typeface="Trebuchet MS"/>
              </a:rPr>
              <a:t>no</a:t>
            </a:r>
            <a:r>
              <a:rPr dirty="0" sz="1250" spc="-60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F1660F"/>
                </a:solidFill>
                <a:latin typeface="Trebuchet MS"/>
                <a:cs typeface="Trebuchet MS"/>
              </a:rPr>
              <a:t>need</a:t>
            </a:r>
            <a:r>
              <a:rPr dirty="0" sz="1250" spc="-65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F1660F"/>
                </a:solidFill>
                <a:latin typeface="Trebuchet MS"/>
                <a:cs typeface="Trebuchet MS"/>
              </a:rPr>
              <a:t>to</a:t>
            </a:r>
            <a:r>
              <a:rPr dirty="0" sz="1250" spc="-60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F1660F"/>
                </a:solidFill>
                <a:latin typeface="Trebuchet MS"/>
                <a:cs typeface="Trebuchet MS"/>
              </a:rPr>
              <a:t>resend):</a:t>
            </a:r>
            <a:r>
              <a:rPr dirty="0" sz="1250" spc="-60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250" spc="105">
                <a:solidFill>
                  <a:srgbClr val="F1660F"/>
                </a:solidFill>
                <a:latin typeface="Trebuchet MS"/>
                <a:cs typeface="Trebuchet MS"/>
              </a:rPr>
              <a:t>NOVAMED</a:t>
            </a:r>
            <a:r>
              <a:rPr dirty="0" sz="1250" spc="-65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F1660F"/>
                </a:solidFill>
                <a:latin typeface="Trebuchet MS"/>
                <a:cs typeface="Trebuchet MS"/>
              </a:rPr>
              <a:t>License.</a:t>
            </a:r>
            <a:r>
              <a:rPr dirty="0" sz="1250" spc="-60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250" spc="85">
                <a:solidFill>
                  <a:srgbClr val="F1660F"/>
                </a:solidFill>
                <a:latin typeface="Trebuchet MS"/>
                <a:cs typeface="Trebuchet MS"/>
              </a:rPr>
              <a:t>PDF</a:t>
            </a:r>
            <a:r>
              <a:rPr dirty="0" sz="1250" spc="-60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250" spc="-70">
                <a:solidFill>
                  <a:srgbClr val="F1660F"/>
                </a:solidFill>
                <a:latin typeface="Trebuchet MS"/>
                <a:cs typeface="Trebuchet MS"/>
              </a:rPr>
              <a:t>(1).pdf,</a:t>
            </a:r>
            <a:r>
              <a:rPr dirty="0" sz="1250" spc="-65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F1660F"/>
                </a:solidFill>
                <a:latin typeface="Trebuchet MS"/>
                <a:cs typeface="Trebuchet MS"/>
              </a:rPr>
              <a:t>Corporate</a:t>
            </a:r>
            <a:r>
              <a:rPr dirty="0" sz="1250" spc="-60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F1660F"/>
                </a:solidFill>
                <a:latin typeface="Trebuchet MS"/>
                <a:cs typeface="Trebuchet MS"/>
              </a:rPr>
              <a:t>Tax</a:t>
            </a:r>
            <a:r>
              <a:rPr dirty="0" sz="1250" spc="-60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F1660F"/>
                </a:solidFill>
                <a:latin typeface="Trebuchet MS"/>
                <a:cs typeface="Trebuchet MS"/>
              </a:rPr>
              <a:t>Registration</a:t>
            </a:r>
            <a:r>
              <a:rPr dirty="0" sz="1250" spc="-60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250" spc="-35">
                <a:solidFill>
                  <a:srgbClr val="F1660F"/>
                </a:solidFill>
                <a:latin typeface="Trebuchet MS"/>
                <a:cs typeface="Trebuchet MS"/>
              </a:rPr>
              <a:t>Certificate</a:t>
            </a:r>
            <a:r>
              <a:rPr dirty="0" sz="1250" spc="-65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250" spc="-40">
                <a:solidFill>
                  <a:srgbClr val="F1660F"/>
                </a:solidFill>
                <a:latin typeface="Trebuchet MS"/>
                <a:cs typeface="Trebuchet MS"/>
              </a:rPr>
              <a:t>(6).pdf,</a:t>
            </a:r>
            <a:r>
              <a:rPr dirty="0" sz="1250" spc="-60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250" spc="75">
                <a:solidFill>
                  <a:srgbClr val="F1660F"/>
                </a:solidFill>
                <a:latin typeface="Trebuchet MS"/>
                <a:cs typeface="Trebuchet MS"/>
              </a:rPr>
              <a:t>VAT</a:t>
            </a:r>
            <a:r>
              <a:rPr dirty="0" sz="1250" spc="-60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F1660F"/>
                </a:solidFill>
                <a:latin typeface="Trebuchet MS"/>
                <a:cs typeface="Trebuchet MS"/>
              </a:rPr>
              <a:t>Certifcate.jpeg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016000" y="9647656"/>
            <a:ext cx="1519555" cy="208279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200" spc="-10">
                <a:solidFill>
                  <a:srgbClr val="092A3B"/>
                </a:solidFill>
                <a:latin typeface="Trebuchet MS"/>
                <a:cs typeface="Trebuchet MS"/>
                <a:hlinkClick r:id="rId7"/>
              </a:rPr>
              <a:t>www.finanshels.com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7154438" y="9690726"/>
            <a:ext cx="264795" cy="268605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600" spc="70">
                <a:solidFill>
                  <a:srgbClr val="0D2E32"/>
                </a:solidFill>
                <a:latin typeface="Trebuchet MS"/>
                <a:cs typeface="Trebuchet MS"/>
              </a:rPr>
              <a:t>09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F6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28700" y="698618"/>
            <a:ext cx="179705" cy="1083310"/>
          </a:xfrm>
          <a:custGeom>
            <a:avLst/>
            <a:gdLst/>
            <a:ahLst/>
            <a:cxnLst/>
            <a:rect l="l" t="t" r="r" b="b"/>
            <a:pathLst>
              <a:path w="179705" h="1083310">
                <a:moveTo>
                  <a:pt x="179550" y="1082912"/>
                </a:moveTo>
                <a:lnTo>
                  <a:pt x="0" y="1082912"/>
                </a:lnTo>
                <a:lnTo>
                  <a:pt x="0" y="0"/>
                </a:lnTo>
                <a:lnTo>
                  <a:pt x="179550" y="0"/>
                </a:lnTo>
                <a:lnTo>
                  <a:pt x="179550" y="1082912"/>
                </a:lnTo>
                <a:close/>
              </a:path>
            </a:pathLst>
          </a:custGeom>
          <a:solidFill>
            <a:srgbClr val="F1660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1380563" y="698618"/>
            <a:ext cx="3108325" cy="945515"/>
            <a:chOff x="1380563" y="698618"/>
            <a:chExt cx="3108325" cy="945515"/>
          </a:xfrm>
        </p:grpSpPr>
        <p:sp>
          <p:nvSpPr>
            <p:cNvPr id="5" name="object 5"/>
            <p:cNvSpPr/>
            <p:nvPr/>
          </p:nvSpPr>
          <p:spPr>
            <a:xfrm>
              <a:off x="1380563" y="698618"/>
              <a:ext cx="3108325" cy="945515"/>
            </a:xfrm>
            <a:custGeom>
              <a:avLst/>
              <a:gdLst/>
              <a:ahLst/>
              <a:cxnLst/>
              <a:rect l="l" t="t" r="r" b="b"/>
              <a:pathLst>
                <a:path w="3108325" h="945514">
                  <a:moveTo>
                    <a:pt x="3107860" y="944907"/>
                  </a:moveTo>
                  <a:lnTo>
                    <a:pt x="0" y="944907"/>
                  </a:lnTo>
                  <a:lnTo>
                    <a:pt x="0" y="0"/>
                  </a:lnTo>
                  <a:lnTo>
                    <a:pt x="3107860" y="0"/>
                  </a:lnTo>
                  <a:lnTo>
                    <a:pt x="3107860" y="9449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10357" y="838028"/>
              <a:ext cx="2647949" cy="35242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0564" y="1279641"/>
              <a:ext cx="1428749" cy="228599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84659" y="9722024"/>
            <a:ext cx="225674" cy="225673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1019174" y="4361996"/>
            <a:ext cx="3932554" cy="3990975"/>
            <a:chOff x="1019174" y="4361996"/>
            <a:chExt cx="3932554" cy="3990975"/>
          </a:xfrm>
        </p:grpSpPr>
        <p:sp>
          <p:nvSpPr>
            <p:cNvPr id="10" name="object 10"/>
            <p:cNvSpPr/>
            <p:nvPr/>
          </p:nvSpPr>
          <p:spPr>
            <a:xfrm>
              <a:off x="1028699" y="4371522"/>
              <a:ext cx="3913504" cy="3972560"/>
            </a:xfrm>
            <a:custGeom>
              <a:avLst/>
              <a:gdLst/>
              <a:ahLst/>
              <a:cxnLst/>
              <a:rect l="l" t="t" r="r" b="b"/>
              <a:pathLst>
                <a:path w="3913504" h="3972559">
                  <a:moveTo>
                    <a:pt x="3722954" y="3972232"/>
                  </a:moveTo>
                  <a:lnTo>
                    <a:pt x="190499" y="3972232"/>
                  </a:lnTo>
                  <a:lnTo>
                    <a:pt x="153161" y="3968538"/>
                  </a:lnTo>
                  <a:lnTo>
                    <a:pt x="84810" y="3940226"/>
                  </a:lnTo>
                  <a:lnTo>
                    <a:pt x="32006" y="3887421"/>
                  </a:lnTo>
                  <a:lnTo>
                    <a:pt x="3694" y="3819070"/>
                  </a:lnTo>
                  <a:lnTo>
                    <a:pt x="0" y="3781733"/>
                  </a:lnTo>
                  <a:lnTo>
                    <a:pt x="0" y="190499"/>
                  </a:lnTo>
                  <a:lnTo>
                    <a:pt x="14500" y="117598"/>
                  </a:lnTo>
                  <a:lnTo>
                    <a:pt x="55796" y="55796"/>
                  </a:lnTo>
                  <a:lnTo>
                    <a:pt x="117598" y="14500"/>
                  </a:lnTo>
                  <a:lnTo>
                    <a:pt x="190499" y="0"/>
                  </a:lnTo>
                  <a:lnTo>
                    <a:pt x="3722954" y="0"/>
                  </a:lnTo>
                  <a:lnTo>
                    <a:pt x="3795855" y="14500"/>
                  </a:lnTo>
                  <a:lnTo>
                    <a:pt x="3857657" y="55796"/>
                  </a:lnTo>
                  <a:lnTo>
                    <a:pt x="3898953" y="117598"/>
                  </a:lnTo>
                  <a:lnTo>
                    <a:pt x="3913454" y="190499"/>
                  </a:lnTo>
                  <a:lnTo>
                    <a:pt x="3913454" y="3781733"/>
                  </a:lnTo>
                  <a:lnTo>
                    <a:pt x="3898953" y="3854633"/>
                  </a:lnTo>
                  <a:lnTo>
                    <a:pt x="3857657" y="3916436"/>
                  </a:lnTo>
                  <a:lnTo>
                    <a:pt x="3795855" y="3957731"/>
                  </a:lnTo>
                  <a:lnTo>
                    <a:pt x="3722954" y="39722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028699" y="4371521"/>
              <a:ext cx="3913504" cy="3971925"/>
            </a:xfrm>
            <a:custGeom>
              <a:avLst/>
              <a:gdLst/>
              <a:ahLst/>
              <a:cxnLst/>
              <a:rect l="l" t="t" r="r" b="b"/>
              <a:pathLst>
                <a:path w="3913504" h="3971925">
                  <a:moveTo>
                    <a:pt x="187395" y="3971911"/>
                  </a:moveTo>
                  <a:lnTo>
                    <a:pt x="117592" y="3957728"/>
                  </a:lnTo>
                  <a:lnTo>
                    <a:pt x="55789" y="3916427"/>
                  </a:lnTo>
                  <a:lnTo>
                    <a:pt x="14497" y="3854620"/>
                  </a:lnTo>
                  <a:lnTo>
                    <a:pt x="0" y="3781718"/>
                  </a:lnTo>
                  <a:lnTo>
                    <a:pt x="0" y="190503"/>
                  </a:lnTo>
                  <a:lnTo>
                    <a:pt x="3693" y="153164"/>
                  </a:lnTo>
                  <a:lnTo>
                    <a:pt x="32004" y="84812"/>
                  </a:lnTo>
                  <a:lnTo>
                    <a:pt x="84808" y="32007"/>
                  </a:lnTo>
                  <a:lnTo>
                    <a:pt x="153160" y="3694"/>
                  </a:lnTo>
                  <a:lnTo>
                    <a:pt x="190499" y="0"/>
                  </a:lnTo>
                  <a:lnTo>
                    <a:pt x="3722935" y="0"/>
                  </a:lnTo>
                  <a:lnTo>
                    <a:pt x="3795842" y="14494"/>
                  </a:lnTo>
                  <a:lnTo>
                    <a:pt x="3857652" y="55789"/>
                  </a:lnTo>
                  <a:lnTo>
                    <a:pt x="3898952" y="117596"/>
                  </a:lnTo>
                  <a:lnTo>
                    <a:pt x="3913454" y="190503"/>
                  </a:lnTo>
                  <a:lnTo>
                    <a:pt x="3913455" y="3781720"/>
                  </a:lnTo>
                  <a:lnTo>
                    <a:pt x="3909762" y="3819062"/>
                  </a:lnTo>
                  <a:lnTo>
                    <a:pt x="3881447" y="3887422"/>
                  </a:lnTo>
                  <a:lnTo>
                    <a:pt x="3828635" y="3940230"/>
                  </a:lnTo>
                  <a:lnTo>
                    <a:pt x="3760275" y="3968539"/>
                  </a:lnTo>
                  <a:lnTo>
                    <a:pt x="3726059" y="3971908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524353" y="6393758"/>
              <a:ext cx="2774315" cy="0"/>
            </a:xfrm>
            <a:custGeom>
              <a:avLst/>
              <a:gdLst/>
              <a:ahLst/>
              <a:cxnLst/>
              <a:rect l="l" t="t" r="r" b="b"/>
              <a:pathLst>
                <a:path w="2774315" h="0">
                  <a:moveTo>
                    <a:pt x="0" y="0"/>
                  </a:moveTo>
                  <a:lnTo>
                    <a:pt x="2773804" y="0"/>
                  </a:lnTo>
                </a:path>
              </a:pathLst>
            </a:custGeom>
            <a:ln w="9524">
              <a:solidFill>
                <a:srgbClr val="092A3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/>
          <p:cNvGrpSpPr/>
          <p:nvPr/>
        </p:nvGrpSpPr>
        <p:grpSpPr>
          <a:xfrm>
            <a:off x="9345999" y="4361986"/>
            <a:ext cx="3752850" cy="3990975"/>
            <a:chOff x="9345999" y="4361986"/>
            <a:chExt cx="3752850" cy="3990975"/>
          </a:xfrm>
        </p:grpSpPr>
        <p:sp>
          <p:nvSpPr>
            <p:cNvPr id="14" name="object 14"/>
            <p:cNvSpPr/>
            <p:nvPr/>
          </p:nvSpPr>
          <p:spPr>
            <a:xfrm>
              <a:off x="9355528" y="4371522"/>
              <a:ext cx="3735070" cy="3968115"/>
            </a:xfrm>
            <a:custGeom>
              <a:avLst/>
              <a:gdLst/>
              <a:ahLst/>
              <a:cxnLst/>
              <a:rect l="l" t="t" r="r" b="b"/>
              <a:pathLst>
                <a:path w="3735069" h="3968115">
                  <a:moveTo>
                    <a:pt x="3583392" y="3967918"/>
                  </a:moveTo>
                  <a:lnTo>
                    <a:pt x="151118" y="3967918"/>
                  </a:lnTo>
                  <a:lnTo>
                    <a:pt x="117599" y="3957732"/>
                  </a:lnTo>
                  <a:lnTo>
                    <a:pt x="55796" y="3916436"/>
                  </a:lnTo>
                  <a:lnTo>
                    <a:pt x="14501" y="3854633"/>
                  </a:lnTo>
                  <a:lnTo>
                    <a:pt x="0" y="3781733"/>
                  </a:lnTo>
                  <a:lnTo>
                    <a:pt x="0" y="190500"/>
                  </a:lnTo>
                  <a:lnTo>
                    <a:pt x="14501" y="117598"/>
                  </a:lnTo>
                  <a:lnTo>
                    <a:pt x="55796" y="55796"/>
                  </a:lnTo>
                  <a:lnTo>
                    <a:pt x="117599" y="14501"/>
                  </a:lnTo>
                  <a:lnTo>
                    <a:pt x="190500" y="0"/>
                  </a:lnTo>
                  <a:lnTo>
                    <a:pt x="3544012" y="0"/>
                  </a:lnTo>
                  <a:lnTo>
                    <a:pt x="3616912" y="14501"/>
                  </a:lnTo>
                  <a:lnTo>
                    <a:pt x="3678715" y="55796"/>
                  </a:lnTo>
                  <a:lnTo>
                    <a:pt x="3720010" y="117598"/>
                  </a:lnTo>
                  <a:lnTo>
                    <a:pt x="3734511" y="190500"/>
                  </a:lnTo>
                  <a:lnTo>
                    <a:pt x="3734511" y="3781733"/>
                  </a:lnTo>
                  <a:lnTo>
                    <a:pt x="3720010" y="3854633"/>
                  </a:lnTo>
                  <a:lnTo>
                    <a:pt x="3678715" y="3916436"/>
                  </a:lnTo>
                  <a:lnTo>
                    <a:pt x="3616912" y="3957732"/>
                  </a:lnTo>
                  <a:lnTo>
                    <a:pt x="3583392" y="396791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97903" y="8155607"/>
              <a:ext cx="196071" cy="18789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9355524" y="4371511"/>
              <a:ext cx="3733800" cy="3971925"/>
            </a:xfrm>
            <a:custGeom>
              <a:avLst/>
              <a:gdLst/>
              <a:ahLst/>
              <a:cxnLst/>
              <a:rect l="l" t="t" r="r" b="b"/>
              <a:pathLst>
                <a:path w="3733800" h="3971925">
                  <a:moveTo>
                    <a:pt x="187398" y="3971874"/>
                  </a:moveTo>
                  <a:lnTo>
                    <a:pt x="117572" y="3957725"/>
                  </a:lnTo>
                  <a:lnTo>
                    <a:pt x="55768" y="3916406"/>
                  </a:lnTo>
                  <a:lnTo>
                    <a:pt x="14488" y="3854585"/>
                  </a:lnTo>
                  <a:lnTo>
                    <a:pt x="4" y="3781681"/>
                  </a:lnTo>
                  <a:lnTo>
                    <a:pt x="0" y="190560"/>
                  </a:lnTo>
                  <a:lnTo>
                    <a:pt x="3684" y="153219"/>
                  </a:lnTo>
                  <a:lnTo>
                    <a:pt x="31984" y="84853"/>
                  </a:lnTo>
                  <a:lnTo>
                    <a:pt x="84790" y="32030"/>
                  </a:lnTo>
                  <a:lnTo>
                    <a:pt x="153156" y="3705"/>
                  </a:lnTo>
                  <a:lnTo>
                    <a:pt x="3543911" y="0"/>
                  </a:lnTo>
                  <a:lnTo>
                    <a:pt x="3581267" y="3678"/>
                  </a:lnTo>
                  <a:lnTo>
                    <a:pt x="3649664" y="31983"/>
                  </a:lnTo>
                  <a:lnTo>
                    <a:pt x="3702506" y="84814"/>
                  </a:lnTo>
                  <a:lnTo>
                    <a:pt x="3730826" y="153211"/>
                  </a:lnTo>
                  <a:lnTo>
                    <a:pt x="3733708" y="18333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9871467" y="6422906"/>
              <a:ext cx="2774315" cy="0"/>
            </a:xfrm>
            <a:custGeom>
              <a:avLst/>
              <a:gdLst/>
              <a:ahLst/>
              <a:cxnLst/>
              <a:rect l="l" t="t" r="r" b="b"/>
              <a:pathLst>
                <a:path w="2774315" h="0">
                  <a:moveTo>
                    <a:pt x="0" y="0"/>
                  </a:moveTo>
                  <a:lnTo>
                    <a:pt x="2773804" y="0"/>
                  </a:lnTo>
                </a:path>
              </a:pathLst>
            </a:custGeom>
            <a:ln w="9524">
              <a:solidFill>
                <a:srgbClr val="092A3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" name="object 18"/>
          <p:cNvGrpSpPr/>
          <p:nvPr/>
        </p:nvGrpSpPr>
        <p:grpSpPr>
          <a:xfrm>
            <a:off x="5184645" y="4361996"/>
            <a:ext cx="3932554" cy="3990975"/>
            <a:chOff x="5184645" y="4361996"/>
            <a:chExt cx="3932554" cy="3990975"/>
          </a:xfrm>
        </p:grpSpPr>
        <p:sp>
          <p:nvSpPr>
            <p:cNvPr id="19" name="object 19"/>
            <p:cNvSpPr/>
            <p:nvPr/>
          </p:nvSpPr>
          <p:spPr>
            <a:xfrm>
              <a:off x="5194170" y="4371522"/>
              <a:ext cx="3913504" cy="3972560"/>
            </a:xfrm>
            <a:custGeom>
              <a:avLst/>
              <a:gdLst/>
              <a:ahLst/>
              <a:cxnLst/>
              <a:rect l="l" t="t" r="r" b="b"/>
              <a:pathLst>
                <a:path w="3913504" h="3972559">
                  <a:moveTo>
                    <a:pt x="3722953" y="3972232"/>
                  </a:moveTo>
                  <a:lnTo>
                    <a:pt x="190499" y="3972232"/>
                  </a:lnTo>
                  <a:lnTo>
                    <a:pt x="153161" y="3968538"/>
                  </a:lnTo>
                  <a:lnTo>
                    <a:pt x="84810" y="3940226"/>
                  </a:lnTo>
                  <a:lnTo>
                    <a:pt x="32006" y="3887421"/>
                  </a:lnTo>
                  <a:lnTo>
                    <a:pt x="3694" y="3819070"/>
                  </a:lnTo>
                  <a:lnTo>
                    <a:pt x="0" y="3781733"/>
                  </a:lnTo>
                  <a:lnTo>
                    <a:pt x="0" y="190499"/>
                  </a:lnTo>
                  <a:lnTo>
                    <a:pt x="14500" y="117598"/>
                  </a:lnTo>
                  <a:lnTo>
                    <a:pt x="55796" y="55796"/>
                  </a:lnTo>
                  <a:lnTo>
                    <a:pt x="117598" y="14500"/>
                  </a:lnTo>
                  <a:lnTo>
                    <a:pt x="190499" y="0"/>
                  </a:lnTo>
                  <a:lnTo>
                    <a:pt x="3722953" y="0"/>
                  </a:lnTo>
                  <a:lnTo>
                    <a:pt x="3795855" y="14500"/>
                  </a:lnTo>
                  <a:lnTo>
                    <a:pt x="3857657" y="55796"/>
                  </a:lnTo>
                  <a:lnTo>
                    <a:pt x="3898953" y="117598"/>
                  </a:lnTo>
                  <a:lnTo>
                    <a:pt x="3913453" y="190499"/>
                  </a:lnTo>
                  <a:lnTo>
                    <a:pt x="3913453" y="3781733"/>
                  </a:lnTo>
                  <a:lnTo>
                    <a:pt x="3898953" y="3854633"/>
                  </a:lnTo>
                  <a:lnTo>
                    <a:pt x="3857657" y="3916436"/>
                  </a:lnTo>
                  <a:lnTo>
                    <a:pt x="3795855" y="3957731"/>
                  </a:lnTo>
                  <a:lnTo>
                    <a:pt x="3722953" y="39722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5194170" y="4371521"/>
              <a:ext cx="3913504" cy="3971925"/>
            </a:xfrm>
            <a:custGeom>
              <a:avLst/>
              <a:gdLst/>
              <a:ahLst/>
              <a:cxnLst/>
              <a:rect l="l" t="t" r="r" b="b"/>
              <a:pathLst>
                <a:path w="3913504" h="3971925">
                  <a:moveTo>
                    <a:pt x="187395" y="3971911"/>
                  </a:moveTo>
                  <a:lnTo>
                    <a:pt x="117592" y="3957728"/>
                  </a:lnTo>
                  <a:lnTo>
                    <a:pt x="55789" y="3916427"/>
                  </a:lnTo>
                  <a:lnTo>
                    <a:pt x="14497" y="3854620"/>
                  </a:lnTo>
                  <a:lnTo>
                    <a:pt x="0" y="3781718"/>
                  </a:lnTo>
                  <a:lnTo>
                    <a:pt x="0" y="190503"/>
                  </a:lnTo>
                  <a:lnTo>
                    <a:pt x="3693" y="153164"/>
                  </a:lnTo>
                  <a:lnTo>
                    <a:pt x="32004" y="84812"/>
                  </a:lnTo>
                  <a:lnTo>
                    <a:pt x="84808" y="32007"/>
                  </a:lnTo>
                  <a:lnTo>
                    <a:pt x="153160" y="3694"/>
                  </a:lnTo>
                  <a:lnTo>
                    <a:pt x="190499" y="0"/>
                  </a:lnTo>
                  <a:lnTo>
                    <a:pt x="3722935" y="0"/>
                  </a:lnTo>
                  <a:lnTo>
                    <a:pt x="3795842" y="14494"/>
                  </a:lnTo>
                  <a:lnTo>
                    <a:pt x="3857652" y="55789"/>
                  </a:lnTo>
                  <a:lnTo>
                    <a:pt x="3898952" y="117596"/>
                  </a:lnTo>
                  <a:lnTo>
                    <a:pt x="3913454" y="190503"/>
                  </a:lnTo>
                  <a:lnTo>
                    <a:pt x="3913455" y="3781720"/>
                  </a:lnTo>
                  <a:lnTo>
                    <a:pt x="3909762" y="3819062"/>
                  </a:lnTo>
                  <a:lnTo>
                    <a:pt x="3881447" y="3887422"/>
                  </a:lnTo>
                  <a:lnTo>
                    <a:pt x="3828635" y="3940230"/>
                  </a:lnTo>
                  <a:lnTo>
                    <a:pt x="3760275" y="3968539"/>
                  </a:lnTo>
                  <a:lnTo>
                    <a:pt x="3726059" y="3971908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5592539" y="6393758"/>
              <a:ext cx="2774315" cy="0"/>
            </a:xfrm>
            <a:custGeom>
              <a:avLst/>
              <a:gdLst/>
              <a:ahLst/>
              <a:cxnLst/>
              <a:rect l="l" t="t" r="r" b="b"/>
              <a:pathLst>
                <a:path w="2774315" h="0">
                  <a:moveTo>
                    <a:pt x="0" y="0"/>
                  </a:moveTo>
                  <a:lnTo>
                    <a:pt x="2773804" y="0"/>
                  </a:lnTo>
                </a:path>
              </a:pathLst>
            </a:custGeom>
            <a:ln w="9524">
              <a:solidFill>
                <a:srgbClr val="092A3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" name="object 22"/>
          <p:cNvGrpSpPr/>
          <p:nvPr/>
        </p:nvGrpSpPr>
        <p:grpSpPr>
          <a:xfrm>
            <a:off x="1518852" y="7442579"/>
            <a:ext cx="483870" cy="483870"/>
            <a:chOff x="1518852" y="7442579"/>
            <a:chExt cx="483870" cy="483870"/>
          </a:xfrm>
        </p:grpSpPr>
        <p:sp>
          <p:nvSpPr>
            <p:cNvPr id="23" name="object 23"/>
            <p:cNvSpPr/>
            <p:nvPr/>
          </p:nvSpPr>
          <p:spPr>
            <a:xfrm>
              <a:off x="1518852" y="7442579"/>
              <a:ext cx="483870" cy="483870"/>
            </a:xfrm>
            <a:custGeom>
              <a:avLst/>
              <a:gdLst/>
              <a:ahLst/>
              <a:cxnLst/>
              <a:rect l="l" t="t" r="r" b="b"/>
              <a:pathLst>
                <a:path w="483869" h="483870">
                  <a:moveTo>
                    <a:pt x="244919" y="483334"/>
                  </a:moveTo>
                  <a:lnTo>
                    <a:pt x="235160" y="483334"/>
                  </a:lnTo>
                  <a:lnTo>
                    <a:pt x="230282" y="482681"/>
                  </a:lnTo>
                  <a:lnTo>
                    <a:pt x="227027" y="482681"/>
                  </a:lnTo>
                  <a:lnTo>
                    <a:pt x="181759" y="475372"/>
                  </a:lnTo>
                  <a:lnTo>
                    <a:pt x="139503" y="459888"/>
                  </a:lnTo>
                  <a:lnTo>
                    <a:pt x="101165" y="437107"/>
                  </a:lnTo>
                  <a:lnTo>
                    <a:pt x="67652" y="407912"/>
                  </a:lnTo>
                  <a:lnTo>
                    <a:pt x="39872" y="373183"/>
                  </a:lnTo>
                  <a:lnTo>
                    <a:pt x="18732" y="333799"/>
                  </a:lnTo>
                  <a:lnTo>
                    <a:pt x="5139" y="290642"/>
                  </a:lnTo>
                  <a:lnTo>
                    <a:pt x="0" y="244593"/>
                  </a:lnTo>
                  <a:lnTo>
                    <a:pt x="4001" y="197385"/>
                  </a:lnTo>
                  <a:lnTo>
                    <a:pt x="16648" y="153195"/>
                  </a:lnTo>
                  <a:lnTo>
                    <a:pt x="37070" y="112909"/>
                  </a:lnTo>
                  <a:lnTo>
                    <a:pt x="64399" y="77410"/>
                  </a:lnTo>
                  <a:lnTo>
                    <a:pt x="97766" y="47583"/>
                  </a:lnTo>
                  <a:lnTo>
                    <a:pt x="136301" y="24312"/>
                  </a:lnTo>
                  <a:lnTo>
                    <a:pt x="179135" y="8481"/>
                  </a:lnTo>
                  <a:lnTo>
                    <a:pt x="225400" y="974"/>
                  </a:lnTo>
                  <a:lnTo>
                    <a:pt x="236134" y="0"/>
                  </a:lnTo>
                  <a:lnTo>
                    <a:pt x="241665" y="0"/>
                  </a:lnTo>
                  <a:lnTo>
                    <a:pt x="290456" y="4943"/>
                  </a:lnTo>
                  <a:lnTo>
                    <a:pt x="335912" y="19119"/>
                  </a:lnTo>
                  <a:lnTo>
                    <a:pt x="377046" y="41542"/>
                  </a:lnTo>
                  <a:lnTo>
                    <a:pt x="412871" y="71231"/>
                  </a:lnTo>
                  <a:lnTo>
                    <a:pt x="442398" y="107202"/>
                  </a:lnTo>
                  <a:lnTo>
                    <a:pt x="464642" y="148472"/>
                  </a:lnTo>
                  <a:lnTo>
                    <a:pt x="478613" y="194057"/>
                  </a:lnTo>
                  <a:lnTo>
                    <a:pt x="483326" y="242973"/>
                  </a:lnTo>
                  <a:lnTo>
                    <a:pt x="479046" y="287298"/>
                  </a:lnTo>
                  <a:lnTo>
                    <a:pt x="467143" y="329001"/>
                  </a:lnTo>
                  <a:lnTo>
                    <a:pt x="448289" y="367290"/>
                  </a:lnTo>
                  <a:lnTo>
                    <a:pt x="423154" y="401371"/>
                  </a:lnTo>
                  <a:lnTo>
                    <a:pt x="419577" y="405274"/>
                  </a:lnTo>
                  <a:lnTo>
                    <a:pt x="418603" y="411131"/>
                  </a:lnTo>
                  <a:lnTo>
                    <a:pt x="442291" y="451410"/>
                  </a:lnTo>
                  <a:lnTo>
                    <a:pt x="452432" y="464145"/>
                  </a:lnTo>
                  <a:lnTo>
                    <a:pt x="449504" y="471302"/>
                  </a:lnTo>
                  <a:lnTo>
                    <a:pt x="442999" y="472277"/>
                  </a:lnTo>
                  <a:lnTo>
                    <a:pt x="435869" y="472852"/>
                  </a:lnTo>
                  <a:lnTo>
                    <a:pt x="428647" y="472725"/>
                  </a:lnTo>
                  <a:lnTo>
                    <a:pt x="386647" y="463374"/>
                  </a:lnTo>
                  <a:lnTo>
                    <a:pt x="362982" y="453089"/>
                  </a:lnTo>
                  <a:lnTo>
                    <a:pt x="358431" y="453415"/>
                  </a:lnTo>
                  <a:lnTo>
                    <a:pt x="351274" y="456992"/>
                  </a:lnTo>
                  <a:lnTo>
                    <a:pt x="348349" y="458615"/>
                  </a:lnTo>
                  <a:lnTo>
                    <a:pt x="321577" y="469658"/>
                  </a:lnTo>
                  <a:lnTo>
                    <a:pt x="296960" y="476869"/>
                  </a:lnTo>
                  <a:lnTo>
                    <a:pt x="271367" y="481458"/>
                  </a:lnTo>
                  <a:lnTo>
                    <a:pt x="244919" y="4833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52990" y="7651350"/>
              <a:ext cx="65407" cy="65407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27865" y="7651350"/>
              <a:ext cx="65407" cy="6540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02739" y="7651350"/>
              <a:ext cx="65407" cy="65407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5587037" y="7442579"/>
            <a:ext cx="483870" cy="483870"/>
            <a:chOff x="5587037" y="7442579"/>
            <a:chExt cx="483870" cy="483870"/>
          </a:xfrm>
        </p:grpSpPr>
        <p:sp>
          <p:nvSpPr>
            <p:cNvPr id="28" name="object 28"/>
            <p:cNvSpPr/>
            <p:nvPr/>
          </p:nvSpPr>
          <p:spPr>
            <a:xfrm>
              <a:off x="5587037" y="7442579"/>
              <a:ext cx="483870" cy="483870"/>
            </a:xfrm>
            <a:custGeom>
              <a:avLst/>
              <a:gdLst/>
              <a:ahLst/>
              <a:cxnLst/>
              <a:rect l="l" t="t" r="r" b="b"/>
              <a:pathLst>
                <a:path w="483870" h="483870">
                  <a:moveTo>
                    <a:pt x="244919" y="483334"/>
                  </a:moveTo>
                  <a:lnTo>
                    <a:pt x="235160" y="483334"/>
                  </a:lnTo>
                  <a:lnTo>
                    <a:pt x="230282" y="482681"/>
                  </a:lnTo>
                  <a:lnTo>
                    <a:pt x="227027" y="482681"/>
                  </a:lnTo>
                  <a:lnTo>
                    <a:pt x="181759" y="475372"/>
                  </a:lnTo>
                  <a:lnTo>
                    <a:pt x="139503" y="459888"/>
                  </a:lnTo>
                  <a:lnTo>
                    <a:pt x="101165" y="437107"/>
                  </a:lnTo>
                  <a:lnTo>
                    <a:pt x="67652" y="407912"/>
                  </a:lnTo>
                  <a:lnTo>
                    <a:pt x="39872" y="373183"/>
                  </a:lnTo>
                  <a:lnTo>
                    <a:pt x="18732" y="333799"/>
                  </a:lnTo>
                  <a:lnTo>
                    <a:pt x="5139" y="290642"/>
                  </a:lnTo>
                  <a:lnTo>
                    <a:pt x="0" y="244593"/>
                  </a:lnTo>
                  <a:lnTo>
                    <a:pt x="4001" y="197385"/>
                  </a:lnTo>
                  <a:lnTo>
                    <a:pt x="16648" y="153195"/>
                  </a:lnTo>
                  <a:lnTo>
                    <a:pt x="37070" y="112909"/>
                  </a:lnTo>
                  <a:lnTo>
                    <a:pt x="64399" y="77410"/>
                  </a:lnTo>
                  <a:lnTo>
                    <a:pt x="97766" y="47583"/>
                  </a:lnTo>
                  <a:lnTo>
                    <a:pt x="136301" y="24312"/>
                  </a:lnTo>
                  <a:lnTo>
                    <a:pt x="179135" y="8481"/>
                  </a:lnTo>
                  <a:lnTo>
                    <a:pt x="225400" y="974"/>
                  </a:lnTo>
                  <a:lnTo>
                    <a:pt x="236134" y="0"/>
                  </a:lnTo>
                  <a:lnTo>
                    <a:pt x="241665" y="0"/>
                  </a:lnTo>
                  <a:lnTo>
                    <a:pt x="290456" y="4943"/>
                  </a:lnTo>
                  <a:lnTo>
                    <a:pt x="335912" y="19119"/>
                  </a:lnTo>
                  <a:lnTo>
                    <a:pt x="377046" y="41542"/>
                  </a:lnTo>
                  <a:lnTo>
                    <a:pt x="412871" y="71231"/>
                  </a:lnTo>
                  <a:lnTo>
                    <a:pt x="442398" y="107202"/>
                  </a:lnTo>
                  <a:lnTo>
                    <a:pt x="464642" y="148472"/>
                  </a:lnTo>
                  <a:lnTo>
                    <a:pt x="478613" y="194057"/>
                  </a:lnTo>
                  <a:lnTo>
                    <a:pt x="483326" y="242973"/>
                  </a:lnTo>
                  <a:lnTo>
                    <a:pt x="479046" y="287298"/>
                  </a:lnTo>
                  <a:lnTo>
                    <a:pt x="467143" y="329001"/>
                  </a:lnTo>
                  <a:lnTo>
                    <a:pt x="448289" y="367290"/>
                  </a:lnTo>
                  <a:lnTo>
                    <a:pt x="423154" y="401371"/>
                  </a:lnTo>
                  <a:lnTo>
                    <a:pt x="419577" y="405274"/>
                  </a:lnTo>
                  <a:lnTo>
                    <a:pt x="418603" y="411131"/>
                  </a:lnTo>
                  <a:lnTo>
                    <a:pt x="442291" y="451410"/>
                  </a:lnTo>
                  <a:lnTo>
                    <a:pt x="452432" y="464145"/>
                  </a:lnTo>
                  <a:lnTo>
                    <a:pt x="449504" y="471302"/>
                  </a:lnTo>
                  <a:lnTo>
                    <a:pt x="442999" y="472277"/>
                  </a:lnTo>
                  <a:lnTo>
                    <a:pt x="435869" y="472852"/>
                  </a:lnTo>
                  <a:lnTo>
                    <a:pt x="428647" y="472725"/>
                  </a:lnTo>
                  <a:lnTo>
                    <a:pt x="386647" y="463374"/>
                  </a:lnTo>
                  <a:lnTo>
                    <a:pt x="362982" y="453089"/>
                  </a:lnTo>
                  <a:lnTo>
                    <a:pt x="358431" y="453415"/>
                  </a:lnTo>
                  <a:lnTo>
                    <a:pt x="351274" y="456992"/>
                  </a:lnTo>
                  <a:lnTo>
                    <a:pt x="348349" y="458615"/>
                  </a:lnTo>
                  <a:lnTo>
                    <a:pt x="321577" y="469658"/>
                  </a:lnTo>
                  <a:lnTo>
                    <a:pt x="296960" y="476869"/>
                  </a:lnTo>
                  <a:lnTo>
                    <a:pt x="271367" y="481458"/>
                  </a:lnTo>
                  <a:lnTo>
                    <a:pt x="244919" y="4833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21176" y="7651350"/>
              <a:ext cx="65407" cy="65407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96050" y="7651350"/>
              <a:ext cx="65407" cy="65407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70925" y="7651350"/>
              <a:ext cx="65407" cy="65407"/>
            </a:xfrm>
            <a:prstGeom prst="rect">
              <a:avLst/>
            </a:prstGeom>
          </p:spPr>
        </p:pic>
      </p:grpSp>
      <p:grpSp>
        <p:nvGrpSpPr>
          <p:cNvPr id="32" name="object 32"/>
          <p:cNvGrpSpPr/>
          <p:nvPr/>
        </p:nvGrpSpPr>
        <p:grpSpPr>
          <a:xfrm>
            <a:off x="9865966" y="7442579"/>
            <a:ext cx="483870" cy="483870"/>
            <a:chOff x="9865966" y="7442579"/>
            <a:chExt cx="483870" cy="483870"/>
          </a:xfrm>
        </p:grpSpPr>
        <p:sp>
          <p:nvSpPr>
            <p:cNvPr id="33" name="object 33"/>
            <p:cNvSpPr/>
            <p:nvPr/>
          </p:nvSpPr>
          <p:spPr>
            <a:xfrm>
              <a:off x="9865966" y="7442579"/>
              <a:ext cx="483870" cy="483870"/>
            </a:xfrm>
            <a:custGeom>
              <a:avLst/>
              <a:gdLst/>
              <a:ahLst/>
              <a:cxnLst/>
              <a:rect l="l" t="t" r="r" b="b"/>
              <a:pathLst>
                <a:path w="483870" h="483870">
                  <a:moveTo>
                    <a:pt x="244919" y="483334"/>
                  </a:moveTo>
                  <a:lnTo>
                    <a:pt x="235160" y="483334"/>
                  </a:lnTo>
                  <a:lnTo>
                    <a:pt x="230282" y="482681"/>
                  </a:lnTo>
                  <a:lnTo>
                    <a:pt x="227027" y="482681"/>
                  </a:lnTo>
                  <a:lnTo>
                    <a:pt x="181759" y="475372"/>
                  </a:lnTo>
                  <a:lnTo>
                    <a:pt x="139503" y="459888"/>
                  </a:lnTo>
                  <a:lnTo>
                    <a:pt x="101165" y="437107"/>
                  </a:lnTo>
                  <a:lnTo>
                    <a:pt x="67652" y="407912"/>
                  </a:lnTo>
                  <a:lnTo>
                    <a:pt x="39872" y="373183"/>
                  </a:lnTo>
                  <a:lnTo>
                    <a:pt x="18732" y="333799"/>
                  </a:lnTo>
                  <a:lnTo>
                    <a:pt x="5139" y="290642"/>
                  </a:lnTo>
                  <a:lnTo>
                    <a:pt x="0" y="244593"/>
                  </a:lnTo>
                  <a:lnTo>
                    <a:pt x="4001" y="197385"/>
                  </a:lnTo>
                  <a:lnTo>
                    <a:pt x="16648" y="153195"/>
                  </a:lnTo>
                  <a:lnTo>
                    <a:pt x="37070" y="112909"/>
                  </a:lnTo>
                  <a:lnTo>
                    <a:pt x="64399" y="77410"/>
                  </a:lnTo>
                  <a:lnTo>
                    <a:pt x="97766" y="47583"/>
                  </a:lnTo>
                  <a:lnTo>
                    <a:pt x="136301" y="24312"/>
                  </a:lnTo>
                  <a:lnTo>
                    <a:pt x="179135" y="8481"/>
                  </a:lnTo>
                  <a:lnTo>
                    <a:pt x="225400" y="974"/>
                  </a:lnTo>
                  <a:lnTo>
                    <a:pt x="236134" y="0"/>
                  </a:lnTo>
                  <a:lnTo>
                    <a:pt x="241665" y="0"/>
                  </a:lnTo>
                  <a:lnTo>
                    <a:pt x="290456" y="4943"/>
                  </a:lnTo>
                  <a:lnTo>
                    <a:pt x="335912" y="19119"/>
                  </a:lnTo>
                  <a:lnTo>
                    <a:pt x="377046" y="41542"/>
                  </a:lnTo>
                  <a:lnTo>
                    <a:pt x="412871" y="71231"/>
                  </a:lnTo>
                  <a:lnTo>
                    <a:pt x="442398" y="107202"/>
                  </a:lnTo>
                  <a:lnTo>
                    <a:pt x="464642" y="148472"/>
                  </a:lnTo>
                  <a:lnTo>
                    <a:pt x="478613" y="194057"/>
                  </a:lnTo>
                  <a:lnTo>
                    <a:pt x="483326" y="242973"/>
                  </a:lnTo>
                  <a:lnTo>
                    <a:pt x="479046" y="287298"/>
                  </a:lnTo>
                  <a:lnTo>
                    <a:pt x="467143" y="329001"/>
                  </a:lnTo>
                  <a:lnTo>
                    <a:pt x="448289" y="367290"/>
                  </a:lnTo>
                  <a:lnTo>
                    <a:pt x="423154" y="401371"/>
                  </a:lnTo>
                  <a:lnTo>
                    <a:pt x="419577" y="405274"/>
                  </a:lnTo>
                  <a:lnTo>
                    <a:pt x="418603" y="411131"/>
                  </a:lnTo>
                  <a:lnTo>
                    <a:pt x="442291" y="451410"/>
                  </a:lnTo>
                  <a:lnTo>
                    <a:pt x="452432" y="464145"/>
                  </a:lnTo>
                  <a:lnTo>
                    <a:pt x="449504" y="471302"/>
                  </a:lnTo>
                  <a:lnTo>
                    <a:pt x="442999" y="472277"/>
                  </a:lnTo>
                  <a:lnTo>
                    <a:pt x="435869" y="472852"/>
                  </a:lnTo>
                  <a:lnTo>
                    <a:pt x="428647" y="472725"/>
                  </a:lnTo>
                  <a:lnTo>
                    <a:pt x="386647" y="463374"/>
                  </a:lnTo>
                  <a:lnTo>
                    <a:pt x="362982" y="453089"/>
                  </a:lnTo>
                  <a:lnTo>
                    <a:pt x="358431" y="453415"/>
                  </a:lnTo>
                  <a:lnTo>
                    <a:pt x="351274" y="456992"/>
                  </a:lnTo>
                  <a:lnTo>
                    <a:pt x="348349" y="458615"/>
                  </a:lnTo>
                  <a:lnTo>
                    <a:pt x="321577" y="469658"/>
                  </a:lnTo>
                  <a:lnTo>
                    <a:pt x="296960" y="476869"/>
                  </a:lnTo>
                  <a:lnTo>
                    <a:pt x="271367" y="481458"/>
                  </a:lnTo>
                  <a:lnTo>
                    <a:pt x="244919" y="4833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200105" y="7651350"/>
              <a:ext cx="65407" cy="65407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074979" y="7651350"/>
              <a:ext cx="65407" cy="65407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949854" y="7651350"/>
              <a:ext cx="65407" cy="65407"/>
            </a:xfrm>
            <a:prstGeom prst="rect">
              <a:avLst/>
            </a:prstGeom>
          </p:spPr>
        </p:pic>
      </p:grpSp>
      <p:pic>
        <p:nvPicPr>
          <p:cNvPr id="37" name="object 3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16276" y="4910045"/>
            <a:ext cx="676274" cy="676274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482027" y="4840961"/>
            <a:ext cx="876299" cy="876299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866704" y="4931114"/>
            <a:ext cx="619124" cy="638174"/>
          </a:xfrm>
          <a:prstGeom prst="rect">
            <a:avLst/>
          </a:prstGeom>
        </p:spPr>
      </p:pic>
      <p:sp>
        <p:nvSpPr>
          <p:cNvPr id="40" name="object 40"/>
          <p:cNvSpPr txBox="1"/>
          <p:nvPr/>
        </p:nvSpPr>
        <p:spPr>
          <a:xfrm>
            <a:off x="1397657" y="1555000"/>
            <a:ext cx="1710055" cy="2209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 spc="-30" b="1">
                <a:latin typeface="Trebuchet MS"/>
                <a:cs typeface="Trebuchet MS"/>
              </a:rPr>
              <a:t>Trusted</a:t>
            </a:r>
            <a:r>
              <a:rPr dirty="0" sz="1250" spc="-229" b="1">
                <a:latin typeface="Trebuchet MS"/>
                <a:cs typeface="Trebuchet MS"/>
              </a:rPr>
              <a:t> </a:t>
            </a:r>
            <a:r>
              <a:rPr dirty="0" sz="1250" b="1">
                <a:latin typeface="Trebuchet MS"/>
                <a:cs typeface="Trebuchet MS"/>
              </a:rPr>
              <a:t>By</a:t>
            </a:r>
            <a:r>
              <a:rPr dirty="0" sz="1250" spc="-229" b="1">
                <a:latin typeface="Trebuchet MS"/>
                <a:cs typeface="Trebuchet MS"/>
              </a:rPr>
              <a:t> </a:t>
            </a:r>
            <a:r>
              <a:rPr dirty="0" sz="1250" spc="55" b="1">
                <a:latin typeface="Trebuchet MS"/>
                <a:cs typeface="Trebuchet MS"/>
              </a:rPr>
              <a:t>7000+SMEs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016000" y="9647656"/>
            <a:ext cx="1519555" cy="208279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200" spc="-10">
                <a:solidFill>
                  <a:srgbClr val="092A3B"/>
                </a:solidFill>
                <a:latin typeface="Trebuchet MS"/>
                <a:cs typeface="Trebuchet MS"/>
                <a:hlinkClick r:id="rId11"/>
              </a:rPr>
              <a:t>www.finanshels.com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41" name="object 41" descr="$PPTXTitle"/>
          <p:cNvSpPr txBox="1">
            <a:spLocks noGrp="1"/>
          </p:cNvSpPr>
          <p:nvPr>
            <p:ph type="title"/>
          </p:nvPr>
        </p:nvSpPr>
        <p:spPr>
          <a:xfrm>
            <a:off x="1067936" y="3221529"/>
            <a:ext cx="6634480" cy="711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60"/>
              <a:t>How</a:t>
            </a:r>
            <a:r>
              <a:rPr dirty="0" spc="-575"/>
              <a:t> </a:t>
            </a:r>
            <a:r>
              <a:rPr dirty="0" spc="305"/>
              <a:t>We</a:t>
            </a:r>
            <a:r>
              <a:rPr dirty="0" spc="-575"/>
              <a:t> </a:t>
            </a:r>
            <a:r>
              <a:rPr dirty="0" spc="145"/>
              <a:t>Stay</a:t>
            </a:r>
            <a:r>
              <a:rPr dirty="0" spc="-575"/>
              <a:t> </a:t>
            </a:r>
            <a:r>
              <a:rPr dirty="0" spc="65"/>
              <a:t>Connected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1105775" y="2619496"/>
            <a:ext cx="104013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30">
                <a:solidFill>
                  <a:srgbClr val="F1660F"/>
                </a:solidFill>
                <a:latin typeface="Trebuchet MS"/>
                <a:cs typeface="Trebuchet MS"/>
              </a:rPr>
              <a:t>PHASE</a:t>
            </a:r>
            <a:r>
              <a:rPr dirty="0" sz="2000" spc="-160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2000" spc="105">
                <a:solidFill>
                  <a:srgbClr val="F1660F"/>
                </a:solidFill>
                <a:latin typeface="Trebuchet MS"/>
                <a:cs typeface="Trebuchet MS"/>
              </a:rPr>
              <a:t>5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503576" y="6492335"/>
            <a:ext cx="2540635" cy="4813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9500"/>
              </a:lnSpc>
              <a:spcBef>
                <a:spcPts val="90"/>
              </a:spcBef>
            </a:pP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Formal</a:t>
            </a:r>
            <a:r>
              <a:rPr dirty="0" sz="1250" spc="-5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25">
                <a:solidFill>
                  <a:srgbClr val="092A3B"/>
                </a:solidFill>
                <a:latin typeface="Trebuchet MS"/>
                <a:cs typeface="Trebuchet MS"/>
              </a:rPr>
              <a:t>documentation,</a:t>
            </a:r>
            <a:r>
              <a:rPr dirty="0" sz="1250" spc="-4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reports</a:t>
            </a:r>
            <a:r>
              <a:rPr dirty="0" sz="1250" spc="-5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25">
                <a:solidFill>
                  <a:srgbClr val="092A3B"/>
                </a:solidFill>
                <a:latin typeface="Trebuchet MS"/>
                <a:cs typeface="Trebuchet MS"/>
              </a:rPr>
              <a:t>and </a:t>
            </a:r>
            <a:r>
              <a:rPr dirty="0" sz="1250" spc="-40">
                <a:solidFill>
                  <a:srgbClr val="092A3B"/>
                </a:solidFill>
                <a:latin typeface="Trebuchet MS"/>
                <a:cs typeface="Trebuchet MS"/>
              </a:rPr>
              <a:t>major</a:t>
            </a:r>
            <a:r>
              <a:rPr dirty="0" sz="1250" spc="-8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updates.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503576" y="5794837"/>
            <a:ext cx="722630" cy="3562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150" spc="-10" b="1">
                <a:solidFill>
                  <a:srgbClr val="092A3B"/>
                </a:solidFill>
                <a:latin typeface="Trebuchet MS"/>
                <a:cs typeface="Trebuchet MS"/>
              </a:rPr>
              <a:t>Email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9850690" y="6575391"/>
            <a:ext cx="2690495" cy="4813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9500"/>
              </a:lnSpc>
              <a:spcBef>
                <a:spcPts val="90"/>
              </a:spcBef>
            </a:pPr>
            <a:r>
              <a:rPr dirty="0" sz="1250" spc="-20">
                <a:solidFill>
                  <a:srgbClr val="092A3B"/>
                </a:solidFill>
                <a:latin typeface="Trebuchet MS"/>
                <a:cs typeface="Trebuchet MS"/>
              </a:rPr>
              <a:t>Optional</a:t>
            </a:r>
            <a:r>
              <a:rPr dirty="0" sz="1250" spc="-6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25">
                <a:solidFill>
                  <a:srgbClr val="092A3B"/>
                </a:solidFill>
                <a:latin typeface="Trebuchet MS"/>
                <a:cs typeface="Trebuchet MS"/>
              </a:rPr>
              <a:t>real-</a:t>
            </a:r>
            <a:r>
              <a:rPr dirty="0" sz="1250" spc="-40">
                <a:solidFill>
                  <a:srgbClr val="092A3B"/>
                </a:solidFill>
                <a:latin typeface="Trebuchet MS"/>
                <a:cs typeface="Trebuchet MS"/>
              </a:rPr>
              <a:t>time</a:t>
            </a:r>
            <a:r>
              <a:rPr dirty="0" sz="1250" spc="-6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25">
                <a:solidFill>
                  <a:srgbClr val="092A3B"/>
                </a:solidFill>
                <a:latin typeface="Trebuchet MS"/>
                <a:cs typeface="Trebuchet MS"/>
              </a:rPr>
              <a:t>collaboration</a:t>
            </a:r>
            <a:r>
              <a:rPr dirty="0" sz="1250" spc="-65">
                <a:solidFill>
                  <a:srgbClr val="092A3B"/>
                </a:solidFill>
                <a:latin typeface="Trebuchet MS"/>
                <a:cs typeface="Trebuchet MS"/>
              </a:rPr>
              <a:t> if </a:t>
            </a:r>
            <a:r>
              <a:rPr dirty="0" sz="1250" spc="-25">
                <a:solidFill>
                  <a:srgbClr val="092A3B"/>
                </a:solidFill>
                <a:latin typeface="Trebuchet MS"/>
                <a:cs typeface="Trebuchet MS"/>
              </a:rPr>
              <a:t>you 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prefer.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9850690" y="5790167"/>
            <a:ext cx="730250" cy="3562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150" spc="55" b="1">
                <a:solidFill>
                  <a:srgbClr val="092A3B"/>
                </a:solidFill>
                <a:latin typeface="Trebuchet MS"/>
                <a:cs typeface="Trebuchet MS"/>
              </a:rPr>
              <a:t>Slack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571762" y="6546244"/>
            <a:ext cx="2508250" cy="4813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9500"/>
              </a:lnSpc>
              <a:spcBef>
                <a:spcPts val="90"/>
              </a:spcBef>
            </a:pP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Daily</a:t>
            </a:r>
            <a:r>
              <a:rPr dirty="0" sz="1250" spc="-6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25">
                <a:solidFill>
                  <a:srgbClr val="092A3B"/>
                </a:solidFill>
                <a:latin typeface="Trebuchet MS"/>
                <a:cs typeface="Trebuchet MS"/>
              </a:rPr>
              <a:t>operational</a:t>
            </a:r>
            <a:r>
              <a:rPr dirty="0" sz="1250" spc="-6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queries</a:t>
            </a:r>
            <a:r>
              <a:rPr dirty="0" sz="1250" spc="-6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and</a:t>
            </a:r>
            <a:r>
              <a:rPr dirty="0" sz="1250" spc="-6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20">
                <a:solidFill>
                  <a:srgbClr val="092A3B"/>
                </a:solidFill>
                <a:latin typeface="Trebuchet MS"/>
                <a:cs typeface="Trebuchet MS"/>
              </a:rPr>
              <a:t>quick 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support.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565000" y="5788155"/>
            <a:ext cx="1402080" cy="3562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150" spc="85" b="1">
                <a:solidFill>
                  <a:srgbClr val="092A3B"/>
                </a:solidFill>
                <a:latin typeface="Trebuchet MS"/>
                <a:cs typeface="Trebuchet MS"/>
              </a:rPr>
              <a:t>WhatsApp</a:t>
            </a:r>
            <a:endParaRPr sz="2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7657" y="1555000"/>
            <a:ext cx="1710055" cy="2209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 spc="-30" b="1">
                <a:latin typeface="Trebuchet MS"/>
                <a:cs typeface="Trebuchet MS"/>
              </a:rPr>
              <a:t>Trusted</a:t>
            </a:r>
            <a:r>
              <a:rPr dirty="0" sz="1250" spc="-229" b="1">
                <a:latin typeface="Trebuchet MS"/>
                <a:cs typeface="Trebuchet MS"/>
              </a:rPr>
              <a:t> </a:t>
            </a:r>
            <a:r>
              <a:rPr dirty="0" sz="1250" b="1">
                <a:latin typeface="Trebuchet MS"/>
                <a:cs typeface="Trebuchet MS"/>
              </a:rPr>
              <a:t>By</a:t>
            </a:r>
            <a:r>
              <a:rPr dirty="0" sz="1250" spc="-229" b="1">
                <a:latin typeface="Trebuchet MS"/>
                <a:cs typeface="Trebuchet MS"/>
              </a:rPr>
              <a:t> </a:t>
            </a:r>
            <a:r>
              <a:rPr dirty="0" sz="1250" spc="55" b="1">
                <a:latin typeface="Trebuchet MS"/>
                <a:cs typeface="Trebuchet MS"/>
              </a:rPr>
              <a:t>7000+SMEs</a:t>
            </a:r>
            <a:endParaRPr sz="125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84659" y="9722024"/>
            <a:ext cx="225674" cy="22567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55352" y="3167195"/>
            <a:ext cx="13458190" cy="17468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0" spc="180" b="1">
                <a:solidFill>
                  <a:srgbClr val="092A3B"/>
                </a:solidFill>
                <a:latin typeface="Trebuchet MS"/>
                <a:cs typeface="Trebuchet MS"/>
              </a:rPr>
              <a:t>Scope</a:t>
            </a:r>
            <a:r>
              <a:rPr dirty="0" sz="4500" spc="-580" b="1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4500" spc="75" b="1">
                <a:solidFill>
                  <a:srgbClr val="092A3B"/>
                </a:solidFill>
                <a:latin typeface="Trebuchet MS"/>
                <a:cs typeface="Trebuchet MS"/>
              </a:rPr>
              <a:t>of</a:t>
            </a:r>
            <a:r>
              <a:rPr dirty="0" sz="4500" spc="-575" b="1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4500" spc="135" b="1">
                <a:solidFill>
                  <a:srgbClr val="092A3B"/>
                </a:solidFill>
                <a:latin typeface="Trebuchet MS"/>
                <a:cs typeface="Trebuchet MS"/>
              </a:rPr>
              <a:t>Work</a:t>
            </a:r>
            <a:endParaRPr sz="4500">
              <a:latin typeface="Trebuchet MS"/>
              <a:cs typeface="Trebuchet MS"/>
            </a:endParaRPr>
          </a:p>
          <a:p>
            <a:pPr marL="62865">
              <a:lnSpc>
                <a:spcPct val="100000"/>
              </a:lnSpc>
              <a:spcBef>
                <a:spcPts val="3005"/>
              </a:spcBef>
            </a:pPr>
            <a:r>
              <a:rPr dirty="0" sz="1700" spc="100" b="1">
                <a:solidFill>
                  <a:srgbClr val="F1660F"/>
                </a:solidFill>
                <a:latin typeface="Trebuchet MS"/>
                <a:cs typeface="Trebuchet MS"/>
              </a:rPr>
              <a:t>WHAT</a:t>
            </a:r>
            <a:r>
              <a:rPr dirty="0" sz="1700" spc="-265" b="1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700" b="1">
                <a:solidFill>
                  <a:srgbClr val="F1660F"/>
                </a:solidFill>
                <a:latin typeface="Trebuchet MS"/>
                <a:cs typeface="Trebuchet MS"/>
              </a:rPr>
              <a:t>WE'LL</a:t>
            </a:r>
            <a:r>
              <a:rPr dirty="0" sz="1700" spc="-265" b="1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700" spc="65" b="1">
                <a:solidFill>
                  <a:srgbClr val="F1660F"/>
                </a:solidFill>
                <a:latin typeface="Trebuchet MS"/>
                <a:cs typeface="Trebuchet MS"/>
              </a:rPr>
              <a:t>DO</a:t>
            </a:r>
            <a:endParaRPr sz="1700">
              <a:latin typeface="Trebuchet MS"/>
              <a:cs typeface="Trebuchet MS"/>
            </a:endParaRPr>
          </a:p>
          <a:p>
            <a:pPr marL="62865">
              <a:lnSpc>
                <a:spcPct val="100000"/>
              </a:lnSpc>
              <a:spcBef>
                <a:spcPts val="1065"/>
              </a:spcBef>
            </a:pPr>
            <a:r>
              <a:rPr dirty="0" sz="1700">
                <a:solidFill>
                  <a:srgbClr val="3C3C3F"/>
                </a:solidFill>
                <a:latin typeface="Trebuchet MS"/>
                <a:cs typeface="Trebuchet MS"/>
              </a:rPr>
              <a:t>This</a:t>
            </a:r>
            <a:r>
              <a:rPr dirty="0" sz="1700" spc="-125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40">
                <a:solidFill>
                  <a:srgbClr val="3C3C3F"/>
                </a:solidFill>
                <a:latin typeface="Trebuchet MS"/>
                <a:cs typeface="Trebuchet MS"/>
              </a:rPr>
              <a:t>contract</a:t>
            </a:r>
            <a:r>
              <a:rPr dirty="0" sz="1700" spc="-114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25">
                <a:solidFill>
                  <a:srgbClr val="3C3C3F"/>
                </a:solidFill>
                <a:latin typeface="Trebuchet MS"/>
                <a:cs typeface="Trebuchet MS"/>
              </a:rPr>
              <a:t>includes</a:t>
            </a:r>
            <a:r>
              <a:rPr dirty="0" sz="1700" spc="-114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40">
                <a:solidFill>
                  <a:srgbClr val="3C3C3F"/>
                </a:solidFill>
                <a:latin typeface="Trebuchet MS"/>
                <a:cs typeface="Trebuchet MS"/>
              </a:rPr>
              <a:t>monthly</a:t>
            </a:r>
            <a:r>
              <a:rPr dirty="0" sz="1700" spc="-114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40">
                <a:solidFill>
                  <a:srgbClr val="3C3C3F"/>
                </a:solidFill>
                <a:latin typeface="Trebuchet MS"/>
                <a:cs typeface="Trebuchet MS"/>
              </a:rPr>
              <a:t>recurring</a:t>
            </a:r>
            <a:r>
              <a:rPr dirty="0" sz="1700" spc="-114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20">
                <a:solidFill>
                  <a:srgbClr val="3C3C3F"/>
                </a:solidFill>
                <a:latin typeface="Trebuchet MS"/>
                <a:cs typeface="Trebuchet MS"/>
              </a:rPr>
              <a:t>accounting</a:t>
            </a:r>
            <a:r>
              <a:rPr dirty="0" sz="1700" spc="-114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3C3C3F"/>
                </a:solidFill>
                <a:latin typeface="Trebuchet MS"/>
                <a:cs typeface="Trebuchet MS"/>
              </a:rPr>
              <a:t>and</a:t>
            </a:r>
            <a:r>
              <a:rPr dirty="0" sz="1700" spc="-114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3C3C3F"/>
                </a:solidFill>
                <a:latin typeface="Trebuchet MS"/>
                <a:cs typeface="Trebuchet MS"/>
              </a:rPr>
              <a:t>bookkeeping</a:t>
            </a:r>
            <a:r>
              <a:rPr dirty="0" sz="1700" spc="-114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3C3C3F"/>
                </a:solidFill>
                <a:latin typeface="Trebuchet MS"/>
                <a:cs typeface="Trebuchet MS"/>
              </a:rPr>
              <a:t>services</a:t>
            </a:r>
            <a:r>
              <a:rPr dirty="0" sz="1700" spc="-11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3C3C3F"/>
                </a:solidFill>
                <a:latin typeface="Trebuchet MS"/>
                <a:cs typeface="Trebuchet MS"/>
              </a:rPr>
              <a:t>and</a:t>
            </a:r>
            <a:r>
              <a:rPr dirty="0" sz="1700" spc="-114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70">
                <a:solidFill>
                  <a:srgbClr val="3C3C3F"/>
                </a:solidFill>
                <a:latin typeface="Trebuchet MS"/>
                <a:cs typeface="Trebuchet MS"/>
              </a:rPr>
              <a:t>a</a:t>
            </a:r>
            <a:r>
              <a:rPr dirty="0" sz="1700" spc="-114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3C3C3F"/>
                </a:solidFill>
                <a:latin typeface="Trebuchet MS"/>
                <a:cs typeface="Trebuchet MS"/>
              </a:rPr>
              <a:t>one-</a:t>
            </a:r>
            <a:r>
              <a:rPr dirty="0" sz="1700" spc="-75">
                <a:solidFill>
                  <a:srgbClr val="3C3C3F"/>
                </a:solidFill>
                <a:latin typeface="Trebuchet MS"/>
                <a:cs typeface="Trebuchet MS"/>
              </a:rPr>
              <a:t>time</a:t>
            </a:r>
            <a:r>
              <a:rPr dirty="0" sz="1700" spc="-114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50">
                <a:solidFill>
                  <a:srgbClr val="3C3C3F"/>
                </a:solidFill>
                <a:latin typeface="Trebuchet MS"/>
                <a:cs typeface="Trebuchet MS"/>
              </a:rPr>
              <a:t>prior-</a:t>
            </a:r>
            <a:r>
              <a:rPr dirty="0" sz="1700" spc="-30">
                <a:solidFill>
                  <a:srgbClr val="3C3C3F"/>
                </a:solidFill>
                <a:latin typeface="Trebuchet MS"/>
                <a:cs typeface="Trebuchet MS"/>
              </a:rPr>
              <a:t>period</a:t>
            </a:r>
            <a:r>
              <a:rPr dirty="0" sz="1700" spc="-114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3C3C3F"/>
                </a:solidFill>
                <a:latin typeface="Trebuchet MS"/>
                <a:cs typeface="Trebuchet MS"/>
              </a:rPr>
              <a:t>catch-</a:t>
            </a:r>
            <a:r>
              <a:rPr dirty="0" sz="1700">
                <a:solidFill>
                  <a:srgbClr val="3C3C3F"/>
                </a:solidFill>
                <a:latin typeface="Trebuchet MS"/>
                <a:cs typeface="Trebuchet MS"/>
              </a:rPr>
              <a:t>up</a:t>
            </a:r>
            <a:r>
              <a:rPr dirty="0" sz="1700" spc="-114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3C3C3F"/>
                </a:solidFill>
                <a:latin typeface="Trebuchet MS"/>
                <a:cs typeface="Trebuchet MS"/>
              </a:rPr>
              <a:t>and</a:t>
            </a:r>
            <a:r>
              <a:rPr dirty="0" sz="1700" spc="-114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3C3C3F"/>
                </a:solidFill>
                <a:latin typeface="Trebuchet MS"/>
                <a:cs typeface="Trebuchet MS"/>
              </a:rPr>
              <a:t>books</a:t>
            </a:r>
            <a:r>
              <a:rPr dirty="0" sz="1700" spc="-114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25">
                <a:solidFill>
                  <a:srgbClr val="3C3C3F"/>
                </a:solidFill>
                <a:latin typeface="Trebuchet MS"/>
                <a:cs typeface="Trebuchet MS"/>
              </a:rPr>
              <a:t>cleanup</a:t>
            </a:r>
            <a:r>
              <a:rPr dirty="0" sz="1700" spc="-110">
                <a:solidFill>
                  <a:srgbClr val="3C3C3F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3C3C3F"/>
                </a:solidFill>
                <a:latin typeface="Trebuchet MS"/>
                <a:cs typeface="Trebuchet MS"/>
              </a:rPr>
              <a:t>project.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8918" rIns="0" bIns="0" rtlCol="0" vert="horz">
            <a:spAutoFit/>
          </a:bodyPr>
          <a:lstStyle/>
          <a:p>
            <a:pPr marL="102235">
              <a:lnSpc>
                <a:spcPct val="100000"/>
              </a:lnSpc>
              <a:spcBef>
                <a:spcPts val="100"/>
              </a:spcBef>
            </a:pPr>
            <a:r>
              <a:rPr dirty="0" sz="2000" spc="105" b="0">
                <a:solidFill>
                  <a:srgbClr val="F1660F"/>
                </a:solidFill>
                <a:latin typeface="Trebuchet MS"/>
                <a:cs typeface="Trebuchet MS"/>
              </a:rPr>
              <a:t>ENGAGEMENT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478429" y="5280662"/>
            <a:ext cx="6807200" cy="3771900"/>
            <a:chOff x="8478429" y="5280662"/>
            <a:chExt cx="6807200" cy="3771900"/>
          </a:xfrm>
        </p:grpSpPr>
        <p:sp>
          <p:nvSpPr>
            <p:cNvPr id="7" name="object 7"/>
            <p:cNvSpPr/>
            <p:nvPr/>
          </p:nvSpPr>
          <p:spPr>
            <a:xfrm>
              <a:off x="8487954" y="5290187"/>
              <a:ext cx="6788150" cy="3752850"/>
            </a:xfrm>
            <a:custGeom>
              <a:avLst/>
              <a:gdLst/>
              <a:ahLst/>
              <a:cxnLst/>
              <a:rect l="l" t="t" r="r" b="b"/>
              <a:pathLst>
                <a:path w="6788150" h="3752850">
                  <a:moveTo>
                    <a:pt x="190509" y="0"/>
                  </a:moveTo>
                  <a:lnTo>
                    <a:pt x="6597539" y="0"/>
                  </a:lnTo>
                  <a:lnTo>
                    <a:pt x="6634880" y="3686"/>
                  </a:lnTo>
                  <a:lnTo>
                    <a:pt x="6703242" y="31990"/>
                  </a:lnTo>
                  <a:lnTo>
                    <a:pt x="6756058" y="84797"/>
                  </a:lnTo>
                  <a:lnTo>
                    <a:pt x="6784377" y="153158"/>
                  </a:lnTo>
                  <a:lnTo>
                    <a:pt x="6788074" y="3561908"/>
                  </a:lnTo>
                  <a:lnTo>
                    <a:pt x="6784382" y="3599254"/>
                  </a:lnTo>
                  <a:lnTo>
                    <a:pt x="6756065" y="3667620"/>
                  </a:lnTo>
                  <a:lnTo>
                    <a:pt x="6703246" y="3720430"/>
                  </a:lnTo>
                  <a:lnTo>
                    <a:pt x="6634880" y="3748737"/>
                  </a:lnTo>
                  <a:lnTo>
                    <a:pt x="190507" y="3752429"/>
                  </a:lnTo>
                  <a:lnTo>
                    <a:pt x="153163" y="3748735"/>
                  </a:lnTo>
                  <a:lnTo>
                    <a:pt x="84804" y="3720417"/>
                  </a:lnTo>
                  <a:lnTo>
                    <a:pt x="31998" y="3667603"/>
                  </a:lnTo>
                  <a:lnTo>
                    <a:pt x="3691" y="3599244"/>
                  </a:lnTo>
                  <a:lnTo>
                    <a:pt x="0" y="3561905"/>
                  </a:lnTo>
                  <a:lnTo>
                    <a:pt x="0" y="190498"/>
                  </a:lnTo>
                  <a:lnTo>
                    <a:pt x="14503" y="117594"/>
                  </a:lnTo>
                  <a:lnTo>
                    <a:pt x="55802" y="55791"/>
                  </a:lnTo>
                  <a:lnTo>
                    <a:pt x="117608" y="14499"/>
                  </a:lnTo>
                  <a:lnTo>
                    <a:pt x="190509" y="0"/>
                  </a:lnTo>
                </a:path>
              </a:pathLst>
            </a:custGeom>
            <a:ln w="19049">
              <a:solidFill>
                <a:srgbClr val="FF31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886323" y="6264668"/>
              <a:ext cx="2774315" cy="0"/>
            </a:xfrm>
            <a:custGeom>
              <a:avLst/>
              <a:gdLst/>
              <a:ahLst/>
              <a:cxnLst/>
              <a:rect l="l" t="t" r="r" b="b"/>
              <a:pathLst>
                <a:path w="2774315" h="0">
                  <a:moveTo>
                    <a:pt x="0" y="0"/>
                  </a:moveTo>
                  <a:lnTo>
                    <a:pt x="2773804" y="0"/>
                  </a:lnTo>
                </a:path>
              </a:pathLst>
            </a:custGeom>
            <a:ln w="9524">
              <a:solidFill>
                <a:srgbClr val="092A3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8992540" y="6544195"/>
              <a:ext cx="47625" cy="1647825"/>
            </a:xfrm>
            <a:custGeom>
              <a:avLst/>
              <a:gdLst/>
              <a:ahLst/>
              <a:cxnLst/>
              <a:rect l="l" t="t" r="r" b="b"/>
              <a:pathLst>
                <a:path w="47625" h="1647825">
                  <a:moveTo>
                    <a:pt x="47625" y="1620862"/>
                  </a:moveTo>
                  <a:lnTo>
                    <a:pt x="26974" y="1600200"/>
                  </a:lnTo>
                  <a:lnTo>
                    <a:pt x="20650" y="1600200"/>
                  </a:lnTo>
                  <a:lnTo>
                    <a:pt x="0" y="1620862"/>
                  </a:lnTo>
                  <a:lnTo>
                    <a:pt x="0" y="1627174"/>
                  </a:lnTo>
                  <a:lnTo>
                    <a:pt x="20650" y="1647825"/>
                  </a:lnTo>
                  <a:lnTo>
                    <a:pt x="26974" y="1647825"/>
                  </a:lnTo>
                  <a:lnTo>
                    <a:pt x="47625" y="1627174"/>
                  </a:lnTo>
                  <a:lnTo>
                    <a:pt x="47625" y="1624012"/>
                  </a:lnTo>
                  <a:lnTo>
                    <a:pt x="47625" y="1620862"/>
                  </a:lnTo>
                  <a:close/>
                </a:path>
                <a:path w="47625" h="1647825">
                  <a:moveTo>
                    <a:pt x="47625" y="1392262"/>
                  </a:moveTo>
                  <a:lnTo>
                    <a:pt x="26974" y="1371600"/>
                  </a:lnTo>
                  <a:lnTo>
                    <a:pt x="20650" y="1371600"/>
                  </a:lnTo>
                  <a:lnTo>
                    <a:pt x="0" y="1392262"/>
                  </a:lnTo>
                  <a:lnTo>
                    <a:pt x="0" y="1398574"/>
                  </a:lnTo>
                  <a:lnTo>
                    <a:pt x="20650" y="1419225"/>
                  </a:lnTo>
                  <a:lnTo>
                    <a:pt x="26974" y="1419225"/>
                  </a:lnTo>
                  <a:lnTo>
                    <a:pt x="47625" y="1398574"/>
                  </a:lnTo>
                  <a:lnTo>
                    <a:pt x="47625" y="1395412"/>
                  </a:lnTo>
                  <a:lnTo>
                    <a:pt x="47625" y="1392262"/>
                  </a:lnTo>
                  <a:close/>
                </a:path>
                <a:path w="47625" h="1647825">
                  <a:moveTo>
                    <a:pt x="47625" y="1163662"/>
                  </a:moveTo>
                  <a:lnTo>
                    <a:pt x="26974" y="1143000"/>
                  </a:lnTo>
                  <a:lnTo>
                    <a:pt x="20650" y="1143000"/>
                  </a:lnTo>
                  <a:lnTo>
                    <a:pt x="0" y="1163662"/>
                  </a:lnTo>
                  <a:lnTo>
                    <a:pt x="0" y="1169974"/>
                  </a:lnTo>
                  <a:lnTo>
                    <a:pt x="20650" y="1190625"/>
                  </a:lnTo>
                  <a:lnTo>
                    <a:pt x="26974" y="1190625"/>
                  </a:lnTo>
                  <a:lnTo>
                    <a:pt x="47625" y="1169974"/>
                  </a:lnTo>
                  <a:lnTo>
                    <a:pt x="47625" y="1166812"/>
                  </a:lnTo>
                  <a:lnTo>
                    <a:pt x="47625" y="1163662"/>
                  </a:lnTo>
                  <a:close/>
                </a:path>
                <a:path w="47625" h="1647825">
                  <a:moveTo>
                    <a:pt x="47625" y="935062"/>
                  </a:moveTo>
                  <a:lnTo>
                    <a:pt x="26974" y="914400"/>
                  </a:lnTo>
                  <a:lnTo>
                    <a:pt x="20650" y="914400"/>
                  </a:lnTo>
                  <a:lnTo>
                    <a:pt x="0" y="935062"/>
                  </a:lnTo>
                  <a:lnTo>
                    <a:pt x="0" y="941374"/>
                  </a:lnTo>
                  <a:lnTo>
                    <a:pt x="20650" y="962025"/>
                  </a:lnTo>
                  <a:lnTo>
                    <a:pt x="26974" y="962025"/>
                  </a:lnTo>
                  <a:lnTo>
                    <a:pt x="47625" y="941374"/>
                  </a:lnTo>
                  <a:lnTo>
                    <a:pt x="47625" y="938212"/>
                  </a:lnTo>
                  <a:lnTo>
                    <a:pt x="47625" y="935062"/>
                  </a:lnTo>
                  <a:close/>
                </a:path>
                <a:path w="47625" h="1647825">
                  <a:moveTo>
                    <a:pt x="47625" y="706462"/>
                  </a:moveTo>
                  <a:lnTo>
                    <a:pt x="26974" y="685800"/>
                  </a:lnTo>
                  <a:lnTo>
                    <a:pt x="20650" y="685800"/>
                  </a:lnTo>
                  <a:lnTo>
                    <a:pt x="0" y="706462"/>
                  </a:lnTo>
                  <a:lnTo>
                    <a:pt x="0" y="712774"/>
                  </a:lnTo>
                  <a:lnTo>
                    <a:pt x="20650" y="733425"/>
                  </a:lnTo>
                  <a:lnTo>
                    <a:pt x="26974" y="733425"/>
                  </a:lnTo>
                  <a:lnTo>
                    <a:pt x="47625" y="712774"/>
                  </a:lnTo>
                  <a:lnTo>
                    <a:pt x="47625" y="709612"/>
                  </a:lnTo>
                  <a:lnTo>
                    <a:pt x="47625" y="706462"/>
                  </a:lnTo>
                  <a:close/>
                </a:path>
                <a:path w="47625" h="1647825">
                  <a:moveTo>
                    <a:pt x="47625" y="249262"/>
                  </a:moveTo>
                  <a:lnTo>
                    <a:pt x="26974" y="228600"/>
                  </a:lnTo>
                  <a:lnTo>
                    <a:pt x="20650" y="228600"/>
                  </a:lnTo>
                  <a:lnTo>
                    <a:pt x="0" y="249262"/>
                  </a:lnTo>
                  <a:lnTo>
                    <a:pt x="0" y="255574"/>
                  </a:lnTo>
                  <a:lnTo>
                    <a:pt x="20650" y="276225"/>
                  </a:lnTo>
                  <a:lnTo>
                    <a:pt x="26974" y="276225"/>
                  </a:lnTo>
                  <a:lnTo>
                    <a:pt x="47625" y="255574"/>
                  </a:lnTo>
                  <a:lnTo>
                    <a:pt x="47625" y="252412"/>
                  </a:lnTo>
                  <a:lnTo>
                    <a:pt x="47625" y="249262"/>
                  </a:lnTo>
                  <a:close/>
                </a:path>
                <a:path w="47625" h="1647825">
                  <a:moveTo>
                    <a:pt x="47625" y="20662"/>
                  </a:moveTo>
                  <a:lnTo>
                    <a:pt x="26974" y="0"/>
                  </a:lnTo>
                  <a:lnTo>
                    <a:pt x="20650" y="0"/>
                  </a:lnTo>
                  <a:lnTo>
                    <a:pt x="0" y="20662"/>
                  </a:lnTo>
                  <a:lnTo>
                    <a:pt x="0" y="26974"/>
                  </a:lnTo>
                  <a:lnTo>
                    <a:pt x="20650" y="47625"/>
                  </a:lnTo>
                  <a:lnTo>
                    <a:pt x="26974" y="47625"/>
                  </a:lnTo>
                  <a:lnTo>
                    <a:pt x="47625" y="26974"/>
                  </a:lnTo>
                  <a:lnTo>
                    <a:pt x="47625" y="23812"/>
                  </a:lnTo>
                  <a:lnTo>
                    <a:pt x="47625" y="20662"/>
                  </a:lnTo>
                  <a:close/>
                </a:path>
              </a:pathLst>
            </a:custGeom>
            <a:solidFill>
              <a:srgbClr val="092A3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/>
          <p:cNvGrpSpPr/>
          <p:nvPr/>
        </p:nvGrpSpPr>
        <p:grpSpPr>
          <a:xfrm>
            <a:off x="1058527" y="5280662"/>
            <a:ext cx="6807200" cy="3771900"/>
            <a:chOff x="1058527" y="5280662"/>
            <a:chExt cx="6807200" cy="3771900"/>
          </a:xfrm>
        </p:grpSpPr>
        <p:sp>
          <p:nvSpPr>
            <p:cNvPr id="11" name="object 11"/>
            <p:cNvSpPr/>
            <p:nvPr/>
          </p:nvSpPr>
          <p:spPr>
            <a:xfrm>
              <a:off x="1068052" y="5290187"/>
              <a:ext cx="6788150" cy="3752850"/>
            </a:xfrm>
            <a:custGeom>
              <a:avLst/>
              <a:gdLst/>
              <a:ahLst/>
              <a:cxnLst/>
              <a:rect l="l" t="t" r="r" b="b"/>
              <a:pathLst>
                <a:path w="6788150" h="3752850">
                  <a:moveTo>
                    <a:pt x="190509" y="0"/>
                  </a:moveTo>
                  <a:lnTo>
                    <a:pt x="6597540" y="0"/>
                  </a:lnTo>
                  <a:lnTo>
                    <a:pt x="6634880" y="3686"/>
                  </a:lnTo>
                  <a:lnTo>
                    <a:pt x="6703242" y="31990"/>
                  </a:lnTo>
                  <a:lnTo>
                    <a:pt x="6756059" y="84796"/>
                  </a:lnTo>
                  <a:lnTo>
                    <a:pt x="6784378" y="153158"/>
                  </a:lnTo>
                  <a:lnTo>
                    <a:pt x="6788075" y="3561908"/>
                  </a:lnTo>
                  <a:lnTo>
                    <a:pt x="6784383" y="3599254"/>
                  </a:lnTo>
                  <a:lnTo>
                    <a:pt x="6756065" y="3667620"/>
                  </a:lnTo>
                  <a:lnTo>
                    <a:pt x="6703246" y="3720430"/>
                  </a:lnTo>
                  <a:lnTo>
                    <a:pt x="6634880" y="3748737"/>
                  </a:lnTo>
                  <a:lnTo>
                    <a:pt x="190507" y="3752429"/>
                  </a:lnTo>
                  <a:lnTo>
                    <a:pt x="153163" y="3748735"/>
                  </a:lnTo>
                  <a:lnTo>
                    <a:pt x="84804" y="3720417"/>
                  </a:lnTo>
                  <a:lnTo>
                    <a:pt x="31998" y="3667603"/>
                  </a:lnTo>
                  <a:lnTo>
                    <a:pt x="3691" y="3599244"/>
                  </a:lnTo>
                  <a:lnTo>
                    <a:pt x="0" y="3561905"/>
                  </a:lnTo>
                  <a:lnTo>
                    <a:pt x="0" y="190498"/>
                  </a:lnTo>
                  <a:lnTo>
                    <a:pt x="14503" y="117594"/>
                  </a:lnTo>
                  <a:lnTo>
                    <a:pt x="55802" y="55791"/>
                  </a:lnTo>
                  <a:lnTo>
                    <a:pt x="117608" y="14499"/>
                  </a:lnTo>
                  <a:lnTo>
                    <a:pt x="190509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563705" y="6195656"/>
              <a:ext cx="2774315" cy="0"/>
            </a:xfrm>
            <a:custGeom>
              <a:avLst/>
              <a:gdLst/>
              <a:ahLst/>
              <a:cxnLst/>
              <a:rect l="l" t="t" r="r" b="b"/>
              <a:pathLst>
                <a:path w="2774315" h="0">
                  <a:moveTo>
                    <a:pt x="0" y="0"/>
                  </a:moveTo>
                  <a:lnTo>
                    <a:pt x="2773804" y="0"/>
                  </a:lnTo>
                </a:path>
              </a:pathLst>
            </a:custGeom>
            <a:ln w="9524">
              <a:solidFill>
                <a:srgbClr val="092A3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630718" y="6412674"/>
              <a:ext cx="47625" cy="2105025"/>
            </a:xfrm>
            <a:custGeom>
              <a:avLst/>
              <a:gdLst/>
              <a:ahLst/>
              <a:cxnLst/>
              <a:rect l="l" t="t" r="r" b="b"/>
              <a:pathLst>
                <a:path w="47625" h="2105025">
                  <a:moveTo>
                    <a:pt x="47625" y="2078062"/>
                  </a:moveTo>
                  <a:lnTo>
                    <a:pt x="26962" y="2057400"/>
                  </a:lnTo>
                  <a:lnTo>
                    <a:pt x="20650" y="2057400"/>
                  </a:lnTo>
                  <a:lnTo>
                    <a:pt x="0" y="2078062"/>
                  </a:lnTo>
                  <a:lnTo>
                    <a:pt x="0" y="2084374"/>
                  </a:lnTo>
                  <a:lnTo>
                    <a:pt x="20650" y="2105025"/>
                  </a:lnTo>
                  <a:lnTo>
                    <a:pt x="26962" y="2105025"/>
                  </a:lnTo>
                  <a:lnTo>
                    <a:pt x="47625" y="2084374"/>
                  </a:lnTo>
                  <a:lnTo>
                    <a:pt x="47625" y="2081212"/>
                  </a:lnTo>
                  <a:lnTo>
                    <a:pt x="47625" y="2078062"/>
                  </a:lnTo>
                  <a:close/>
                </a:path>
                <a:path w="47625" h="2105025">
                  <a:moveTo>
                    <a:pt x="47625" y="1849462"/>
                  </a:moveTo>
                  <a:lnTo>
                    <a:pt x="26962" y="1828800"/>
                  </a:lnTo>
                  <a:lnTo>
                    <a:pt x="20650" y="1828800"/>
                  </a:lnTo>
                  <a:lnTo>
                    <a:pt x="0" y="1849462"/>
                  </a:lnTo>
                  <a:lnTo>
                    <a:pt x="0" y="1855774"/>
                  </a:lnTo>
                  <a:lnTo>
                    <a:pt x="20650" y="1876425"/>
                  </a:lnTo>
                  <a:lnTo>
                    <a:pt x="26962" y="1876425"/>
                  </a:lnTo>
                  <a:lnTo>
                    <a:pt x="47625" y="1855774"/>
                  </a:lnTo>
                  <a:lnTo>
                    <a:pt x="47625" y="1852612"/>
                  </a:lnTo>
                  <a:lnTo>
                    <a:pt x="47625" y="1849462"/>
                  </a:lnTo>
                  <a:close/>
                </a:path>
                <a:path w="47625" h="2105025">
                  <a:moveTo>
                    <a:pt x="47625" y="1620862"/>
                  </a:moveTo>
                  <a:lnTo>
                    <a:pt x="26962" y="1600200"/>
                  </a:lnTo>
                  <a:lnTo>
                    <a:pt x="20650" y="1600200"/>
                  </a:lnTo>
                  <a:lnTo>
                    <a:pt x="0" y="1620862"/>
                  </a:lnTo>
                  <a:lnTo>
                    <a:pt x="0" y="1627174"/>
                  </a:lnTo>
                  <a:lnTo>
                    <a:pt x="20650" y="1647825"/>
                  </a:lnTo>
                  <a:lnTo>
                    <a:pt x="26962" y="1647825"/>
                  </a:lnTo>
                  <a:lnTo>
                    <a:pt x="47625" y="1627174"/>
                  </a:lnTo>
                  <a:lnTo>
                    <a:pt x="47625" y="1624012"/>
                  </a:lnTo>
                  <a:lnTo>
                    <a:pt x="47625" y="1620862"/>
                  </a:lnTo>
                  <a:close/>
                </a:path>
                <a:path w="47625" h="2105025">
                  <a:moveTo>
                    <a:pt x="47625" y="1392262"/>
                  </a:moveTo>
                  <a:lnTo>
                    <a:pt x="26962" y="1371600"/>
                  </a:lnTo>
                  <a:lnTo>
                    <a:pt x="20650" y="1371600"/>
                  </a:lnTo>
                  <a:lnTo>
                    <a:pt x="0" y="1392262"/>
                  </a:lnTo>
                  <a:lnTo>
                    <a:pt x="0" y="1398574"/>
                  </a:lnTo>
                  <a:lnTo>
                    <a:pt x="20650" y="1419225"/>
                  </a:lnTo>
                  <a:lnTo>
                    <a:pt x="26962" y="1419225"/>
                  </a:lnTo>
                  <a:lnTo>
                    <a:pt x="47625" y="1398574"/>
                  </a:lnTo>
                  <a:lnTo>
                    <a:pt x="47625" y="1395412"/>
                  </a:lnTo>
                  <a:lnTo>
                    <a:pt x="47625" y="1392262"/>
                  </a:lnTo>
                  <a:close/>
                </a:path>
                <a:path w="47625" h="2105025">
                  <a:moveTo>
                    <a:pt x="47625" y="1163662"/>
                  </a:moveTo>
                  <a:lnTo>
                    <a:pt x="26962" y="1143000"/>
                  </a:lnTo>
                  <a:lnTo>
                    <a:pt x="20650" y="1143000"/>
                  </a:lnTo>
                  <a:lnTo>
                    <a:pt x="0" y="1163662"/>
                  </a:lnTo>
                  <a:lnTo>
                    <a:pt x="0" y="1169974"/>
                  </a:lnTo>
                  <a:lnTo>
                    <a:pt x="20650" y="1190625"/>
                  </a:lnTo>
                  <a:lnTo>
                    <a:pt x="26962" y="1190625"/>
                  </a:lnTo>
                  <a:lnTo>
                    <a:pt x="47625" y="1169974"/>
                  </a:lnTo>
                  <a:lnTo>
                    <a:pt x="47625" y="1166812"/>
                  </a:lnTo>
                  <a:lnTo>
                    <a:pt x="47625" y="1163662"/>
                  </a:lnTo>
                  <a:close/>
                </a:path>
                <a:path w="47625" h="2105025">
                  <a:moveTo>
                    <a:pt x="47625" y="935062"/>
                  </a:moveTo>
                  <a:lnTo>
                    <a:pt x="26962" y="914400"/>
                  </a:lnTo>
                  <a:lnTo>
                    <a:pt x="20650" y="914400"/>
                  </a:lnTo>
                  <a:lnTo>
                    <a:pt x="0" y="935062"/>
                  </a:lnTo>
                  <a:lnTo>
                    <a:pt x="0" y="941374"/>
                  </a:lnTo>
                  <a:lnTo>
                    <a:pt x="20650" y="962025"/>
                  </a:lnTo>
                  <a:lnTo>
                    <a:pt x="26962" y="962025"/>
                  </a:lnTo>
                  <a:lnTo>
                    <a:pt x="47625" y="941374"/>
                  </a:lnTo>
                  <a:lnTo>
                    <a:pt x="47625" y="938212"/>
                  </a:lnTo>
                  <a:lnTo>
                    <a:pt x="47625" y="935062"/>
                  </a:lnTo>
                  <a:close/>
                </a:path>
                <a:path w="47625" h="2105025">
                  <a:moveTo>
                    <a:pt x="47625" y="706462"/>
                  </a:moveTo>
                  <a:lnTo>
                    <a:pt x="26962" y="685800"/>
                  </a:lnTo>
                  <a:lnTo>
                    <a:pt x="20650" y="685800"/>
                  </a:lnTo>
                  <a:lnTo>
                    <a:pt x="0" y="706462"/>
                  </a:lnTo>
                  <a:lnTo>
                    <a:pt x="0" y="712774"/>
                  </a:lnTo>
                  <a:lnTo>
                    <a:pt x="20650" y="733425"/>
                  </a:lnTo>
                  <a:lnTo>
                    <a:pt x="26962" y="733425"/>
                  </a:lnTo>
                  <a:lnTo>
                    <a:pt x="47625" y="712774"/>
                  </a:lnTo>
                  <a:lnTo>
                    <a:pt x="47625" y="709612"/>
                  </a:lnTo>
                  <a:lnTo>
                    <a:pt x="47625" y="706462"/>
                  </a:lnTo>
                  <a:close/>
                </a:path>
                <a:path w="47625" h="2105025">
                  <a:moveTo>
                    <a:pt x="47625" y="477862"/>
                  </a:moveTo>
                  <a:lnTo>
                    <a:pt x="26962" y="457200"/>
                  </a:lnTo>
                  <a:lnTo>
                    <a:pt x="20650" y="457200"/>
                  </a:lnTo>
                  <a:lnTo>
                    <a:pt x="0" y="477862"/>
                  </a:lnTo>
                  <a:lnTo>
                    <a:pt x="0" y="484174"/>
                  </a:lnTo>
                  <a:lnTo>
                    <a:pt x="20650" y="504825"/>
                  </a:lnTo>
                  <a:lnTo>
                    <a:pt x="26962" y="504825"/>
                  </a:lnTo>
                  <a:lnTo>
                    <a:pt x="47625" y="484174"/>
                  </a:lnTo>
                  <a:lnTo>
                    <a:pt x="47625" y="481012"/>
                  </a:lnTo>
                  <a:lnTo>
                    <a:pt x="47625" y="477862"/>
                  </a:lnTo>
                  <a:close/>
                </a:path>
                <a:path w="47625" h="2105025">
                  <a:moveTo>
                    <a:pt x="47625" y="249262"/>
                  </a:moveTo>
                  <a:lnTo>
                    <a:pt x="26962" y="228600"/>
                  </a:lnTo>
                  <a:lnTo>
                    <a:pt x="20650" y="228600"/>
                  </a:lnTo>
                  <a:lnTo>
                    <a:pt x="0" y="249262"/>
                  </a:lnTo>
                  <a:lnTo>
                    <a:pt x="0" y="255574"/>
                  </a:lnTo>
                  <a:lnTo>
                    <a:pt x="20650" y="276225"/>
                  </a:lnTo>
                  <a:lnTo>
                    <a:pt x="26962" y="276225"/>
                  </a:lnTo>
                  <a:lnTo>
                    <a:pt x="47625" y="255574"/>
                  </a:lnTo>
                  <a:lnTo>
                    <a:pt x="47625" y="252412"/>
                  </a:lnTo>
                  <a:lnTo>
                    <a:pt x="47625" y="249262"/>
                  </a:lnTo>
                  <a:close/>
                </a:path>
                <a:path w="47625" h="2105025">
                  <a:moveTo>
                    <a:pt x="47625" y="20662"/>
                  </a:moveTo>
                  <a:lnTo>
                    <a:pt x="26962" y="0"/>
                  </a:lnTo>
                  <a:lnTo>
                    <a:pt x="20650" y="0"/>
                  </a:lnTo>
                  <a:lnTo>
                    <a:pt x="0" y="20662"/>
                  </a:lnTo>
                  <a:lnTo>
                    <a:pt x="0" y="26974"/>
                  </a:lnTo>
                  <a:lnTo>
                    <a:pt x="20650" y="47625"/>
                  </a:lnTo>
                  <a:lnTo>
                    <a:pt x="26962" y="47625"/>
                  </a:lnTo>
                  <a:lnTo>
                    <a:pt x="47625" y="26974"/>
                  </a:lnTo>
                  <a:lnTo>
                    <a:pt x="47625" y="23812"/>
                  </a:lnTo>
                  <a:lnTo>
                    <a:pt x="47625" y="20662"/>
                  </a:lnTo>
                  <a:close/>
                </a:path>
              </a:pathLst>
            </a:custGeom>
            <a:solidFill>
              <a:srgbClr val="092A3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781433" y="6280244"/>
            <a:ext cx="4426585" cy="2311400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Accrual</a:t>
            </a:r>
            <a:r>
              <a:rPr dirty="0" sz="1250" spc="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basis</a:t>
            </a:r>
            <a:r>
              <a:rPr dirty="0" sz="1250" spc="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accounting</a:t>
            </a:r>
            <a:endParaRPr sz="12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Chart</a:t>
            </a:r>
            <a:r>
              <a:rPr dirty="0" sz="1250" spc="-3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of</a:t>
            </a:r>
            <a:r>
              <a:rPr dirty="0" sz="1250" spc="-2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accounts</a:t>
            </a:r>
            <a:r>
              <a:rPr dirty="0" sz="1250" spc="-2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design/setup</a:t>
            </a:r>
            <a:endParaRPr sz="1250">
              <a:latin typeface="Trebuchet MS"/>
              <a:cs typeface="Trebuchet MS"/>
            </a:endParaRPr>
          </a:p>
          <a:p>
            <a:pPr marL="12700" marR="36195">
              <a:lnSpc>
                <a:spcPct val="120000"/>
              </a:lnSpc>
            </a:pP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Transaction</a:t>
            </a:r>
            <a:r>
              <a:rPr dirty="0" sz="1250" spc="-7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recording</a:t>
            </a:r>
            <a:r>
              <a:rPr dirty="0" sz="1250" spc="-7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80">
                <a:solidFill>
                  <a:srgbClr val="092A3B"/>
                </a:solidFill>
                <a:latin typeface="Trebuchet MS"/>
                <a:cs typeface="Trebuchet MS"/>
              </a:rPr>
              <a:t>&amp;</a:t>
            </a:r>
            <a:r>
              <a:rPr dirty="0" sz="1250" spc="-7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coding</a:t>
            </a:r>
            <a:r>
              <a:rPr dirty="0" sz="1250" spc="-7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(up</a:t>
            </a:r>
            <a:r>
              <a:rPr dirty="0" sz="1250" spc="-7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to</a:t>
            </a:r>
            <a:r>
              <a:rPr dirty="0" sz="1250" spc="-7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10</a:t>
            </a:r>
            <a:r>
              <a:rPr dirty="0" sz="1250" spc="-7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transactions/month) Journal</a:t>
            </a:r>
            <a:r>
              <a:rPr dirty="0" sz="1250" spc="-7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entries</a:t>
            </a:r>
            <a:endParaRPr sz="1250">
              <a:latin typeface="Trebuchet MS"/>
              <a:cs typeface="Trebuchet MS"/>
            </a:endParaRPr>
          </a:p>
          <a:p>
            <a:pPr marL="12700" marR="2240915">
              <a:lnSpc>
                <a:spcPct val="120000"/>
              </a:lnSpc>
            </a:pPr>
            <a:r>
              <a:rPr dirty="0" sz="1250" spc="-35">
                <a:solidFill>
                  <a:srgbClr val="092A3B"/>
                </a:solidFill>
                <a:latin typeface="Trebuchet MS"/>
                <a:cs typeface="Trebuchet MS"/>
              </a:rPr>
              <a:t>Bank/credit</a:t>
            </a:r>
            <a:r>
              <a:rPr dirty="0" sz="1250" spc="-3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card</a:t>
            </a:r>
            <a:r>
              <a:rPr dirty="0" sz="1250" spc="-25">
                <a:solidFill>
                  <a:srgbClr val="092A3B"/>
                </a:solidFill>
                <a:latin typeface="Trebuchet MS"/>
                <a:cs typeface="Trebuchet MS"/>
              </a:rPr>
              <a:t> reconciliation </a:t>
            </a:r>
            <a:r>
              <a:rPr dirty="0" sz="1250" spc="80">
                <a:solidFill>
                  <a:srgbClr val="092A3B"/>
                </a:solidFill>
                <a:latin typeface="Trebuchet MS"/>
                <a:cs typeface="Trebuchet MS"/>
              </a:rPr>
              <a:t>AR</a:t>
            </a:r>
            <a:r>
              <a:rPr dirty="0" sz="1250" spc="-80">
                <a:solidFill>
                  <a:srgbClr val="092A3B"/>
                </a:solidFill>
                <a:latin typeface="Trebuchet MS"/>
                <a:cs typeface="Trebuchet MS"/>
              </a:rPr>
              <a:t> &amp;</a:t>
            </a:r>
            <a:r>
              <a:rPr dirty="0" sz="1250" spc="-7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90">
                <a:solidFill>
                  <a:srgbClr val="092A3B"/>
                </a:solidFill>
                <a:latin typeface="Trebuchet MS"/>
                <a:cs typeface="Trebuchet MS"/>
              </a:rPr>
              <a:t>AP</a:t>
            </a:r>
            <a:r>
              <a:rPr dirty="0" sz="1250" spc="-8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ageing</a:t>
            </a:r>
            <a:r>
              <a:rPr dirty="0" sz="1250" spc="-7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reports</a:t>
            </a:r>
            <a:endParaRPr sz="1250">
              <a:latin typeface="Trebuchet MS"/>
              <a:cs typeface="Trebuchet MS"/>
            </a:endParaRPr>
          </a:p>
          <a:p>
            <a:pPr marL="12700" marR="5080">
              <a:lnSpc>
                <a:spcPct val="120000"/>
              </a:lnSpc>
            </a:pP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Monthly</a:t>
            </a:r>
            <a:r>
              <a:rPr dirty="0" sz="1250" spc="-6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40">
                <a:solidFill>
                  <a:srgbClr val="092A3B"/>
                </a:solidFill>
                <a:latin typeface="Trebuchet MS"/>
                <a:cs typeface="Trebuchet MS"/>
              </a:rPr>
              <a:t>financial</a:t>
            </a:r>
            <a:r>
              <a:rPr dirty="0" sz="1250" spc="-5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statements</a:t>
            </a:r>
            <a:r>
              <a:rPr dirty="0" sz="1250" spc="-5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50">
                <a:solidFill>
                  <a:srgbClr val="092A3B"/>
                </a:solidFill>
                <a:latin typeface="Trebuchet MS"/>
                <a:cs typeface="Trebuchet MS"/>
              </a:rPr>
              <a:t>(P&amp;L,</a:t>
            </a:r>
            <a:r>
              <a:rPr dirty="0" sz="1250" spc="-5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Balance</a:t>
            </a:r>
            <a:r>
              <a:rPr dirty="0" sz="1250" spc="-5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Sheet,</a:t>
            </a:r>
            <a:r>
              <a:rPr dirty="0" sz="1250" spc="-5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75">
                <a:solidFill>
                  <a:srgbClr val="092A3B"/>
                </a:solidFill>
                <a:latin typeface="Trebuchet MS"/>
                <a:cs typeface="Trebuchet MS"/>
              </a:rPr>
              <a:t>Cash</a:t>
            </a:r>
            <a:r>
              <a:rPr dirty="0" sz="1250" spc="-5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Flow) </a:t>
            </a:r>
            <a:r>
              <a:rPr dirty="0" sz="1250" spc="75">
                <a:solidFill>
                  <a:srgbClr val="092A3B"/>
                </a:solidFill>
                <a:latin typeface="Trebuchet MS"/>
                <a:cs typeface="Trebuchet MS"/>
              </a:rPr>
              <a:t>VAT</a:t>
            </a:r>
            <a:r>
              <a:rPr dirty="0" sz="1250" spc="-5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80">
                <a:solidFill>
                  <a:srgbClr val="092A3B"/>
                </a:solidFill>
                <a:latin typeface="Trebuchet MS"/>
                <a:cs typeface="Trebuchet MS"/>
              </a:rPr>
              <a:t>&amp;</a:t>
            </a:r>
            <a:r>
              <a:rPr dirty="0" sz="1250" spc="-5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Corporate</a:t>
            </a:r>
            <a:r>
              <a:rPr dirty="0" sz="1250" spc="-4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Tax</a:t>
            </a:r>
            <a:r>
              <a:rPr dirty="0" sz="1250" spc="-5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25">
                <a:solidFill>
                  <a:srgbClr val="092A3B"/>
                </a:solidFill>
                <a:latin typeface="Trebuchet MS"/>
                <a:cs typeface="Trebuchet MS"/>
              </a:rPr>
              <a:t>registration</a:t>
            </a:r>
            <a:r>
              <a:rPr dirty="0" sz="1250" spc="-4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and</a:t>
            </a:r>
            <a:r>
              <a:rPr dirty="0" sz="1250" spc="-5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filing</a:t>
            </a:r>
            <a:endParaRPr sz="12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Dedicated</a:t>
            </a:r>
            <a:r>
              <a:rPr dirty="0" sz="1250" spc="-3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support</a:t>
            </a:r>
            <a:r>
              <a:rPr dirty="0" sz="1250" spc="-2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manager</a:t>
            </a:r>
            <a:endParaRPr sz="12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1250" spc="-30">
                <a:solidFill>
                  <a:srgbClr val="092A3B"/>
                </a:solidFill>
                <a:latin typeface="Trebuchet MS"/>
                <a:cs typeface="Trebuchet MS"/>
              </a:rPr>
              <a:t>Client</a:t>
            </a:r>
            <a:r>
              <a:rPr dirty="0" sz="1250" spc="-8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30">
                <a:solidFill>
                  <a:srgbClr val="092A3B"/>
                </a:solidFill>
                <a:latin typeface="Trebuchet MS"/>
                <a:cs typeface="Trebuchet MS"/>
              </a:rPr>
              <a:t>portal</a:t>
            </a:r>
            <a:r>
              <a:rPr dirty="0" sz="1250" spc="-8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55">
                <a:solidFill>
                  <a:srgbClr val="092A3B"/>
                </a:solidFill>
                <a:latin typeface="Trebuchet MS"/>
                <a:cs typeface="Trebuchet MS"/>
              </a:rPr>
              <a:t>access</a:t>
            </a:r>
            <a:r>
              <a:rPr dirty="0" sz="1250" spc="-7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25">
                <a:solidFill>
                  <a:srgbClr val="092A3B"/>
                </a:solidFill>
                <a:latin typeface="Trebuchet MS"/>
                <a:cs typeface="Trebuchet MS"/>
              </a:rPr>
              <a:t>with</a:t>
            </a:r>
            <a:r>
              <a:rPr dirty="0" sz="1250" spc="-8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40">
                <a:solidFill>
                  <a:srgbClr val="092A3B"/>
                </a:solidFill>
                <a:latin typeface="Trebuchet MS"/>
                <a:cs typeface="Trebuchet MS"/>
              </a:rPr>
              <a:t>unlimited</a:t>
            </a:r>
            <a:r>
              <a:rPr dirty="0" sz="1250" spc="-7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50">
                <a:solidFill>
                  <a:srgbClr val="092A3B"/>
                </a:solidFill>
                <a:latin typeface="Trebuchet MS"/>
                <a:cs typeface="Trebuchet MS"/>
              </a:rPr>
              <a:t>email/chat</a:t>
            </a:r>
            <a:r>
              <a:rPr dirty="0" sz="1250" spc="-8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support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16000" y="9647656"/>
            <a:ext cx="1519555" cy="208279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200" spc="-10">
                <a:solidFill>
                  <a:srgbClr val="092A3B"/>
                </a:solidFill>
                <a:latin typeface="Trebuchet MS"/>
                <a:cs typeface="Trebuchet MS"/>
                <a:hlinkClick r:id="rId3"/>
              </a:rPr>
              <a:t>www.finanshels.com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5" name="object 15"/>
          <p:cNvSpPr txBox="1"/>
          <p:nvPr/>
        </p:nvSpPr>
        <p:spPr>
          <a:xfrm>
            <a:off x="1549690" y="5710688"/>
            <a:ext cx="1814830" cy="24955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50" spc="55" b="1">
                <a:solidFill>
                  <a:srgbClr val="092A3B"/>
                </a:solidFill>
                <a:latin typeface="Trebuchet MS"/>
                <a:cs typeface="Trebuchet MS"/>
              </a:rPr>
              <a:t>INCLUDED</a:t>
            </a:r>
            <a:r>
              <a:rPr dirty="0" sz="1450" spc="-130" b="1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92A3B"/>
                </a:solidFill>
                <a:latin typeface="Trebuchet MS"/>
                <a:cs typeface="Trebuchet MS"/>
              </a:rPr>
              <a:t>IN</a:t>
            </a:r>
            <a:r>
              <a:rPr dirty="0" sz="1450" spc="-125" b="1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450" spc="90" b="1">
                <a:solidFill>
                  <a:srgbClr val="092A3B"/>
                </a:solidFill>
                <a:latin typeface="Trebuchet MS"/>
                <a:cs typeface="Trebuchet MS"/>
              </a:rPr>
              <a:t>SCOPE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143260" y="6411765"/>
            <a:ext cx="5721985" cy="1854200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Accounting</a:t>
            </a:r>
            <a:r>
              <a:rPr dirty="0" sz="1250" spc="-3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software</a:t>
            </a:r>
            <a:r>
              <a:rPr dirty="0" sz="1250" spc="-3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subscription</a:t>
            </a:r>
            <a:r>
              <a:rPr dirty="0" sz="1250" spc="-3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30">
                <a:solidFill>
                  <a:srgbClr val="092A3B"/>
                </a:solidFill>
                <a:latin typeface="Trebuchet MS"/>
                <a:cs typeface="Trebuchet MS"/>
              </a:rPr>
              <a:t>costs</a:t>
            </a:r>
            <a:endParaRPr sz="1250">
              <a:latin typeface="Trebuchet MS"/>
              <a:cs typeface="Trebuchet MS"/>
            </a:endParaRPr>
          </a:p>
          <a:p>
            <a:pPr marL="12700" marR="187960">
              <a:lnSpc>
                <a:spcPct val="120000"/>
              </a:lnSpc>
            </a:pP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Finance</a:t>
            </a:r>
            <a:r>
              <a:rPr dirty="0" sz="1250" spc="-3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operations</a:t>
            </a:r>
            <a:r>
              <a:rPr dirty="0" sz="1250" spc="-2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35">
                <a:solidFill>
                  <a:srgbClr val="092A3B"/>
                </a:solidFill>
                <a:latin typeface="Trebuchet MS"/>
                <a:cs typeface="Trebuchet MS"/>
              </a:rPr>
              <a:t>(invoicing,</a:t>
            </a:r>
            <a:r>
              <a:rPr dirty="0" sz="1250" spc="-3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accounts</a:t>
            </a:r>
            <a:r>
              <a:rPr dirty="0" sz="1250" spc="-25">
                <a:solidFill>
                  <a:srgbClr val="092A3B"/>
                </a:solidFill>
                <a:latin typeface="Trebuchet MS"/>
                <a:cs typeface="Trebuchet MS"/>
              </a:rPr>
              <a:t> receivable/payable </a:t>
            </a:r>
            <a:r>
              <a:rPr dirty="0" sz="1250" spc="-45">
                <a:solidFill>
                  <a:srgbClr val="092A3B"/>
                </a:solidFill>
                <a:latin typeface="Trebuchet MS"/>
                <a:cs typeface="Trebuchet MS"/>
              </a:rPr>
              <a:t>collection,</a:t>
            </a:r>
            <a:r>
              <a:rPr dirty="0" sz="1250" spc="-3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payroll,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and</a:t>
            </a:r>
            <a:r>
              <a:rPr dirty="0" sz="1250" spc="-8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25">
                <a:solidFill>
                  <a:srgbClr val="092A3B"/>
                </a:solidFill>
                <a:latin typeface="Trebuchet MS"/>
                <a:cs typeface="Trebuchet MS"/>
              </a:rPr>
              <a:t>daily</a:t>
            </a:r>
            <a:r>
              <a:rPr dirty="0" sz="1250" spc="-7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55">
                <a:solidFill>
                  <a:srgbClr val="092A3B"/>
                </a:solidFill>
                <a:latin typeface="Trebuchet MS"/>
                <a:cs typeface="Trebuchet MS"/>
              </a:rPr>
              <a:t>cash</a:t>
            </a:r>
            <a:r>
              <a:rPr dirty="0" sz="1250" spc="-8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flow</a:t>
            </a:r>
            <a:r>
              <a:rPr dirty="0" sz="1250" spc="-7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management)</a:t>
            </a:r>
            <a:endParaRPr sz="1250">
              <a:latin typeface="Trebuchet MS"/>
              <a:cs typeface="Trebuchet MS"/>
            </a:endParaRPr>
          </a:p>
          <a:p>
            <a:pPr marL="12700" marR="4646295">
              <a:lnSpc>
                <a:spcPct val="120000"/>
              </a:lnSpc>
            </a:pPr>
            <a:r>
              <a:rPr dirty="0" sz="1250" spc="50">
                <a:solidFill>
                  <a:srgbClr val="092A3B"/>
                </a:solidFill>
                <a:latin typeface="Trebuchet MS"/>
                <a:cs typeface="Trebuchet MS"/>
              </a:rPr>
              <a:t>On-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site</a:t>
            </a:r>
            <a:r>
              <a:rPr dirty="0" sz="1250" spc="-11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visits </a:t>
            </a:r>
            <a:r>
              <a:rPr dirty="0" sz="1250" spc="-25">
                <a:solidFill>
                  <a:srgbClr val="092A3B"/>
                </a:solidFill>
                <a:latin typeface="Trebuchet MS"/>
                <a:cs typeface="Trebuchet MS"/>
              </a:rPr>
              <a:t>External</a:t>
            </a:r>
            <a:r>
              <a:rPr dirty="0" sz="1250" spc="-6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audits</a:t>
            </a:r>
            <a:endParaRPr sz="1250">
              <a:latin typeface="Trebuchet MS"/>
              <a:cs typeface="Trebuchet MS"/>
            </a:endParaRPr>
          </a:p>
          <a:p>
            <a:pPr marL="12700" marR="3978275">
              <a:lnSpc>
                <a:spcPct val="120000"/>
              </a:lnSpc>
            </a:pP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Specialized</a:t>
            </a:r>
            <a:r>
              <a:rPr dirty="0" sz="1250" spc="-10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tax</a:t>
            </a:r>
            <a:r>
              <a:rPr dirty="0" sz="1250" spc="-10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advisory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Transfer</a:t>
            </a:r>
            <a:r>
              <a:rPr dirty="0" sz="1250" spc="-5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pricing</a:t>
            </a:r>
            <a:endParaRPr sz="12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Transactions</a:t>
            </a:r>
            <a:r>
              <a:rPr dirty="0" sz="1250" spc="-6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exceeding</a:t>
            </a:r>
            <a:r>
              <a:rPr dirty="0" sz="1250" spc="-5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the</a:t>
            </a:r>
            <a:r>
              <a:rPr dirty="0" sz="1250" spc="-5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40">
                <a:solidFill>
                  <a:srgbClr val="092A3B"/>
                </a:solidFill>
                <a:latin typeface="Trebuchet MS"/>
                <a:cs typeface="Trebuchet MS"/>
              </a:rPr>
              <a:t>10/month</a:t>
            </a:r>
            <a:r>
              <a:rPr dirty="0" sz="1250" spc="-5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80">
                <a:solidFill>
                  <a:srgbClr val="092A3B"/>
                </a:solidFill>
                <a:latin typeface="Trebuchet MS"/>
                <a:cs typeface="Trebuchet MS"/>
              </a:rPr>
              <a:t>limit</a:t>
            </a:r>
            <a:r>
              <a:rPr dirty="0" sz="1250" spc="-5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for</a:t>
            </a:r>
            <a:r>
              <a:rPr dirty="0" sz="1250" spc="-5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recurring</a:t>
            </a:r>
            <a:r>
              <a:rPr dirty="0" sz="1250" spc="-5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or</a:t>
            </a:r>
            <a:r>
              <a:rPr dirty="0" sz="1250" spc="-5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100</a:t>
            </a:r>
            <a:r>
              <a:rPr dirty="0" sz="1250" spc="-5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50">
                <a:solidFill>
                  <a:srgbClr val="092A3B"/>
                </a:solidFill>
                <a:latin typeface="Trebuchet MS"/>
                <a:cs typeface="Trebuchet MS"/>
              </a:rPr>
              <a:t>total</a:t>
            </a:r>
            <a:r>
              <a:rPr dirty="0" sz="1250" spc="-5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for</a:t>
            </a:r>
            <a:r>
              <a:rPr dirty="0" sz="1250" spc="-5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catch-</a:t>
            </a:r>
            <a:r>
              <a:rPr dirty="0" sz="1250" spc="-25">
                <a:solidFill>
                  <a:srgbClr val="092A3B"/>
                </a:solidFill>
                <a:latin typeface="Trebuchet MS"/>
                <a:cs typeface="Trebuchet MS"/>
              </a:rPr>
              <a:t>up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865547" y="5772139"/>
            <a:ext cx="1357630" cy="24955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50" spc="65" b="1">
                <a:solidFill>
                  <a:srgbClr val="FF741F"/>
                </a:solidFill>
                <a:latin typeface="Trebuchet MS"/>
                <a:cs typeface="Trebuchet MS"/>
              </a:rPr>
              <a:t>OUT</a:t>
            </a:r>
            <a:r>
              <a:rPr dirty="0" sz="1450" spc="-140" b="1">
                <a:solidFill>
                  <a:srgbClr val="FF741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FF741F"/>
                </a:solidFill>
                <a:latin typeface="Trebuchet MS"/>
                <a:cs typeface="Trebuchet MS"/>
              </a:rPr>
              <a:t>OF</a:t>
            </a:r>
            <a:r>
              <a:rPr dirty="0" sz="1450" spc="-140" b="1">
                <a:solidFill>
                  <a:srgbClr val="FF741F"/>
                </a:solidFill>
                <a:latin typeface="Trebuchet MS"/>
                <a:cs typeface="Trebuchet MS"/>
              </a:rPr>
              <a:t> </a:t>
            </a:r>
            <a:r>
              <a:rPr dirty="0" sz="1450" spc="90" b="1">
                <a:solidFill>
                  <a:srgbClr val="FF741F"/>
                </a:solidFill>
                <a:latin typeface="Trebuchet MS"/>
                <a:cs typeface="Trebuchet MS"/>
              </a:rPr>
              <a:t>SCOPE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700" y="698618"/>
            <a:ext cx="179705" cy="1083310"/>
          </a:xfrm>
          <a:custGeom>
            <a:avLst/>
            <a:gdLst/>
            <a:ahLst/>
            <a:cxnLst/>
            <a:rect l="l" t="t" r="r" b="b"/>
            <a:pathLst>
              <a:path w="179705" h="1083310">
                <a:moveTo>
                  <a:pt x="179550" y="1082912"/>
                </a:moveTo>
                <a:lnTo>
                  <a:pt x="0" y="1082912"/>
                </a:lnTo>
                <a:lnTo>
                  <a:pt x="0" y="0"/>
                </a:lnTo>
                <a:lnTo>
                  <a:pt x="179550" y="0"/>
                </a:lnTo>
                <a:lnTo>
                  <a:pt x="179550" y="1082912"/>
                </a:lnTo>
                <a:close/>
              </a:path>
            </a:pathLst>
          </a:custGeom>
          <a:solidFill>
            <a:srgbClr val="F1660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8439077" y="4361991"/>
            <a:ext cx="6807200" cy="3143250"/>
            <a:chOff x="8439077" y="4361991"/>
            <a:chExt cx="6807200" cy="3143250"/>
          </a:xfrm>
        </p:grpSpPr>
        <p:sp>
          <p:nvSpPr>
            <p:cNvPr id="4" name="object 4"/>
            <p:cNvSpPr/>
            <p:nvPr/>
          </p:nvSpPr>
          <p:spPr>
            <a:xfrm>
              <a:off x="8448602" y="4371522"/>
              <a:ext cx="6786880" cy="3125470"/>
            </a:xfrm>
            <a:custGeom>
              <a:avLst/>
              <a:gdLst/>
              <a:ahLst/>
              <a:cxnLst/>
              <a:rect l="l" t="t" r="r" b="b"/>
              <a:pathLst>
                <a:path w="6786880" h="3125470">
                  <a:moveTo>
                    <a:pt x="6597572" y="3124855"/>
                  </a:moveTo>
                  <a:lnTo>
                    <a:pt x="190500" y="3124855"/>
                  </a:lnTo>
                  <a:lnTo>
                    <a:pt x="153162" y="3121162"/>
                  </a:lnTo>
                  <a:lnTo>
                    <a:pt x="84810" y="3092849"/>
                  </a:lnTo>
                  <a:lnTo>
                    <a:pt x="32006" y="3040045"/>
                  </a:lnTo>
                  <a:lnTo>
                    <a:pt x="3694" y="2971694"/>
                  </a:lnTo>
                  <a:lnTo>
                    <a:pt x="0" y="2934356"/>
                  </a:lnTo>
                  <a:lnTo>
                    <a:pt x="0" y="190500"/>
                  </a:lnTo>
                  <a:lnTo>
                    <a:pt x="14500" y="117598"/>
                  </a:lnTo>
                  <a:lnTo>
                    <a:pt x="55796" y="55796"/>
                  </a:lnTo>
                  <a:lnTo>
                    <a:pt x="117599" y="14501"/>
                  </a:lnTo>
                  <a:lnTo>
                    <a:pt x="190500" y="0"/>
                  </a:lnTo>
                  <a:lnTo>
                    <a:pt x="6597572" y="0"/>
                  </a:lnTo>
                  <a:lnTo>
                    <a:pt x="6670473" y="14501"/>
                  </a:lnTo>
                  <a:lnTo>
                    <a:pt x="6732276" y="55796"/>
                  </a:lnTo>
                  <a:lnTo>
                    <a:pt x="6773572" y="117598"/>
                  </a:lnTo>
                  <a:lnTo>
                    <a:pt x="6786796" y="177593"/>
                  </a:lnTo>
                  <a:lnTo>
                    <a:pt x="6786796" y="2947262"/>
                  </a:lnTo>
                  <a:lnTo>
                    <a:pt x="6773572" y="3007257"/>
                  </a:lnTo>
                  <a:lnTo>
                    <a:pt x="6732276" y="3069060"/>
                  </a:lnTo>
                  <a:lnTo>
                    <a:pt x="6670473" y="3110355"/>
                  </a:lnTo>
                  <a:lnTo>
                    <a:pt x="6597572" y="3124855"/>
                  </a:lnTo>
                  <a:close/>
                </a:path>
              </a:pathLst>
            </a:custGeom>
            <a:solidFill>
              <a:srgbClr val="092A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448602" y="4371516"/>
              <a:ext cx="6788150" cy="3124200"/>
            </a:xfrm>
            <a:custGeom>
              <a:avLst/>
              <a:gdLst/>
              <a:ahLst/>
              <a:cxnLst/>
              <a:rect l="l" t="t" r="r" b="b"/>
              <a:pathLst>
                <a:path w="6788150" h="3124200">
                  <a:moveTo>
                    <a:pt x="183871" y="3124152"/>
                  </a:moveTo>
                  <a:lnTo>
                    <a:pt x="117614" y="3110368"/>
                  </a:lnTo>
                  <a:lnTo>
                    <a:pt x="55788" y="3069055"/>
                  </a:lnTo>
                  <a:lnTo>
                    <a:pt x="14489" y="3007224"/>
                  </a:lnTo>
                  <a:lnTo>
                    <a:pt x="0" y="2934304"/>
                  </a:lnTo>
                  <a:lnTo>
                    <a:pt x="0" y="190495"/>
                  </a:lnTo>
                  <a:lnTo>
                    <a:pt x="14513" y="117579"/>
                  </a:lnTo>
                  <a:lnTo>
                    <a:pt x="55828" y="55774"/>
                  </a:lnTo>
                  <a:lnTo>
                    <a:pt x="117646" y="14491"/>
                  </a:lnTo>
                  <a:lnTo>
                    <a:pt x="190551" y="0"/>
                  </a:lnTo>
                  <a:lnTo>
                    <a:pt x="6597499" y="4"/>
                  </a:lnTo>
                  <a:lnTo>
                    <a:pt x="6670416" y="14474"/>
                  </a:lnTo>
                  <a:lnTo>
                    <a:pt x="6732245" y="55763"/>
                  </a:lnTo>
                  <a:lnTo>
                    <a:pt x="6773565" y="117580"/>
                  </a:lnTo>
                  <a:lnTo>
                    <a:pt x="6788074" y="190501"/>
                  </a:lnTo>
                  <a:lnTo>
                    <a:pt x="6788078" y="2934312"/>
                  </a:lnTo>
                  <a:lnTo>
                    <a:pt x="6784389" y="2971668"/>
                  </a:lnTo>
                  <a:lnTo>
                    <a:pt x="6756065" y="3040053"/>
                  </a:lnTo>
                  <a:lnTo>
                    <a:pt x="6703229" y="3092873"/>
                  </a:lnTo>
                  <a:lnTo>
                    <a:pt x="6634844" y="3121174"/>
                  </a:lnTo>
                  <a:lnTo>
                    <a:pt x="6604199" y="3124137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0357" y="838028"/>
            <a:ext cx="2647949" cy="3524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80563" y="1279642"/>
            <a:ext cx="1428749" cy="2285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84659" y="9722024"/>
            <a:ext cx="225674" cy="225673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1019175" y="4361991"/>
            <a:ext cx="6807200" cy="3143250"/>
            <a:chOff x="1019175" y="4361991"/>
            <a:chExt cx="6807200" cy="3143250"/>
          </a:xfrm>
        </p:grpSpPr>
        <p:sp>
          <p:nvSpPr>
            <p:cNvPr id="10" name="object 10"/>
            <p:cNvSpPr/>
            <p:nvPr/>
          </p:nvSpPr>
          <p:spPr>
            <a:xfrm>
              <a:off x="1028699" y="4371522"/>
              <a:ext cx="6786880" cy="3125470"/>
            </a:xfrm>
            <a:custGeom>
              <a:avLst/>
              <a:gdLst/>
              <a:ahLst/>
              <a:cxnLst/>
              <a:rect l="l" t="t" r="r" b="b"/>
              <a:pathLst>
                <a:path w="6786880" h="3125470">
                  <a:moveTo>
                    <a:pt x="6597572" y="3124855"/>
                  </a:moveTo>
                  <a:lnTo>
                    <a:pt x="190500" y="3124855"/>
                  </a:lnTo>
                  <a:lnTo>
                    <a:pt x="153161" y="3121162"/>
                  </a:lnTo>
                  <a:lnTo>
                    <a:pt x="84810" y="3092849"/>
                  </a:lnTo>
                  <a:lnTo>
                    <a:pt x="32006" y="3040045"/>
                  </a:lnTo>
                  <a:lnTo>
                    <a:pt x="3694" y="2971694"/>
                  </a:lnTo>
                  <a:lnTo>
                    <a:pt x="0" y="2934356"/>
                  </a:lnTo>
                  <a:lnTo>
                    <a:pt x="0" y="190500"/>
                  </a:lnTo>
                  <a:lnTo>
                    <a:pt x="14500" y="117598"/>
                  </a:lnTo>
                  <a:lnTo>
                    <a:pt x="55796" y="55796"/>
                  </a:lnTo>
                  <a:lnTo>
                    <a:pt x="117598" y="14501"/>
                  </a:lnTo>
                  <a:lnTo>
                    <a:pt x="190500" y="0"/>
                  </a:lnTo>
                  <a:lnTo>
                    <a:pt x="6597572" y="0"/>
                  </a:lnTo>
                  <a:lnTo>
                    <a:pt x="6670474" y="14501"/>
                  </a:lnTo>
                  <a:lnTo>
                    <a:pt x="6732276" y="55796"/>
                  </a:lnTo>
                  <a:lnTo>
                    <a:pt x="6773572" y="117598"/>
                  </a:lnTo>
                  <a:lnTo>
                    <a:pt x="6786796" y="177597"/>
                  </a:lnTo>
                  <a:lnTo>
                    <a:pt x="6786796" y="2947259"/>
                  </a:lnTo>
                  <a:lnTo>
                    <a:pt x="6773572" y="3007257"/>
                  </a:lnTo>
                  <a:lnTo>
                    <a:pt x="6732276" y="3069060"/>
                  </a:lnTo>
                  <a:lnTo>
                    <a:pt x="6670474" y="3110355"/>
                  </a:lnTo>
                  <a:lnTo>
                    <a:pt x="6597572" y="3124855"/>
                  </a:lnTo>
                  <a:close/>
                </a:path>
              </a:pathLst>
            </a:custGeom>
            <a:solidFill>
              <a:srgbClr val="092A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028700" y="4371516"/>
              <a:ext cx="6788150" cy="3124200"/>
            </a:xfrm>
            <a:custGeom>
              <a:avLst/>
              <a:gdLst/>
              <a:ahLst/>
              <a:cxnLst/>
              <a:rect l="l" t="t" r="r" b="b"/>
              <a:pathLst>
                <a:path w="6788150" h="3124200">
                  <a:moveTo>
                    <a:pt x="183871" y="3124152"/>
                  </a:moveTo>
                  <a:lnTo>
                    <a:pt x="117614" y="3110368"/>
                  </a:lnTo>
                  <a:lnTo>
                    <a:pt x="55788" y="3069055"/>
                  </a:lnTo>
                  <a:lnTo>
                    <a:pt x="14489" y="3007224"/>
                  </a:lnTo>
                  <a:lnTo>
                    <a:pt x="0" y="2934304"/>
                  </a:lnTo>
                  <a:lnTo>
                    <a:pt x="0" y="190495"/>
                  </a:lnTo>
                  <a:lnTo>
                    <a:pt x="14514" y="117579"/>
                  </a:lnTo>
                  <a:lnTo>
                    <a:pt x="55828" y="55774"/>
                  </a:lnTo>
                  <a:lnTo>
                    <a:pt x="117647" y="14491"/>
                  </a:lnTo>
                  <a:lnTo>
                    <a:pt x="190551" y="0"/>
                  </a:lnTo>
                  <a:lnTo>
                    <a:pt x="6597499" y="5"/>
                  </a:lnTo>
                  <a:lnTo>
                    <a:pt x="6670416" y="14474"/>
                  </a:lnTo>
                  <a:lnTo>
                    <a:pt x="6732246" y="55763"/>
                  </a:lnTo>
                  <a:lnTo>
                    <a:pt x="6773565" y="117580"/>
                  </a:lnTo>
                  <a:lnTo>
                    <a:pt x="6788073" y="190501"/>
                  </a:lnTo>
                  <a:lnTo>
                    <a:pt x="6788078" y="2934312"/>
                  </a:lnTo>
                  <a:lnTo>
                    <a:pt x="6784389" y="2971668"/>
                  </a:lnTo>
                  <a:lnTo>
                    <a:pt x="6756065" y="3040053"/>
                  </a:lnTo>
                  <a:lnTo>
                    <a:pt x="6703229" y="3092873"/>
                  </a:lnTo>
                  <a:lnTo>
                    <a:pt x="6634844" y="3121174"/>
                  </a:lnTo>
                  <a:lnTo>
                    <a:pt x="6604200" y="3124137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524353" y="5176678"/>
              <a:ext cx="2774315" cy="0"/>
            </a:xfrm>
            <a:custGeom>
              <a:avLst/>
              <a:gdLst/>
              <a:ahLst/>
              <a:cxnLst/>
              <a:rect l="l" t="t" r="r" b="b"/>
              <a:pathLst>
                <a:path w="2774315" h="0">
                  <a:moveTo>
                    <a:pt x="0" y="0"/>
                  </a:moveTo>
                  <a:lnTo>
                    <a:pt x="2773804" y="0"/>
                  </a:lnTo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/>
          <p:nvPr/>
        </p:nvSpPr>
        <p:spPr>
          <a:xfrm>
            <a:off x="8846971" y="5176678"/>
            <a:ext cx="2774315" cy="0"/>
          </a:xfrm>
          <a:custGeom>
            <a:avLst/>
            <a:gdLst/>
            <a:ahLst/>
            <a:cxnLst/>
            <a:rect l="l" t="t" r="r" b="b"/>
            <a:pathLst>
              <a:path w="2774315" h="0">
                <a:moveTo>
                  <a:pt x="0" y="0"/>
                </a:moveTo>
                <a:lnTo>
                  <a:pt x="2773804" y="0"/>
                </a:lnTo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397657" y="1555000"/>
            <a:ext cx="1710055" cy="2209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 spc="-30" b="1">
                <a:latin typeface="Trebuchet MS"/>
                <a:cs typeface="Trebuchet MS"/>
              </a:rPr>
              <a:t>Trusted</a:t>
            </a:r>
            <a:r>
              <a:rPr dirty="0" sz="1250" spc="-229" b="1">
                <a:latin typeface="Trebuchet MS"/>
                <a:cs typeface="Trebuchet MS"/>
              </a:rPr>
              <a:t> </a:t>
            </a:r>
            <a:r>
              <a:rPr dirty="0" sz="1250" b="1">
                <a:latin typeface="Trebuchet MS"/>
                <a:cs typeface="Trebuchet MS"/>
              </a:rPr>
              <a:t>By</a:t>
            </a:r>
            <a:r>
              <a:rPr dirty="0" sz="1250" spc="-229" b="1">
                <a:latin typeface="Trebuchet MS"/>
                <a:cs typeface="Trebuchet MS"/>
              </a:rPr>
              <a:t> </a:t>
            </a:r>
            <a:r>
              <a:rPr dirty="0" sz="1250" spc="55" b="1">
                <a:latin typeface="Trebuchet MS"/>
                <a:cs typeface="Trebuchet MS"/>
              </a:rPr>
              <a:t>7000+SMEs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67936" y="3221529"/>
            <a:ext cx="5253990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0" spc="85" b="1">
                <a:solidFill>
                  <a:srgbClr val="092A3B"/>
                </a:solidFill>
                <a:latin typeface="Trebuchet MS"/>
                <a:cs typeface="Trebuchet MS"/>
              </a:rPr>
              <a:t>Engagement</a:t>
            </a:r>
            <a:r>
              <a:rPr dirty="0" sz="4500" spc="-550" b="1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4500" spc="95" b="1">
                <a:solidFill>
                  <a:srgbClr val="092A3B"/>
                </a:solidFill>
                <a:latin typeface="Trebuchet MS"/>
                <a:cs typeface="Trebuchet MS"/>
              </a:rPr>
              <a:t>Terms</a:t>
            </a:r>
            <a:endParaRPr sz="4500">
              <a:latin typeface="Trebuchet MS"/>
              <a:cs typeface="Trebuchet MS"/>
            </a:endParaRPr>
          </a:p>
        </p:txBody>
      </p: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8918" rIns="0" bIns="0" rtlCol="0" vert="horz">
            <a:spAutoFit/>
          </a:bodyPr>
          <a:lstStyle/>
          <a:p>
            <a:pPr marL="102235">
              <a:lnSpc>
                <a:spcPct val="100000"/>
              </a:lnSpc>
              <a:spcBef>
                <a:spcPts val="100"/>
              </a:spcBef>
            </a:pPr>
            <a:r>
              <a:rPr dirty="0" sz="2000" spc="105" b="0">
                <a:solidFill>
                  <a:srgbClr val="F1660F"/>
                </a:solidFill>
                <a:latin typeface="Trebuchet MS"/>
                <a:cs typeface="Trebuchet MS"/>
              </a:rPr>
              <a:t>ENGAGEMENT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22403" y="5324508"/>
            <a:ext cx="5305425" cy="18256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5000"/>
              </a:lnSpc>
              <a:spcBef>
                <a:spcPts val="90"/>
              </a:spcBef>
            </a:pPr>
            <a:r>
              <a:rPr dirty="0" sz="1250">
                <a:solidFill>
                  <a:srgbClr val="FFFFFF"/>
                </a:solidFill>
                <a:latin typeface="Trebuchet MS"/>
                <a:cs typeface="Trebuchet MS"/>
              </a:rPr>
              <a:t>One-</a:t>
            </a:r>
            <a:r>
              <a:rPr dirty="0" sz="1250" spc="-10">
                <a:solidFill>
                  <a:srgbClr val="FFFFFF"/>
                </a:solidFill>
                <a:latin typeface="Trebuchet MS"/>
                <a:cs typeface="Trebuchet MS"/>
              </a:rPr>
              <a:t>Time</a:t>
            </a:r>
            <a:r>
              <a:rPr dirty="0" sz="125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 spc="-45">
                <a:solidFill>
                  <a:srgbClr val="FFFFFF"/>
                </a:solidFill>
                <a:latin typeface="Trebuchet MS"/>
                <a:cs typeface="Trebuchet MS"/>
              </a:rPr>
              <a:t>Total:</a:t>
            </a:r>
            <a:r>
              <a:rPr dirty="0" sz="125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 spc="85">
                <a:solidFill>
                  <a:srgbClr val="FFFFFF"/>
                </a:solidFill>
                <a:latin typeface="Trebuchet MS"/>
                <a:cs typeface="Trebuchet MS"/>
              </a:rPr>
              <a:t>AED</a:t>
            </a:r>
            <a:r>
              <a:rPr dirty="0" sz="125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FFFFFF"/>
                </a:solidFill>
                <a:latin typeface="Trebuchet MS"/>
                <a:cs typeface="Trebuchet MS"/>
              </a:rPr>
              <a:t>1,500.00</a:t>
            </a:r>
            <a:r>
              <a:rPr dirty="0" sz="125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FFFFFF"/>
                </a:solidFill>
                <a:latin typeface="Trebuchet MS"/>
                <a:cs typeface="Trebuchet MS"/>
              </a:rPr>
              <a:t>(Requires</a:t>
            </a:r>
            <a:r>
              <a:rPr dirty="0" sz="125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 spc="85">
                <a:solidFill>
                  <a:srgbClr val="FFFFFF"/>
                </a:solidFill>
                <a:latin typeface="Trebuchet MS"/>
                <a:cs typeface="Trebuchet MS"/>
              </a:rPr>
              <a:t>100%</a:t>
            </a:r>
            <a:r>
              <a:rPr dirty="0" sz="125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 spc="-65">
                <a:solidFill>
                  <a:srgbClr val="FFFFFF"/>
                </a:solidFill>
                <a:latin typeface="Trebuchet MS"/>
                <a:cs typeface="Trebuchet MS"/>
              </a:rPr>
              <a:t>full</a:t>
            </a:r>
            <a:r>
              <a:rPr dirty="0" sz="125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FFFFFF"/>
                </a:solidFill>
                <a:latin typeface="Trebuchet MS"/>
                <a:cs typeface="Trebuchet MS"/>
              </a:rPr>
              <a:t>payment</a:t>
            </a:r>
            <a:r>
              <a:rPr dirty="0" sz="125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Trebuchet MS"/>
                <a:cs typeface="Trebuchet MS"/>
              </a:rPr>
              <a:t>upfront). </a:t>
            </a:r>
            <a:r>
              <a:rPr dirty="0" sz="1250">
                <a:solidFill>
                  <a:srgbClr val="FFFFFF"/>
                </a:solidFill>
                <a:latin typeface="Trebuchet MS"/>
                <a:cs typeface="Trebuchet MS"/>
              </a:rPr>
              <a:t>Recurring</a:t>
            </a:r>
            <a:r>
              <a:rPr dirty="0" sz="125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 spc="-45">
                <a:solidFill>
                  <a:srgbClr val="FFFFFF"/>
                </a:solidFill>
                <a:latin typeface="Trebuchet MS"/>
                <a:cs typeface="Trebuchet MS"/>
              </a:rPr>
              <a:t>Total:</a:t>
            </a:r>
            <a:r>
              <a:rPr dirty="0" sz="125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 spc="85">
                <a:solidFill>
                  <a:srgbClr val="FFFFFF"/>
                </a:solidFill>
                <a:latin typeface="Trebuchet MS"/>
                <a:cs typeface="Trebuchet MS"/>
              </a:rPr>
              <a:t>AED</a:t>
            </a:r>
            <a:r>
              <a:rPr dirty="0" sz="125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 spc="-20">
                <a:solidFill>
                  <a:srgbClr val="FFFFFF"/>
                </a:solidFill>
                <a:latin typeface="Trebuchet MS"/>
                <a:cs typeface="Trebuchet MS"/>
              </a:rPr>
              <a:t>1,000.00/month</a:t>
            </a:r>
            <a:r>
              <a:rPr dirty="0" sz="125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 spc="-30">
                <a:solidFill>
                  <a:srgbClr val="FFFFFF"/>
                </a:solidFill>
                <a:latin typeface="Trebuchet MS"/>
                <a:cs typeface="Trebuchet MS"/>
              </a:rPr>
              <a:t>(Automatically</a:t>
            </a:r>
            <a:r>
              <a:rPr dirty="0" sz="125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Trebuchet MS"/>
                <a:cs typeface="Trebuchet MS"/>
              </a:rPr>
              <a:t>debited</a:t>
            </a:r>
            <a:r>
              <a:rPr dirty="0" sz="125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 spc="-25">
                <a:solidFill>
                  <a:srgbClr val="FFFFFF"/>
                </a:solidFill>
                <a:latin typeface="Trebuchet MS"/>
                <a:cs typeface="Trebuchet MS"/>
              </a:rPr>
              <a:t>at</a:t>
            </a:r>
            <a:r>
              <a:rPr dirty="0" sz="125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125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 spc="-20">
                <a:solidFill>
                  <a:srgbClr val="FFFFFF"/>
                </a:solidFill>
                <a:latin typeface="Trebuchet MS"/>
                <a:cs typeface="Trebuchet MS"/>
              </a:rPr>
              <a:t>start</a:t>
            </a:r>
            <a:r>
              <a:rPr dirty="0" sz="125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 spc="-25">
                <a:solidFill>
                  <a:srgbClr val="FFFFFF"/>
                </a:solidFill>
                <a:latin typeface="Trebuchet MS"/>
                <a:cs typeface="Trebuchet MS"/>
              </a:rPr>
              <a:t>of </a:t>
            </a:r>
            <a:r>
              <a:rPr dirty="0" sz="1250">
                <a:solidFill>
                  <a:srgbClr val="FFFFFF"/>
                </a:solidFill>
                <a:latin typeface="Trebuchet MS"/>
                <a:cs typeface="Trebuchet MS"/>
              </a:rPr>
              <a:t>each</a:t>
            </a:r>
            <a:r>
              <a:rPr dirty="0" sz="125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Trebuchet MS"/>
                <a:cs typeface="Trebuchet MS"/>
              </a:rPr>
              <a:t>monthly</a:t>
            </a:r>
            <a:r>
              <a:rPr dirty="0" sz="125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 spc="-45">
                <a:solidFill>
                  <a:srgbClr val="FFFFFF"/>
                </a:solidFill>
                <a:latin typeface="Trebuchet MS"/>
                <a:cs typeface="Trebuchet MS"/>
              </a:rPr>
              <a:t>billing</a:t>
            </a:r>
            <a:r>
              <a:rPr dirty="0" sz="125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Trebuchet MS"/>
                <a:cs typeface="Trebuchet MS"/>
              </a:rPr>
              <a:t>cycle).</a:t>
            </a:r>
            <a:endParaRPr sz="12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1250" spc="75">
                <a:solidFill>
                  <a:srgbClr val="FFFFFF"/>
                </a:solidFill>
                <a:latin typeface="Trebuchet MS"/>
                <a:cs typeface="Trebuchet MS"/>
              </a:rPr>
              <a:t>VAT</a:t>
            </a:r>
            <a:r>
              <a:rPr dirty="0" sz="125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FFFFFF"/>
                </a:solidFill>
                <a:latin typeface="Trebuchet MS"/>
                <a:cs typeface="Trebuchet MS"/>
              </a:rPr>
              <a:t>(5%):</a:t>
            </a:r>
            <a:r>
              <a:rPr dirty="0" sz="125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 spc="85">
                <a:solidFill>
                  <a:srgbClr val="FFFFFF"/>
                </a:solidFill>
                <a:latin typeface="Trebuchet MS"/>
                <a:cs typeface="Trebuchet MS"/>
              </a:rPr>
              <a:t>AED</a:t>
            </a:r>
            <a:r>
              <a:rPr dirty="0" sz="125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Trebuchet MS"/>
                <a:cs typeface="Trebuchet MS"/>
              </a:rPr>
              <a:t>125.00.</a:t>
            </a:r>
            <a:endParaRPr sz="12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1250" spc="-10">
                <a:solidFill>
                  <a:srgbClr val="FFFFFF"/>
                </a:solidFill>
                <a:latin typeface="Trebuchet MS"/>
                <a:cs typeface="Trebuchet MS"/>
              </a:rPr>
              <a:t>Estimated</a:t>
            </a:r>
            <a:r>
              <a:rPr dirty="0" sz="125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 spc="-70">
                <a:solidFill>
                  <a:srgbClr val="FFFFFF"/>
                </a:solidFill>
                <a:latin typeface="Trebuchet MS"/>
                <a:cs typeface="Trebuchet MS"/>
              </a:rPr>
              <a:t>Initial</a:t>
            </a:r>
            <a:r>
              <a:rPr dirty="0" sz="125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 spc="-45">
                <a:solidFill>
                  <a:srgbClr val="FFFFFF"/>
                </a:solidFill>
                <a:latin typeface="Trebuchet MS"/>
                <a:cs typeface="Trebuchet MS"/>
              </a:rPr>
              <a:t>Total:</a:t>
            </a:r>
            <a:r>
              <a:rPr dirty="0" sz="125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 spc="85">
                <a:solidFill>
                  <a:srgbClr val="FFFFFF"/>
                </a:solidFill>
                <a:latin typeface="Trebuchet MS"/>
                <a:cs typeface="Trebuchet MS"/>
              </a:rPr>
              <a:t>AED</a:t>
            </a:r>
            <a:r>
              <a:rPr dirty="0" sz="125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Trebuchet MS"/>
                <a:cs typeface="Trebuchet MS"/>
              </a:rPr>
              <a:t>2,625.00.</a:t>
            </a:r>
            <a:endParaRPr sz="1250">
              <a:latin typeface="Trebuchet MS"/>
              <a:cs typeface="Trebuchet MS"/>
            </a:endParaRPr>
          </a:p>
          <a:p>
            <a:pPr marL="12700" marR="934085">
              <a:lnSpc>
                <a:spcPct val="135000"/>
              </a:lnSpc>
            </a:pPr>
            <a:r>
              <a:rPr dirty="0" sz="1250" spc="-40">
                <a:solidFill>
                  <a:srgbClr val="FFFFFF"/>
                </a:solidFill>
                <a:latin typeface="Trebuchet MS"/>
                <a:cs typeface="Trebuchet MS"/>
              </a:rPr>
              <a:t>All</a:t>
            </a:r>
            <a:r>
              <a:rPr dirty="0" sz="125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FFFFFF"/>
                </a:solidFill>
                <a:latin typeface="Trebuchet MS"/>
                <a:cs typeface="Trebuchet MS"/>
              </a:rPr>
              <a:t>payments</a:t>
            </a:r>
            <a:r>
              <a:rPr dirty="0" sz="125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FFFFFF"/>
                </a:solidFill>
                <a:latin typeface="Trebuchet MS"/>
                <a:cs typeface="Trebuchet MS"/>
              </a:rPr>
              <a:t>are</a:t>
            </a:r>
            <a:r>
              <a:rPr dirty="0" sz="125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 spc="-35">
                <a:solidFill>
                  <a:srgbClr val="FFFFFF"/>
                </a:solidFill>
                <a:latin typeface="Trebuchet MS"/>
                <a:cs typeface="Trebuchet MS"/>
              </a:rPr>
              <a:t>strictly</a:t>
            </a:r>
            <a:r>
              <a:rPr dirty="0" sz="125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FFFFFF"/>
                </a:solidFill>
                <a:latin typeface="Trebuchet MS"/>
                <a:cs typeface="Trebuchet MS"/>
              </a:rPr>
              <a:t>non-</a:t>
            </a:r>
            <a:r>
              <a:rPr dirty="0" sz="1250" spc="-10">
                <a:solidFill>
                  <a:srgbClr val="FFFFFF"/>
                </a:solidFill>
                <a:latin typeface="Trebuchet MS"/>
                <a:cs typeface="Trebuchet MS"/>
              </a:rPr>
              <a:t>refundable</a:t>
            </a:r>
            <a:r>
              <a:rPr dirty="0" sz="125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FFFFFF"/>
                </a:solidFill>
                <a:latin typeface="Trebuchet MS"/>
                <a:cs typeface="Trebuchet MS"/>
              </a:rPr>
              <a:t>once</a:t>
            </a:r>
            <a:r>
              <a:rPr dirty="0" sz="125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FFFFFF"/>
                </a:solidFill>
                <a:latin typeface="Trebuchet MS"/>
                <a:cs typeface="Trebuchet MS"/>
              </a:rPr>
              <a:t>service</a:t>
            </a:r>
            <a:r>
              <a:rPr dirty="0" sz="125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Trebuchet MS"/>
                <a:cs typeface="Trebuchet MS"/>
              </a:rPr>
              <a:t>begins. </a:t>
            </a:r>
            <a:r>
              <a:rPr dirty="0" sz="1250">
                <a:solidFill>
                  <a:srgbClr val="FFFFFF"/>
                </a:solidFill>
                <a:latin typeface="Trebuchet MS"/>
                <a:cs typeface="Trebuchet MS"/>
              </a:rPr>
              <a:t>Prices</a:t>
            </a:r>
            <a:r>
              <a:rPr dirty="0" sz="125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FFFFFF"/>
                </a:solidFill>
                <a:latin typeface="Trebuchet MS"/>
                <a:cs typeface="Trebuchet MS"/>
              </a:rPr>
              <a:t>auto-renew</a:t>
            </a:r>
            <a:r>
              <a:rPr dirty="0" sz="125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 spc="-25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dirty="0" sz="125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FFFFFF"/>
                </a:solidFill>
                <a:latin typeface="Trebuchet MS"/>
                <a:cs typeface="Trebuchet MS"/>
              </a:rPr>
              <a:t>up</a:t>
            </a:r>
            <a:r>
              <a:rPr dirty="0" sz="125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125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 spc="55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25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 spc="80">
                <a:solidFill>
                  <a:srgbClr val="FFFFFF"/>
                </a:solidFill>
                <a:latin typeface="Trebuchet MS"/>
                <a:cs typeface="Trebuchet MS"/>
              </a:rPr>
              <a:t>10%</a:t>
            </a:r>
            <a:r>
              <a:rPr dirty="0" sz="125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Trebuchet MS"/>
                <a:cs typeface="Trebuchet MS"/>
              </a:rPr>
              <a:t>annual</a:t>
            </a:r>
            <a:r>
              <a:rPr dirty="0" sz="125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Trebuchet MS"/>
                <a:cs typeface="Trebuchet MS"/>
              </a:rPr>
              <a:t>increase.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10338" y="4689559"/>
            <a:ext cx="937260" cy="24955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50" spc="95" b="1">
                <a:solidFill>
                  <a:srgbClr val="F1660F"/>
                </a:solidFill>
                <a:latin typeface="Trebuchet MS"/>
                <a:cs typeface="Trebuchet MS"/>
              </a:rPr>
              <a:t>PAYMENT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953194" y="545620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9103907" y="5356350"/>
            <a:ext cx="1367155" cy="2216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50">
                <a:solidFill>
                  <a:srgbClr val="FFFFFF"/>
                </a:solidFill>
                <a:latin typeface="Trebuchet MS"/>
                <a:cs typeface="Trebuchet MS"/>
              </a:rPr>
              <a:t>Jun</a:t>
            </a:r>
            <a:r>
              <a:rPr dirty="0" sz="125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 spc="95">
                <a:solidFill>
                  <a:srgbClr val="FFFFFF"/>
                </a:solidFill>
                <a:latin typeface="Trebuchet MS"/>
                <a:cs typeface="Trebuchet MS"/>
              </a:rPr>
              <a:t>2026</a:t>
            </a:r>
            <a:r>
              <a:rPr dirty="0" sz="125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Trebuchet MS"/>
                <a:cs typeface="Trebuchet MS"/>
              </a:rPr>
              <a:t>onwards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16000" y="9647656"/>
            <a:ext cx="1519555" cy="208279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200" spc="-10">
                <a:solidFill>
                  <a:srgbClr val="092A3B"/>
                </a:solidFill>
                <a:latin typeface="Trebuchet MS"/>
                <a:cs typeface="Trebuchet MS"/>
                <a:hlinkClick r:id="rId5"/>
              </a:rPr>
              <a:t>www.finanshels.com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1" name="object 21"/>
          <p:cNvSpPr txBox="1"/>
          <p:nvPr/>
        </p:nvSpPr>
        <p:spPr>
          <a:xfrm>
            <a:off x="8826194" y="4684148"/>
            <a:ext cx="981710" cy="24955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50" spc="50" b="1">
                <a:solidFill>
                  <a:srgbClr val="F1660F"/>
                </a:solidFill>
                <a:latin typeface="Trebuchet MS"/>
                <a:cs typeface="Trebuchet MS"/>
              </a:rPr>
              <a:t>DURATION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16000" y="8152691"/>
            <a:ext cx="7124700" cy="5969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50" spc="105" b="1">
                <a:solidFill>
                  <a:srgbClr val="F1660F"/>
                </a:solidFill>
                <a:latin typeface="Trebuchet MS"/>
                <a:cs typeface="Trebuchet MS"/>
              </a:rPr>
              <a:t>WHAT</a:t>
            </a:r>
            <a:r>
              <a:rPr dirty="0" sz="1250" spc="-175" b="1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250" spc="120" b="1">
                <a:solidFill>
                  <a:srgbClr val="F1660F"/>
                </a:solidFill>
                <a:latin typeface="Trebuchet MS"/>
                <a:cs typeface="Trebuchet MS"/>
              </a:rPr>
              <a:t>WE</a:t>
            </a:r>
            <a:r>
              <a:rPr dirty="0" sz="1250" spc="-175" b="1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250" spc="50" b="1">
                <a:solidFill>
                  <a:srgbClr val="F1660F"/>
                </a:solidFill>
                <a:latin typeface="Trebuchet MS"/>
                <a:cs typeface="Trebuchet MS"/>
              </a:rPr>
              <a:t>NEED</a:t>
            </a:r>
            <a:r>
              <a:rPr dirty="0" sz="1250" spc="-175" b="1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250" spc="70" b="1">
                <a:solidFill>
                  <a:srgbClr val="F1660F"/>
                </a:solidFill>
                <a:latin typeface="Trebuchet MS"/>
                <a:cs typeface="Trebuchet MS"/>
              </a:rPr>
              <a:t>FROM</a:t>
            </a:r>
            <a:r>
              <a:rPr dirty="0" sz="1250" spc="-170" b="1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250" spc="60" b="1">
                <a:solidFill>
                  <a:srgbClr val="F1660F"/>
                </a:solidFill>
                <a:latin typeface="Trebuchet MS"/>
                <a:cs typeface="Trebuchet MS"/>
              </a:rPr>
              <a:t>YOU</a:t>
            </a:r>
            <a:endParaRPr sz="12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2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The</a:t>
            </a:r>
            <a:r>
              <a:rPr dirty="0" sz="1250" spc="-1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45">
                <a:solidFill>
                  <a:srgbClr val="092A3B"/>
                </a:solidFill>
                <a:latin typeface="Trebuchet MS"/>
                <a:cs typeface="Trebuchet MS"/>
              </a:rPr>
              <a:t>client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must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provide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necessary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40">
                <a:solidFill>
                  <a:srgbClr val="092A3B"/>
                </a:solidFill>
                <a:latin typeface="Trebuchet MS"/>
                <a:cs typeface="Trebuchet MS"/>
              </a:rPr>
              <a:t>financial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documents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and</a:t>
            </a:r>
            <a:r>
              <a:rPr dirty="0" sz="1250" spc="-1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system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55">
                <a:solidFill>
                  <a:srgbClr val="092A3B"/>
                </a:solidFill>
                <a:latin typeface="Trebuchet MS"/>
                <a:cs typeface="Trebuchet MS"/>
              </a:rPr>
              <a:t>access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through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 the </a:t>
            </a:r>
            <a:r>
              <a:rPr dirty="0" sz="1250" spc="-45">
                <a:solidFill>
                  <a:srgbClr val="092A3B"/>
                </a:solidFill>
                <a:latin typeface="Trebuchet MS"/>
                <a:cs typeface="Trebuchet MS"/>
              </a:rPr>
              <a:t>client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 portal.</a:t>
            </a:r>
            <a:endParaRPr sz="12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F6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28700" y="698618"/>
            <a:ext cx="179705" cy="1083310"/>
          </a:xfrm>
          <a:custGeom>
            <a:avLst/>
            <a:gdLst/>
            <a:ahLst/>
            <a:cxnLst/>
            <a:rect l="l" t="t" r="r" b="b"/>
            <a:pathLst>
              <a:path w="179705" h="1083310">
                <a:moveTo>
                  <a:pt x="179550" y="1082912"/>
                </a:moveTo>
                <a:lnTo>
                  <a:pt x="0" y="1082912"/>
                </a:lnTo>
                <a:lnTo>
                  <a:pt x="0" y="0"/>
                </a:lnTo>
                <a:lnTo>
                  <a:pt x="179550" y="0"/>
                </a:lnTo>
                <a:lnTo>
                  <a:pt x="179550" y="1082912"/>
                </a:lnTo>
                <a:close/>
              </a:path>
            </a:pathLst>
          </a:custGeom>
          <a:solidFill>
            <a:srgbClr val="F1660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1380563" y="698618"/>
            <a:ext cx="3108325" cy="945515"/>
            <a:chOff x="1380563" y="698618"/>
            <a:chExt cx="3108325" cy="945515"/>
          </a:xfrm>
        </p:grpSpPr>
        <p:sp>
          <p:nvSpPr>
            <p:cNvPr id="5" name="object 5"/>
            <p:cNvSpPr/>
            <p:nvPr/>
          </p:nvSpPr>
          <p:spPr>
            <a:xfrm>
              <a:off x="1380563" y="698618"/>
              <a:ext cx="3108325" cy="945515"/>
            </a:xfrm>
            <a:custGeom>
              <a:avLst/>
              <a:gdLst/>
              <a:ahLst/>
              <a:cxnLst/>
              <a:rect l="l" t="t" r="r" b="b"/>
              <a:pathLst>
                <a:path w="3108325" h="945514">
                  <a:moveTo>
                    <a:pt x="3107860" y="944907"/>
                  </a:moveTo>
                  <a:lnTo>
                    <a:pt x="0" y="944907"/>
                  </a:lnTo>
                  <a:lnTo>
                    <a:pt x="0" y="0"/>
                  </a:lnTo>
                  <a:lnTo>
                    <a:pt x="3107860" y="0"/>
                  </a:lnTo>
                  <a:lnTo>
                    <a:pt x="3107860" y="9449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10357" y="838028"/>
              <a:ext cx="2647949" cy="35242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0564" y="1279641"/>
              <a:ext cx="1428749" cy="228599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84659" y="9722024"/>
            <a:ext cx="225674" cy="225673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036776" y="5731121"/>
            <a:ext cx="2774315" cy="0"/>
          </a:xfrm>
          <a:custGeom>
            <a:avLst/>
            <a:gdLst/>
            <a:ahLst/>
            <a:cxnLst/>
            <a:rect l="l" t="t" r="r" b="b"/>
            <a:pathLst>
              <a:path w="2774315" h="0">
                <a:moveTo>
                  <a:pt x="0" y="0"/>
                </a:moveTo>
                <a:lnTo>
                  <a:pt x="2773804" y="0"/>
                </a:lnTo>
              </a:path>
            </a:pathLst>
          </a:custGeom>
          <a:ln w="9524">
            <a:solidFill>
              <a:srgbClr val="092A3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584311" y="5731121"/>
            <a:ext cx="2774315" cy="0"/>
          </a:xfrm>
          <a:custGeom>
            <a:avLst/>
            <a:gdLst/>
            <a:ahLst/>
            <a:cxnLst/>
            <a:rect l="l" t="t" r="r" b="b"/>
            <a:pathLst>
              <a:path w="2774315" h="0">
                <a:moveTo>
                  <a:pt x="0" y="0"/>
                </a:moveTo>
                <a:lnTo>
                  <a:pt x="2773804" y="0"/>
                </a:lnTo>
              </a:path>
            </a:pathLst>
          </a:custGeom>
          <a:ln w="9524">
            <a:solidFill>
              <a:srgbClr val="092A3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2131846" y="5731121"/>
            <a:ext cx="2774315" cy="0"/>
          </a:xfrm>
          <a:custGeom>
            <a:avLst/>
            <a:gdLst/>
            <a:ahLst/>
            <a:cxnLst/>
            <a:rect l="l" t="t" r="r" b="b"/>
            <a:pathLst>
              <a:path w="2774315" h="0">
                <a:moveTo>
                  <a:pt x="0" y="0"/>
                </a:moveTo>
                <a:lnTo>
                  <a:pt x="2773804" y="0"/>
                </a:lnTo>
              </a:path>
            </a:pathLst>
          </a:custGeom>
          <a:ln w="9524">
            <a:solidFill>
              <a:srgbClr val="092A3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135306" y="5143500"/>
            <a:ext cx="217170" cy="314325"/>
          </a:xfrm>
          <a:custGeom>
            <a:avLst/>
            <a:gdLst/>
            <a:ahLst/>
            <a:cxnLst/>
            <a:rect l="l" t="t" r="r" b="b"/>
            <a:pathLst>
              <a:path w="217170" h="314325">
                <a:moveTo>
                  <a:pt x="66536" y="314324"/>
                </a:moveTo>
                <a:lnTo>
                  <a:pt x="49421" y="314324"/>
                </a:lnTo>
                <a:lnTo>
                  <a:pt x="1201" y="266105"/>
                </a:lnTo>
                <a:lnTo>
                  <a:pt x="0" y="263196"/>
                </a:lnTo>
                <a:lnTo>
                  <a:pt x="101" y="260316"/>
                </a:lnTo>
                <a:lnTo>
                  <a:pt x="159" y="257378"/>
                </a:lnTo>
                <a:lnTo>
                  <a:pt x="1403" y="254585"/>
                </a:lnTo>
                <a:lnTo>
                  <a:pt x="103584" y="159206"/>
                </a:lnTo>
                <a:lnTo>
                  <a:pt x="1403" y="63826"/>
                </a:lnTo>
                <a:lnTo>
                  <a:pt x="159" y="61033"/>
                </a:lnTo>
                <a:lnTo>
                  <a:pt x="130" y="54796"/>
                </a:lnTo>
                <a:lnTo>
                  <a:pt x="1201" y="52307"/>
                </a:lnTo>
                <a:lnTo>
                  <a:pt x="53523" y="0"/>
                </a:lnTo>
                <a:lnTo>
                  <a:pt x="62463" y="0"/>
                </a:lnTo>
                <a:lnTo>
                  <a:pt x="216112" y="153649"/>
                </a:lnTo>
                <a:lnTo>
                  <a:pt x="217169" y="156427"/>
                </a:lnTo>
                <a:lnTo>
                  <a:pt x="217169" y="161984"/>
                </a:lnTo>
                <a:lnTo>
                  <a:pt x="216112" y="164763"/>
                </a:lnTo>
                <a:lnTo>
                  <a:pt x="66536" y="314324"/>
                </a:lnTo>
                <a:close/>
              </a:path>
            </a:pathLst>
          </a:custGeom>
          <a:solidFill>
            <a:srgbClr val="092A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0891013" y="5169744"/>
            <a:ext cx="217170" cy="314325"/>
          </a:xfrm>
          <a:custGeom>
            <a:avLst/>
            <a:gdLst/>
            <a:ahLst/>
            <a:cxnLst/>
            <a:rect l="l" t="t" r="r" b="b"/>
            <a:pathLst>
              <a:path w="217170" h="314325">
                <a:moveTo>
                  <a:pt x="66536" y="314324"/>
                </a:moveTo>
                <a:lnTo>
                  <a:pt x="49421" y="314324"/>
                </a:lnTo>
                <a:lnTo>
                  <a:pt x="1201" y="266105"/>
                </a:lnTo>
                <a:lnTo>
                  <a:pt x="0" y="263196"/>
                </a:lnTo>
                <a:lnTo>
                  <a:pt x="101" y="260316"/>
                </a:lnTo>
                <a:lnTo>
                  <a:pt x="159" y="257378"/>
                </a:lnTo>
                <a:lnTo>
                  <a:pt x="1403" y="254585"/>
                </a:lnTo>
                <a:lnTo>
                  <a:pt x="103584" y="159206"/>
                </a:lnTo>
                <a:lnTo>
                  <a:pt x="1403" y="63826"/>
                </a:lnTo>
                <a:lnTo>
                  <a:pt x="159" y="61033"/>
                </a:lnTo>
                <a:lnTo>
                  <a:pt x="130" y="54796"/>
                </a:lnTo>
                <a:lnTo>
                  <a:pt x="1201" y="52307"/>
                </a:lnTo>
                <a:lnTo>
                  <a:pt x="53523" y="0"/>
                </a:lnTo>
                <a:lnTo>
                  <a:pt x="62463" y="0"/>
                </a:lnTo>
                <a:lnTo>
                  <a:pt x="216112" y="153649"/>
                </a:lnTo>
                <a:lnTo>
                  <a:pt x="217169" y="156427"/>
                </a:lnTo>
                <a:lnTo>
                  <a:pt x="217169" y="161984"/>
                </a:lnTo>
                <a:lnTo>
                  <a:pt x="216112" y="164763"/>
                </a:lnTo>
                <a:lnTo>
                  <a:pt x="66536" y="314324"/>
                </a:lnTo>
                <a:close/>
              </a:path>
            </a:pathLst>
          </a:custGeom>
          <a:solidFill>
            <a:srgbClr val="092A3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4" name="object 14"/>
          <p:cNvGrpSpPr/>
          <p:nvPr/>
        </p:nvGrpSpPr>
        <p:grpSpPr>
          <a:xfrm>
            <a:off x="1039158" y="4181297"/>
            <a:ext cx="683895" cy="654050"/>
            <a:chOff x="1039158" y="4181297"/>
            <a:chExt cx="683895" cy="654050"/>
          </a:xfrm>
        </p:grpSpPr>
        <p:sp>
          <p:nvSpPr>
            <p:cNvPr id="15" name="object 15"/>
            <p:cNvSpPr/>
            <p:nvPr/>
          </p:nvSpPr>
          <p:spPr>
            <a:xfrm>
              <a:off x="1039152" y="4181309"/>
              <a:ext cx="683895" cy="654050"/>
            </a:xfrm>
            <a:custGeom>
              <a:avLst/>
              <a:gdLst/>
              <a:ahLst/>
              <a:cxnLst/>
              <a:rect l="l" t="t" r="r" b="b"/>
              <a:pathLst>
                <a:path w="683894" h="654050">
                  <a:moveTo>
                    <a:pt x="558253" y="23380"/>
                  </a:moveTo>
                  <a:lnTo>
                    <a:pt x="556425" y="14274"/>
                  </a:lnTo>
                  <a:lnTo>
                    <a:pt x="551408" y="6845"/>
                  </a:lnTo>
                  <a:lnTo>
                    <a:pt x="543979" y="1828"/>
                  </a:lnTo>
                  <a:lnTo>
                    <a:pt x="534873" y="0"/>
                  </a:lnTo>
                  <a:lnTo>
                    <a:pt x="149021" y="0"/>
                  </a:lnTo>
                  <a:lnTo>
                    <a:pt x="139915" y="1828"/>
                  </a:lnTo>
                  <a:lnTo>
                    <a:pt x="132486" y="6845"/>
                  </a:lnTo>
                  <a:lnTo>
                    <a:pt x="127469" y="14274"/>
                  </a:lnTo>
                  <a:lnTo>
                    <a:pt x="125641" y="23380"/>
                  </a:lnTo>
                  <a:lnTo>
                    <a:pt x="125641" y="93903"/>
                  </a:lnTo>
                  <a:lnTo>
                    <a:pt x="125641" y="238721"/>
                  </a:lnTo>
                  <a:lnTo>
                    <a:pt x="172415" y="275818"/>
                  </a:lnTo>
                  <a:lnTo>
                    <a:pt x="172415" y="46774"/>
                  </a:lnTo>
                  <a:lnTo>
                    <a:pt x="511479" y="46774"/>
                  </a:lnTo>
                  <a:lnTo>
                    <a:pt x="511479" y="276999"/>
                  </a:lnTo>
                  <a:lnTo>
                    <a:pt x="558253" y="239382"/>
                  </a:lnTo>
                  <a:lnTo>
                    <a:pt x="558253" y="23380"/>
                  </a:lnTo>
                  <a:close/>
                </a:path>
                <a:path w="683894" h="654050">
                  <a:moveTo>
                    <a:pt x="683882" y="274472"/>
                  </a:moveTo>
                  <a:lnTo>
                    <a:pt x="683564" y="267208"/>
                  </a:lnTo>
                  <a:lnTo>
                    <a:pt x="683539" y="267030"/>
                  </a:lnTo>
                  <a:lnTo>
                    <a:pt x="682586" y="259715"/>
                  </a:lnTo>
                  <a:lnTo>
                    <a:pt x="661924" y="216154"/>
                  </a:lnTo>
                  <a:lnTo>
                    <a:pt x="631355" y="188125"/>
                  </a:lnTo>
                  <a:lnTo>
                    <a:pt x="630770" y="187655"/>
                  </a:lnTo>
                  <a:lnTo>
                    <a:pt x="630770" y="567550"/>
                  </a:lnTo>
                  <a:lnTo>
                    <a:pt x="588543" y="525322"/>
                  </a:lnTo>
                  <a:lnTo>
                    <a:pt x="588543" y="600392"/>
                  </a:lnTo>
                  <a:lnTo>
                    <a:pt x="96050" y="600392"/>
                  </a:lnTo>
                  <a:lnTo>
                    <a:pt x="128193" y="568248"/>
                  </a:lnTo>
                  <a:lnTo>
                    <a:pt x="253631" y="442810"/>
                  </a:lnTo>
                  <a:lnTo>
                    <a:pt x="332359" y="505269"/>
                  </a:lnTo>
                  <a:lnTo>
                    <a:pt x="338251" y="507212"/>
                  </a:lnTo>
                  <a:lnTo>
                    <a:pt x="349973" y="507212"/>
                  </a:lnTo>
                  <a:lnTo>
                    <a:pt x="355879" y="505269"/>
                  </a:lnTo>
                  <a:lnTo>
                    <a:pt x="428688" y="446697"/>
                  </a:lnTo>
                  <a:lnTo>
                    <a:pt x="432104" y="443953"/>
                  </a:lnTo>
                  <a:lnTo>
                    <a:pt x="588543" y="600392"/>
                  </a:lnTo>
                  <a:lnTo>
                    <a:pt x="588543" y="525322"/>
                  </a:lnTo>
                  <a:lnTo>
                    <a:pt x="507187" y="443953"/>
                  </a:lnTo>
                  <a:lnTo>
                    <a:pt x="473722" y="410489"/>
                  </a:lnTo>
                  <a:lnTo>
                    <a:pt x="629729" y="285026"/>
                  </a:lnTo>
                  <a:lnTo>
                    <a:pt x="630415" y="289420"/>
                  </a:lnTo>
                  <a:lnTo>
                    <a:pt x="630745" y="293484"/>
                  </a:lnTo>
                  <a:lnTo>
                    <a:pt x="630770" y="567550"/>
                  </a:lnTo>
                  <a:lnTo>
                    <a:pt x="630770" y="187655"/>
                  </a:lnTo>
                  <a:lnTo>
                    <a:pt x="630135" y="187121"/>
                  </a:lnTo>
                  <a:lnTo>
                    <a:pt x="585508" y="151726"/>
                  </a:lnTo>
                  <a:lnTo>
                    <a:pt x="585508" y="219494"/>
                  </a:lnTo>
                  <a:lnTo>
                    <a:pt x="600049" y="231038"/>
                  </a:lnTo>
                  <a:lnTo>
                    <a:pt x="602869" y="233616"/>
                  </a:lnTo>
                  <a:lnTo>
                    <a:pt x="605548" y="236359"/>
                  </a:lnTo>
                  <a:lnTo>
                    <a:pt x="343979" y="446697"/>
                  </a:lnTo>
                  <a:lnTo>
                    <a:pt x="339077" y="442810"/>
                  </a:lnTo>
                  <a:lnTo>
                    <a:pt x="211747" y="341845"/>
                  </a:lnTo>
                  <a:lnTo>
                    <a:pt x="211747" y="409613"/>
                  </a:lnTo>
                  <a:lnTo>
                    <a:pt x="53098" y="568248"/>
                  </a:lnTo>
                  <a:lnTo>
                    <a:pt x="53098" y="293484"/>
                  </a:lnTo>
                  <a:lnTo>
                    <a:pt x="53479" y="289026"/>
                  </a:lnTo>
                  <a:lnTo>
                    <a:pt x="54140" y="284619"/>
                  </a:lnTo>
                  <a:lnTo>
                    <a:pt x="211747" y="409613"/>
                  </a:lnTo>
                  <a:lnTo>
                    <a:pt x="211747" y="341845"/>
                  </a:lnTo>
                  <a:lnTo>
                    <a:pt x="139598" y="284619"/>
                  </a:lnTo>
                  <a:lnTo>
                    <a:pt x="78270" y="235991"/>
                  </a:lnTo>
                  <a:lnTo>
                    <a:pt x="80797" y="233375"/>
                  </a:lnTo>
                  <a:lnTo>
                    <a:pt x="83477" y="230886"/>
                  </a:lnTo>
                  <a:lnTo>
                    <a:pt x="98361" y="218948"/>
                  </a:lnTo>
                  <a:lnTo>
                    <a:pt x="98361" y="150837"/>
                  </a:lnTo>
                  <a:lnTo>
                    <a:pt x="53200" y="187121"/>
                  </a:lnTo>
                  <a:lnTo>
                    <a:pt x="21755" y="216154"/>
                  </a:lnTo>
                  <a:lnTo>
                    <a:pt x="2768" y="252526"/>
                  </a:lnTo>
                  <a:lnTo>
                    <a:pt x="0" y="274472"/>
                  </a:lnTo>
                  <a:lnTo>
                    <a:pt x="0" y="577570"/>
                  </a:lnTo>
                  <a:lnTo>
                    <a:pt x="5969" y="607123"/>
                  </a:lnTo>
                  <a:lnTo>
                    <a:pt x="22237" y="631253"/>
                  </a:lnTo>
                  <a:lnTo>
                    <a:pt x="46380" y="647534"/>
                  </a:lnTo>
                  <a:lnTo>
                    <a:pt x="75933" y="653503"/>
                  </a:lnTo>
                  <a:lnTo>
                    <a:pt x="607961" y="653503"/>
                  </a:lnTo>
                  <a:lnTo>
                    <a:pt x="637514" y="647534"/>
                  </a:lnTo>
                  <a:lnTo>
                    <a:pt x="661644" y="631253"/>
                  </a:lnTo>
                  <a:lnTo>
                    <a:pt x="677913" y="607123"/>
                  </a:lnTo>
                  <a:lnTo>
                    <a:pt x="679272" y="600392"/>
                  </a:lnTo>
                  <a:lnTo>
                    <a:pt x="683882" y="577570"/>
                  </a:lnTo>
                  <a:lnTo>
                    <a:pt x="683882" y="567550"/>
                  </a:lnTo>
                  <a:lnTo>
                    <a:pt x="683882" y="285026"/>
                  </a:lnTo>
                  <a:lnTo>
                    <a:pt x="683882" y="274472"/>
                  </a:lnTo>
                  <a:close/>
                </a:path>
              </a:pathLst>
            </a:custGeom>
            <a:solidFill>
              <a:srgbClr val="F1660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64849" y="4279777"/>
              <a:ext cx="232452" cy="225946"/>
            </a:xfrm>
            <a:prstGeom prst="rect">
              <a:avLst/>
            </a:prstGeom>
          </p:spPr>
        </p:pic>
      </p:grpSp>
      <p:sp>
        <p:nvSpPr>
          <p:cNvPr id="17" name="object 17"/>
          <p:cNvSpPr/>
          <p:nvPr/>
        </p:nvSpPr>
        <p:spPr>
          <a:xfrm>
            <a:off x="6576403" y="4181297"/>
            <a:ext cx="551815" cy="636905"/>
          </a:xfrm>
          <a:custGeom>
            <a:avLst/>
            <a:gdLst/>
            <a:ahLst/>
            <a:cxnLst/>
            <a:rect l="l" t="t" r="r" b="b"/>
            <a:pathLst>
              <a:path w="551815" h="636904">
                <a:moveTo>
                  <a:pt x="233397" y="636537"/>
                </a:moveTo>
                <a:lnTo>
                  <a:pt x="21217" y="636537"/>
                </a:lnTo>
                <a:lnTo>
                  <a:pt x="12961" y="634869"/>
                </a:lnTo>
                <a:lnTo>
                  <a:pt x="6216" y="630321"/>
                </a:lnTo>
                <a:lnTo>
                  <a:pt x="1668" y="623576"/>
                </a:lnTo>
                <a:lnTo>
                  <a:pt x="0" y="615319"/>
                </a:lnTo>
                <a:lnTo>
                  <a:pt x="0" y="21217"/>
                </a:lnTo>
                <a:lnTo>
                  <a:pt x="1668" y="12961"/>
                </a:lnTo>
                <a:lnTo>
                  <a:pt x="6216" y="6216"/>
                </a:lnTo>
                <a:lnTo>
                  <a:pt x="12961" y="1668"/>
                </a:lnTo>
                <a:lnTo>
                  <a:pt x="21217" y="0"/>
                </a:lnTo>
                <a:lnTo>
                  <a:pt x="324782" y="0"/>
                </a:lnTo>
                <a:lnTo>
                  <a:pt x="330214" y="2249"/>
                </a:lnTo>
                <a:lnTo>
                  <a:pt x="335837" y="7914"/>
                </a:lnTo>
                <a:lnTo>
                  <a:pt x="337174" y="9802"/>
                </a:lnTo>
                <a:lnTo>
                  <a:pt x="338171" y="11839"/>
                </a:lnTo>
                <a:lnTo>
                  <a:pt x="364399" y="42435"/>
                </a:lnTo>
                <a:lnTo>
                  <a:pt x="42435" y="42435"/>
                </a:lnTo>
                <a:lnTo>
                  <a:pt x="42435" y="594102"/>
                </a:lnTo>
                <a:lnTo>
                  <a:pt x="233397" y="594102"/>
                </a:lnTo>
                <a:lnTo>
                  <a:pt x="241653" y="595770"/>
                </a:lnTo>
                <a:lnTo>
                  <a:pt x="248398" y="600318"/>
                </a:lnTo>
                <a:lnTo>
                  <a:pt x="252946" y="607063"/>
                </a:lnTo>
                <a:lnTo>
                  <a:pt x="254615" y="615319"/>
                </a:lnTo>
                <a:lnTo>
                  <a:pt x="252946" y="623576"/>
                </a:lnTo>
                <a:lnTo>
                  <a:pt x="248398" y="630321"/>
                </a:lnTo>
                <a:lnTo>
                  <a:pt x="241653" y="634869"/>
                </a:lnTo>
                <a:lnTo>
                  <a:pt x="233397" y="636537"/>
                </a:lnTo>
                <a:close/>
              </a:path>
              <a:path w="551815" h="636904">
                <a:moveTo>
                  <a:pt x="445576" y="275833"/>
                </a:moveTo>
                <a:lnTo>
                  <a:pt x="437320" y="274164"/>
                </a:lnTo>
                <a:lnTo>
                  <a:pt x="430575" y="269616"/>
                </a:lnTo>
                <a:lnTo>
                  <a:pt x="426026" y="262871"/>
                </a:lnTo>
                <a:lnTo>
                  <a:pt x="424358" y="254615"/>
                </a:lnTo>
                <a:lnTo>
                  <a:pt x="424358" y="190961"/>
                </a:lnTo>
                <a:lnTo>
                  <a:pt x="312624" y="190961"/>
                </a:lnTo>
                <a:lnTo>
                  <a:pt x="307214" y="188712"/>
                </a:lnTo>
                <a:lnTo>
                  <a:pt x="299236" y="180691"/>
                </a:lnTo>
                <a:lnTo>
                  <a:pt x="297008" y="175260"/>
                </a:lnTo>
                <a:lnTo>
                  <a:pt x="297793" y="42435"/>
                </a:lnTo>
                <a:lnTo>
                  <a:pt x="364399" y="42435"/>
                </a:lnTo>
                <a:lnTo>
                  <a:pt x="395920" y="79206"/>
                </a:lnTo>
                <a:lnTo>
                  <a:pt x="340017" y="79206"/>
                </a:lnTo>
                <a:lnTo>
                  <a:pt x="339614" y="148525"/>
                </a:lnTo>
                <a:lnTo>
                  <a:pt x="455342" y="148525"/>
                </a:lnTo>
                <a:lnTo>
                  <a:pt x="464842" y="159580"/>
                </a:lnTo>
                <a:lnTo>
                  <a:pt x="466794" y="164438"/>
                </a:lnTo>
                <a:lnTo>
                  <a:pt x="466794" y="254615"/>
                </a:lnTo>
                <a:lnTo>
                  <a:pt x="465126" y="262871"/>
                </a:lnTo>
                <a:lnTo>
                  <a:pt x="460577" y="269616"/>
                </a:lnTo>
                <a:lnTo>
                  <a:pt x="453832" y="274164"/>
                </a:lnTo>
                <a:lnTo>
                  <a:pt x="445576" y="275833"/>
                </a:lnTo>
                <a:close/>
              </a:path>
              <a:path w="551815" h="636904">
                <a:moveTo>
                  <a:pt x="455342" y="148525"/>
                </a:moveTo>
                <a:lnTo>
                  <a:pt x="399448" y="148525"/>
                </a:lnTo>
                <a:lnTo>
                  <a:pt x="340017" y="79206"/>
                </a:lnTo>
                <a:lnTo>
                  <a:pt x="395920" y="79206"/>
                </a:lnTo>
                <a:lnTo>
                  <a:pt x="455342" y="148525"/>
                </a:lnTo>
                <a:close/>
              </a:path>
              <a:path w="551815" h="636904">
                <a:moveTo>
                  <a:pt x="212179" y="233397"/>
                </a:moveTo>
                <a:lnTo>
                  <a:pt x="84871" y="233397"/>
                </a:lnTo>
                <a:lnTo>
                  <a:pt x="76615" y="231728"/>
                </a:lnTo>
                <a:lnTo>
                  <a:pt x="69870" y="227180"/>
                </a:lnTo>
                <a:lnTo>
                  <a:pt x="65322" y="220435"/>
                </a:lnTo>
                <a:lnTo>
                  <a:pt x="63653" y="212179"/>
                </a:lnTo>
                <a:lnTo>
                  <a:pt x="65322" y="203922"/>
                </a:lnTo>
                <a:lnTo>
                  <a:pt x="69870" y="197178"/>
                </a:lnTo>
                <a:lnTo>
                  <a:pt x="76615" y="192629"/>
                </a:lnTo>
                <a:lnTo>
                  <a:pt x="84871" y="190961"/>
                </a:lnTo>
                <a:lnTo>
                  <a:pt x="212179" y="190961"/>
                </a:lnTo>
                <a:lnTo>
                  <a:pt x="220435" y="192629"/>
                </a:lnTo>
                <a:lnTo>
                  <a:pt x="227180" y="197178"/>
                </a:lnTo>
                <a:lnTo>
                  <a:pt x="231728" y="203922"/>
                </a:lnTo>
                <a:lnTo>
                  <a:pt x="233397" y="212179"/>
                </a:lnTo>
                <a:lnTo>
                  <a:pt x="231728" y="220435"/>
                </a:lnTo>
                <a:lnTo>
                  <a:pt x="227180" y="227180"/>
                </a:lnTo>
                <a:lnTo>
                  <a:pt x="220435" y="231728"/>
                </a:lnTo>
                <a:lnTo>
                  <a:pt x="212179" y="233397"/>
                </a:lnTo>
                <a:close/>
              </a:path>
              <a:path w="551815" h="636904">
                <a:moveTo>
                  <a:pt x="254615" y="318268"/>
                </a:moveTo>
                <a:lnTo>
                  <a:pt x="84871" y="318268"/>
                </a:lnTo>
                <a:lnTo>
                  <a:pt x="76615" y="316600"/>
                </a:lnTo>
                <a:lnTo>
                  <a:pt x="69870" y="312052"/>
                </a:lnTo>
                <a:lnTo>
                  <a:pt x="65322" y="305307"/>
                </a:lnTo>
                <a:lnTo>
                  <a:pt x="63653" y="297051"/>
                </a:lnTo>
                <a:lnTo>
                  <a:pt x="65322" y="288794"/>
                </a:lnTo>
                <a:lnTo>
                  <a:pt x="69870" y="282049"/>
                </a:lnTo>
                <a:lnTo>
                  <a:pt x="76615" y="277501"/>
                </a:lnTo>
                <a:lnTo>
                  <a:pt x="84871" y="275833"/>
                </a:lnTo>
                <a:lnTo>
                  <a:pt x="254615" y="275833"/>
                </a:lnTo>
                <a:lnTo>
                  <a:pt x="262871" y="277501"/>
                </a:lnTo>
                <a:lnTo>
                  <a:pt x="269616" y="282049"/>
                </a:lnTo>
                <a:lnTo>
                  <a:pt x="274164" y="288794"/>
                </a:lnTo>
                <a:lnTo>
                  <a:pt x="275833" y="297051"/>
                </a:lnTo>
                <a:lnTo>
                  <a:pt x="274164" y="305307"/>
                </a:lnTo>
                <a:lnTo>
                  <a:pt x="269616" y="312052"/>
                </a:lnTo>
                <a:lnTo>
                  <a:pt x="262871" y="316600"/>
                </a:lnTo>
                <a:lnTo>
                  <a:pt x="254615" y="318268"/>
                </a:lnTo>
                <a:close/>
              </a:path>
              <a:path w="551815" h="636904">
                <a:moveTo>
                  <a:pt x="381922" y="636537"/>
                </a:moveTo>
                <a:lnTo>
                  <a:pt x="336822" y="630469"/>
                </a:lnTo>
                <a:lnTo>
                  <a:pt x="296280" y="613347"/>
                </a:lnTo>
                <a:lnTo>
                  <a:pt x="261922" y="586795"/>
                </a:lnTo>
                <a:lnTo>
                  <a:pt x="235369" y="552436"/>
                </a:lnTo>
                <a:lnTo>
                  <a:pt x="218247" y="511894"/>
                </a:lnTo>
                <a:lnTo>
                  <a:pt x="212180" y="466783"/>
                </a:lnTo>
                <a:lnTo>
                  <a:pt x="218247" y="421694"/>
                </a:lnTo>
                <a:lnTo>
                  <a:pt x="235369" y="381152"/>
                </a:lnTo>
                <a:lnTo>
                  <a:pt x="261922" y="346793"/>
                </a:lnTo>
                <a:lnTo>
                  <a:pt x="296280" y="320241"/>
                </a:lnTo>
                <a:lnTo>
                  <a:pt x="336822" y="303119"/>
                </a:lnTo>
                <a:lnTo>
                  <a:pt x="381922" y="297051"/>
                </a:lnTo>
                <a:lnTo>
                  <a:pt x="427023" y="303119"/>
                </a:lnTo>
                <a:lnTo>
                  <a:pt x="467564" y="320241"/>
                </a:lnTo>
                <a:lnTo>
                  <a:pt x="492468" y="339486"/>
                </a:lnTo>
                <a:lnTo>
                  <a:pt x="381922" y="339486"/>
                </a:lnTo>
                <a:lnTo>
                  <a:pt x="332393" y="349499"/>
                </a:lnTo>
                <a:lnTo>
                  <a:pt x="291924" y="376795"/>
                </a:lnTo>
                <a:lnTo>
                  <a:pt x="264627" y="417264"/>
                </a:lnTo>
                <a:lnTo>
                  <a:pt x="254617" y="466783"/>
                </a:lnTo>
                <a:lnTo>
                  <a:pt x="264627" y="516324"/>
                </a:lnTo>
                <a:lnTo>
                  <a:pt x="291924" y="556792"/>
                </a:lnTo>
                <a:lnTo>
                  <a:pt x="332393" y="584089"/>
                </a:lnTo>
                <a:lnTo>
                  <a:pt x="381922" y="594102"/>
                </a:lnTo>
                <a:lnTo>
                  <a:pt x="492468" y="594102"/>
                </a:lnTo>
                <a:lnTo>
                  <a:pt x="467564" y="613347"/>
                </a:lnTo>
                <a:lnTo>
                  <a:pt x="427023" y="630469"/>
                </a:lnTo>
                <a:lnTo>
                  <a:pt x="381922" y="636537"/>
                </a:lnTo>
                <a:close/>
              </a:path>
              <a:path w="551815" h="636904">
                <a:moveTo>
                  <a:pt x="492468" y="594102"/>
                </a:moveTo>
                <a:lnTo>
                  <a:pt x="381922" y="594102"/>
                </a:lnTo>
                <a:lnTo>
                  <a:pt x="431452" y="584089"/>
                </a:lnTo>
                <a:lnTo>
                  <a:pt x="471921" y="556792"/>
                </a:lnTo>
                <a:lnTo>
                  <a:pt x="499217" y="516324"/>
                </a:lnTo>
                <a:lnTo>
                  <a:pt x="509228" y="466783"/>
                </a:lnTo>
                <a:lnTo>
                  <a:pt x="499217" y="417264"/>
                </a:lnTo>
                <a:lnTo>
                  <a:pt x="471921" y="376795"/>
                </a:lnTo>
                <a:lnTo>
                  <a:pt x="431452" y="349499"/>
                </a:lnTo>
                <a:lnTo>
                  <a:pt x="381922" y="339486"/>
                </a:lnTo>
                <a:lnTo>
                  <a:pt x="492468" y="339486"/>
                </a:lnTo>
                <a:lnTo>
                  <a:pt x="501923" y="346793"/>
                </a:lnTo>
                <a:lnTo>
                  <a:pt x="528475" y="381152"/>
                </a:lnTo>
                <a:lnTo>
                  <a:pt x="545597" y="421694"/>
                </a:lnTo>
                <a:lnTo>
                  <a:pt x="551664" y="466783"/>
                </a:lnTo>
                <a:lnTo>
                  <a:pt x="545597" y="511894"/>
                </a:lnTo>
                <a:lnTo>
                  <a:pt x="528475" y="552436"/>
                </a:lnTo>
                <a:lnTo>
                  <a:pt x="501923" y="586795"/>
                </a:lnTo>
                <a:lnTo>
                  <a:pt x="492468" y="594102"/>
                </a:lnTo>
                <a:close/>
              </a:path>
              <a:path w="551815" h="636904">
                <a:moveTo>
                  <a:pt x="177415" y="362255"/>
                </a:moveTo>
                <a:lnTo>
                  <a:pt x="77199" y="362255"/>
                </a:lnTo>
                <a:lnTo>
                  <a:pt x="84898" y="360699"/>
                </a:lnTo>
                <a:lnTo>
                  <a:pt x="169717" y="360699"/>
                </a:lnTo>
                <a:lnTo>
                  <a:pt x="177415" y="362255"/>
                </a:lnTo>
                <a:close/>
              </a:path>
              <a:path w="551815" h="636904">
                <a:moveTo>
                  <a:pt x="318268" y="466783"/>
                </a:moveTo>
                <a:lnTo>
                  <a:pt x="310283" y="465232"/>
                </a:lnTo>
                <a:lnTo>
                  <a:pt x="303267" y="460577"/>
                </a:lnTo>
                <a:lnTo>
                  <a:pt x="298613" y="453562"/>
                </a:lnTo>
                <a:lnTo>
                  <a:pt x="297061" y="445576"/>
                </a:lnTo>
                <a:lnTo>
                  <a:pt x="298613" y="437590"/>
                </a:lnTo>
                <a:lnTo>
                  <a:pt x="303267" y="430575"/>
                </a:lnTo>
                <a:lnTo>
                  <a:pt x="366921" y="366921"/>
                </a:lnTo>
                <a:lnTo>
                  <a:pt x="373936" y="362255"/>
                </a:lnTo>
                <a:lnTo>
                  <a:pt x="381922" y="360699"/>
                </a:lnTo>
                <a:lnTo>
                  <a:pt x="389908" y="362255"/>
                </a:lnTo>
                <a:lnTo>
                  <a:pt x="396923" y="366921"/>
                </a:lnTo>
                <a:lnTo>
                  <a:pt x="460577" y="430575"/>
                </a:lnTo>
                <a:lnTo>
                  <a:pt x="462281" y="433142"/>
                </a:lnTo>
                <a:lnTo>
                  <a:pt x="360704" y="433142"/>
                </a:lnTo>
                <a:lnTo>
                  <a:pt x="333270" y="460577"/>
                </a:lnTo>
                <a:lnTo>
                  <a:pt x="326254" y="465232"/>
                </a:lnTo>
                <a:lnTo>
                  <a:pt x="318268" y="466783"/>
                </a:lnTo>
                <a:close/>
              </a:path>
              <a:path w="551815" h="636904">
                <a:moveTo>
                  <a:pt x="169743" y="403140"/>
                </a:moveTo>
                <a:lnTo>
                  <a:pt x="84871" y="403140"/>
                </a:lnTo>
                <a:lnTo>
                  <a:pt x="76615" y="401472"/>
                </a:lnTo>
                <a:lnTo>
                  <a:pt x="69870" y="396923"/>
                </a:lnTo>
                <a:lnTo>
                  <a:pt x="65322" y="390179"/>
                </a:lnTo>
                <a:lnTo>
                  <a:pt x="63653" y="381922"/>
                </a:lnTo>
                <a:lnTo>
                  <a:pt x="65322" y="373666"/>
                </a:lnTo>
                <a:lnTo>
                  <a:pt x="69870" y="366921"/>
                </a:lnTo>
                <a:lnTo>
                  <a:pt x="76790" y="362255"/>
                </a:lnTo>
                <a:lnTo>
                  <a:pt x="177824" y="362255"/>
                </a:lnTo>
                <a:lnTo>
                  <a:pt x="184744" y="366921"/>
                </a:lnTo>
                <a:lnTo>
                  <a:pt x="189293" y="373666"/>
                </a:lnTo>
                <a:lnTo>
                  <a:pt x="190961" y="381922"/>
                </a:lnTo>
                <a:lnTo>
                  <a:pt x="189293" y="390179"/>
                </a:lnTo>
                <a:lnTo>
                  <a:pt x="184744" y="396923"/>
                </a:lnTo>
                <a:lnTo>
                  <a:pt x="177999" y="401472"/>
                </a:lnTo>
                <a:lnTo>
                  <a:pt x="169743" y="403140"/>
                </a:lnTo>
                <a:close/>
              </a:path>
              <a:path w="551815" h="636904">
                <a:moveTo>
                  <a:pt x="381922" y="572884"/>
                </a:moveTo>
                <a:lnTo>
                  <a:pt x="373666" y="571215"/>
                </a:lnTo>
                <a:lnTo>
                  <a:pt x="366921" y="566667"/>
                </a:lnTo>
                <a:lnTo>
                  <a:pt x="362373" y="559922"/>
                </a:lnTo>
                <a:lnTo>
                  <a:pt x="360704" y="551666"/>
                </a:lnTo>
                <a:lnTo>
                  <a:pt x="360704" y="433142"/>
                </a:lnTo>
                <a:lnTo>
                  <a:pt x="403140" y="433142"/>
                </a:lnTo>
                <a:lnTo>
                  <a:pt x="403140" y="551666"/>
                </a:lnTo>
                <a:lnTo>
                  <a:pt x="401472" y="559922"/>
                </a:lnTo>
                <a:lnTo>
                  <a:pt x="396923" y="566667"/>
                </a:lnTo>
                <a:lnTo>
                  <a:pt x="390179" y="571215"/>
                </a:lnTo>
                <a:lnTo>
                  <a:pt x="381922" y="572884"/>
                </a:lnTo>
                <a:close/>
              </a:path>
              <a:path w="551815" h="636904">
                <a:moveTo>
                  <a:pt x="445576" y="466783"/>
                </a:moveTo>
                <a:lnTo>
                  <a:pt x="437590" y="465232"/>
                </a:lnTo>
                <a:lnTo>
                  <a:pt x="430575" y="460577"/>
                </a:lnTo>
                <a:lnTo>
                  <a:pt x="403140" y="433142"/>
                </a:lnTo>
                <a:lnTo>
                  <a:pt x="462281" y="433142"/>
                </a:lnTo>
                <a:lnTo>
                  <a:pt x="465232" y="437590"/>
                </a:lnTo>
                <a:lnTo>
                  <a:pt x="466783" y="445576"/>
                </a:lnTo>
                <a:lnTo>
                  <a:pt x="465232" y="453562"/>
                </a:lnTo>
                <a:lnTo>
                  <a:pt x="460577" y="460577"/>
                </a:lnTo>
                <a:lnTo>
                  <a:pt x="453562" y="465232"/>
                </a:lnTo>
                <a:lnTo>
                  <a:pt x="445576" y="466783"/>
                </a:lnTo>
                <a:close/>
              </a:path>
            </a:pathLst>
          </a:custGeom>
          <a:solidFill>
            <a:srgbClr val="F1660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8" name="object 18"/>
          <p:cNvGrpSpPr/>
          <p:nvPr/>
        </p:nvGrpSpPr>
        <p:grpSpPr>
          <a:xfrm>
            <a:off x="12127551" y="4124733"/>
            <a:ext cx="1362075" cy="693420"/>
            <a:chOff x="12127551" y="4124733"/>
            <a:chExt cx="1362075" cy="693420"/>
          </a:xfrm>
        </p:grpSpPr>
        <p:sp>
          <p:nvSpPr>
            <p:cNvPr id="19" name="object 19"/>
            <p:cNvSpPr/>
            <p:nvPr/>
          </p:nvSpPr>
          <p:spPr>
            <a:xfrm>
              <a:off x="12127548" y="4220717"/>
              <a:ext cx="1362075" cy="597535"/>
            </a:xfrm>
            <a:custGeom>
              <a:avLst/>
              <a:gdLst/>
              <a:ahLst/>
              <a:cxnLst/>
              <a:rect l="l" t="t" r="r" b="b"/>
              <a:pathLst>
                <a:path w="1362075" h="597535">
                  <a:moveTo>
                    <a:pt x="383857" y="117487"/>
                  </a:moveTo>
                  <a:lnTo>
                    <a:pt x="378345" y="102844"/>
                  </a:lnTo>
                  <a:lnTo>
                    <a:pt x="361784" y="96189"/>
                  </a:lnTo>
                  <a:lnTo>
                    <a:pt x="361175" y="96189"/>
                  </a:lnTo>
                  <a:lnTo>
                    <a:pt x="306895" y="94195"/>
                  </a:lnTo>
                  <a:lnTo>
                    <a:pt x="303631" y="94018"/>
                  </a:lnTo>
                  <a:lnTo>
                    <a:pt x="303530" y="90944"/>
                  </a:lnTo>
                  <a:lnTo>
                    <a:pt x="303453" y="88734"/>
                  </a:lnTo>
                  <a:lnTo>
                    <a:pt x="298526" y="46075"/>
                  </a:lnTo>
                  <a:lnTo>
                    <a:pt x="273240" y="9639"/>
                  </a:lnTo>
                  <a:lnTo>
                    <a:pt x="250329" y="0"/>
                  </a:lnTo>
                  <a:lnTo>
                    <a:pt x="247103" y="0"/>
                  </a:lnTo>
                  <a:lnTo>
                    <a:pt x="159499" y="80975"/>
                  </a:lnTo>
                  <a:lnTo>
                    <a:pt x="129451" y="156032"/>
                  </a:lnTo>
                  <a:lnTo>
                    <a:pt x="127952" y="164515"/>
                  </a:lnTo>
                  <a:lnTo>
                    <a:pt x="129705" y="172643"/>
                  </a:lnTo>
                  <a:lnTo>
                    <a:pt x="134302" y="179501"/>
                  </a:lnTo>
                  <a:lnTo>
                    <a:pt x="141376" y="184200"/>
                  </a:lnTo>
                  <a:lnTo>
                    <a:pt x="143941" y="185229"/>
                  </a:lnTo>
                  <a:lnTo>
                    <a:pt x="146570" y="185712"/>
                  </a:lnTo>
                  <a:lnTo>
                    <a:pt x="157619" y="185712"/>
                  </a:lnTo>
                  <a:lnTo>
                    <a:pt x="165608" y="180530"/>
                  </a:lnTo>
                  <a:lnTo>
                    <a:pt x="194335" y="106286"/>
                  </a:lnTo>
                  <a:lnTo>
                    <a:pt x="210121" y="88734"/>
                  </a:lnTo>
                  <a:lnTo>
                    <a:pt x="209296" y="93116"/>
                  </a:lnTo>
                  <a:lnTo>
                    <a:pt x="209181" y="94018"/>
                  </a:lnTo>
                  <a:lnTo>
                    <a:pt x="209156" y="94195"/>
                  </a:lnTo>
                  <a:lnTo>
                    <a:pt x="207479" y="107353"/>
                  </a:lnTo>
                  <a:lnTo>
                    <a:pt x="204038" y="143027"/>
                  </a:lnTo>
                  <a:lnTo>
                    <a:pt x="201980" y="189560"/>
                  </a:lnTo>
                  <a:lnTo>
                    <a:pt x="204343" y="236359"/>
                  </a:lnTo>
                  <a:lnTo>
                    <a:pt x="205257" y="242798"/>
                  </a:lnTo>
                  <a:lnTo>
                    <a:pt x="206819" y="258521"/>
                  </a:lnTo>
                  <a:lnTo>
                    <a:pt x="206908" y="261772"/>
                  </a:lnTo>
                  <a:lnTo>
                    <a:pt x="207022" y="266382"/>
                  </a:lnTo>
                  <a:lnTo>
                    <a:pt x="207137" y="270852"/>
                  </a:lnTo>
                  <a:lnTo>
                    <a:pt x="201891" y="314007"/>
                  </a:lnTo>
                  <a:lnTo>
                    <a:pt x="194487" y="354571"/>
                  </a:lnTo>
                  <a:lnTo>
                    <a:pt x="186016" y="399707"/>
                  </a:lnTo>
                  <a:lnTo>
                    <a:pt x="179628" y="431025"/>
                  </a:lnTo>
                  <a:lnTo>
                    <a:pt x="178523" y="438810"/>
                  </a:lnTo>
                  <a:lnTo>
                    <a:pt x="196964" y="469176"/>
                  </a:lnTo>
                  <a:lnTo>
                    <a:pt x="203415" y="469176"/>
                  </a:lnTo>
                  <a:lnTo>
                    <a:pt x="263042" y="304368"/>
                  </a:lnTo>
                  <a:lnTo>
                    <a:pt x="266573" y="291350"/>
                  </a:lnTo>
                  <a:lnTo>
                    <a:pt x="267042" y="288226"/>
                  </a:lnTo>
                  <a:lnTo>
                    <a:pt x="267855" y="280530"/>
                  </a:lnTo>
                  <a:lnTo>
                    <a:pt x="267944" y="278180"/>
                  </a:lnTo>
                  <a:lnTo>
                    <a:pt x="268185" y="270852"/>
                  </a:lnTo>
                  <a:lnTo>
                    <a:pt x="267157" y="261772"/>
                  </a:lnTo>
                  <a:lnTo>
                    <a:pt x="264045" y="231876"/>
                  </a:lnTo>
                  <a:lnTo>
                    <a:pt x="263156" y="229247"/>
                  </a:lnTo>
                  <a:lnTo>
                    <a:pt x="265531" y="227495"/>
                  </a:lnTo>
                  <a:lnTo>
                    <a:pt x="267550" y="227495"/>
                  </a:lnTo>
                  <a:lnTo>
                    <a:pt x="268960" y="228473"/>
                  </a:lnTo>
                  <a:lnTo>
                    <a:pt x="316890" y="249021"/>
                  </a:lnTo>
                  <a:lnTo>
                    <a:pt x="321386" y="254990"/>
                  </a:lnTo>
                  <a:lnTo>
                    <a:pt x="320865" y="266382"/>
                  </a:lnTo>
                  <a:lnTo>
                    <a:pt x="320738" y="278180"/>
                  </a:lnTo>
                  <a:lnTo>
                    <a:pt x="320636" y="288226"/>
                  </a:lnTo>
                  <a:lnTo>
                    <a:pt x="320560" y="296405"/>
                  </a:lnTo>
                  <a:lnTo>
                    <a:pt x="320484" y="304368"/>
                  </a:lnTo>
                  <a:lnTo>
                    <a:pt x="320382" y="314007"/>
                  </a:lnTo>
                  <a:lnTo>
                    <a:pt x="320319" y="320738"/>
                  </a:lnTo>
                  <a:lnTo>
                    <a:pt x="320713" y="330581"/>
                  </a:lnTo>
                  <a:lnTo>
                    <a:pt x="322313" y="340372"/>
                  </a:lnTo>
                  <a:lnTo>
                    <a:pt x="326212" y="349034"/>
                  </a:lnTo>
                  <a:lnTo>
                    <a:pt x="333527" y="355447"/>
                  </a:lnTo>
                  <a:lnTo>
                    <a:pt x="341401" y="358025"/>
                  </a:lnTo>
                  <a:lnTo>
                    <a:pt x="350037" y="358025"/>
                  </a:lnTo>
                  <a:lnTo>
                    <a:pt x="372579" y="329692"/>
                  </a:lnTo>
                  <a:lnTo>
                    <a:pt x="376885" y="251320"/>
                  </a:lnTo>
                  <a:lnTo>
                    <a:pt x="377545" y="241401"/>
                  </a:lnTo>
                  <a:lnTo>
                    <a:pt x="377050" y="232422"/>
                  </a:lnTo>
                  <a:lnTo>
                    <a:pt x="374904" y="227495"/>
                  </a:lnTo>
                  <a:lnTo>
                    <a:pt x="373595" y="224459"/>
                  </a:lnTo>
                  <a:lnTo>
                    <a:pt x="365417" y="217589"/>
                  </a:lnTo>
                  <a:lnTo>
                    <a:pt x="312242" y="186677"/>
                  </a:lnTo>
                  <a:lnTo>
                    <a:pt x="305943" y="182194"/>
                  </a:lnTo>
                  <a:lnTo>
                    <a:pt x="303276" y="176237"/>
                  </a:lnTo>
                  <a:lnTo>
                    <a:pt x="302818" y="169176"/>
                  </a:lnTo>
                  <a:lnTo>
                    <a:pt x="303085" y="161366"/>
                  </a:lnTo>
                  <a:lnTo>
                    <a:pt x="303174" y="156032"/>
                  </a:lnTo>
                  <a:lnTo>
                    <a:pt x="303403" y="151333"/>
                  </a:lnTo>
                  <a:lnTo>
                    <a:pt x="303580" y="146316"/>
                  </a:lnTo>
                  <a:lnTo>
                    <a:pt x="303631" y="138468"/>
                  </a:lnTo>
                  <a:lnTo>
                    <a:pt x="368147" y="138468"/>
                  </a:lnTo>
                  <a:lnTo>
                    <a:pt x="379768" y="132143"/>
                  </a:lnTo>
                  <a:lnTo>
                    <a:pt x="383857" y="117487"/>
                  </a:lnTo>
                  <a:close/>
                </a:path>
                <a:path w="1362075" h="597535">
                  <a:moveTo>
                    <a:pt x="1361605" y="138645"/>
                  </a:moveTo>
                  <a:lnTo>
                    <a:pt x="1358607" y="134200"/>
                  </a:lnTo>
                  <a:lnTo>
                    <a:pt x="1351826" y="129628"/>
                  </a:lnTo>
                  <a:lnTo>
                    <a:pt x="1343533" y="127952"/>
                  </a:lnTo>
                  <a:lnTo>
                    <a:pt x="1088847" y="127952"/>
                  </a:lnTo>
                  <a:lnTo>
                    <a:pt x="1080541" y="129628"/>
                  </a:lnTo>
                  <a:lnTo>
                    <a:pt x="1073759" y="134200"/>
                  </a:lnTo>
                  <a:lnTo>
                    <a:pt x="1069187" y="140982"/>
                  </a:lnTo>
                  <a:lnTo>
                    <a:pt x="1067511" y="149275"/>
                  </a:lnTo>
                  <a:lnTo>
                    <a:pt x="1067511" y="246227"/>
                  </a:lnTo>
                  <a:lnTo>
                    <a:pt x="831710" y="246227"/>
                  </a:lnTo>
                  <a:lnTo>
                    <a:pt x="823404" y="247904"/>
                  </a:lnTo>
                  <a:lnTo>
                    <a:pt x="816635" y="252476"/>
                  </a:lnTo>
                  <a:lnTo>
                    <a:pt x="812063" y="259257"/>
                  </a:lnTo>
                  <a:lnTo>
                    <a:pt x="810387" y="267550"/>
                  </a:lnTo>
                  <a:lnTo>
                    <a:pt x="810387" y="351878"/>
                  </a:lnTo>
                  <a:lnTo>
                    <a:pt x="565137" y="351878"/>
                  </a:lnTo>
                  <a:lnTo>
                    <a:pt x="556831" y="353555"/>
                  </a:lnTo>
                  <a:lnTo>
                    <a:pt x="550049" y="358127"/>
                  </a:lnTo>
                  <a:lnTo>
                    <a:pt x="545490" y="364896"/>
                  </a:lnTo>
                  <a:lnTo>
                    <a:pt x="543814" y="373202"/>
                  </a:lnTo>
                  <a:lnTo>
                    <a:pt x="543814" y="447840"/>
                  </a:lnTo>
                  <a:lnTo>
                    <a:pt x="309219" y="447840"/>
                  </a:lnTo>
                  <a:lnTo>
                    <a:pt x="300926" y="449516"/>
                  </a:lnTo>
                  <a:lnTo>
                    <a:pt x="294144" y="454088"/>
                  </a:lnTo>
                  <a:lnTo>
                    <a:pt x="289572" y="460870"/>
                  </a:lnTo>
                  <a:lnTo>
                    <a:pt x="287896" y="469163"/>
                  </a:lnTo>
                  <a:lnTo>
                    <a:pt x="287896" y="554469"/>
                  </a:lnTo>
                  <a:lnTo>
                    <a:pt x="21323" y="554469"/>
                  </a:lnTo>
                  <a:lnTo>
                    <a:pt x="13017" y="556145"/>
                  </a:lnTo>
                  <a:lnTo>
                    <a:pt x="6248" y="560717"/>
                  </a:lnTo>
                  <a:lnTo>
                    <a:pt x="1676" y="567499"/>
                  </a:lnTo>
                  <a:lnTo>
                    <a:pt x="0" y="575805"/>
                  </a:lnTo>
                  <a:lnTo>
                    <a:pt x="1676" y="584098"/>
                  </a:lnTo>
                  <a:lnTo>
                    <a:pt x="6248" y="590880"/>
                  </a:lnTo>
                  <a:lnTo>
                    <a:pt x="13017" y="595452"/>
                  </a:lnTo>
                  <a:lnTo>
                    <a:pt x="21323" y="597128"/>
                  </a:lnTo>
                  <a:lnTo>
                    <a:pt x="309219" y="597128"/>
                  </a:lnTo>
                  <a:lnTo>
                    <a:pt x="317525" y="595452"/>
                  </a:lnTo>
                  <a:lnTo>
                    <a:pt x="324307" y="590880"/>
                  </a:lnTo>
                  <a:lnTo>
                    <a:pt x="328879" y="584098"/>
                  </a:lnTo>
                  <a:lnTo>
                    <a:pt x="330555" y="575805"/>
                  </a:lnTo>
                  <a:lnTo>
                    <a:pt x="330555" y="490499"/>
                  </a:lnTo>
                  <a:lnTo>
                    <a:pt x="565137" y="490499"/>
                  </a:lnTo>
                  <a:lnTo>
                    <a:pt x="573430" y="488823"/>
                  </a:lnTo>
                  <a:lnTo>
                    <a:pt x="580212" y="484251"/>
                  </a:lnTo>
                  <a:lnTo>
                    <a:pt x="584784" y="477469"/>
                  </a:lnTo>
                  <a:lnTo>
                    <a:pt x="586460" y="469163"/>
                  </a:lnTo>
                  <a:lnTo>
                    <a:pt x="586460" y="394525"/>
                  </a:lnTo>
                  <a:lnTo>
                    <a:pt x="831710" y="394525"/>
                  </a:lnTo>
                  <a:lnTo>
                    <a:pt x="840003" y="392849"/>
                  </a:lnTo>
                  <a:lnTo>
                    <a:pt x="846785" y="388277"/>
                  </a:lnTo>
                  <a:lnTo>
                    <a:pt x="851357" y="381508"/>
                  </a:lnTo>
                  <a:lnTo>
                    <a:pt x="853033" y="373202"/>
                  </a:lnTo>
                  <a:lnTo>
                    <a:pt x="853033" y="288874"/>
                  </a:lnTo>
                  <a:lnTo>
                    <a:pt x="1088847" y="288874"/>
                  </a:lnTo>
                  <a:lnTo>
                    <a:pt x="1097140" y="287197"/>
                  </a:lnTo>
                  <a:lnTo>
                    <a:pt x="1103922" y="282625"/>
                  </a:lnTo>
                  <a:lnTo>
                    <a:pt x="1108494" y="275856"/>
                  </a:lnTo>
                  <a:lnTo>
                    <a:pt x="1110170" y="267550"/>
                  </a:lnTo>
                  <a:lnTo>
                    <a:pt x="1110170" y="170611"/>
                  </a:lnTo>
                  <a:lnTo>
                    <a:pt x="1343533" y="170611"/>
                  </a:lnTo>
                  <a:lnTo>
                    <a:pt x="1351826" y="168935"/>
                  </a:lnTo>
                  <a:lnTo>
                    <a:pt x="1358607" y="164363"/>
                  </a:lnTo>
                  <a:lnTo>
                    <a:pt x="1361605" y="159918"/>
                  </a:lnTo>
                  <a:lnTo>
                    <a:pt x="1361605" y="138645"/>
                  </a:lnTo>
                  <a:close/>
                </a:path>
              </a:pathLst>
            </a:custGeom>
            <a:solidFill>
              <a:srgbClr val="F1660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362137" y="4124733"/>
              <a:ext cx="63977" cy="74640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1397657" y="1555000"/>
            <a:ext cx="1710055" cy="2209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 spc="-30" b="1">
                <a:latin typeface="Trebuchet MS"/>
                <a:cs typeface="Trebuchet MS"/>
              </a:rPr>
              <a:t>Trusted</a:t>
            </a:r>
            <a:r>
              <a:rPr dirty="0" sz="1250" spc="-229" b="1">
                <a:latin typeface="Trebuchet MS"/>
                <a:cs typeface="Trebuchet MS"/>
              </a:rPr>
              <a:t> </a:t>
            </a:r>
            <a:r>
              <a:rPr dirty="0" sz="1250" b="1">
                <a:latin typeface="Trebuchet MS"/>
                <a:cs typeface="Trebuchet MS"/>
              </a:rPr>
              <a:t>By</a:t>
            </a:r>
            <a:r>
              <a:rPr dirty="0" sz="1250" spc="-229" b="1">
                <a:latin typeface="Trebuchet MS"/>
                <a:cs typeface="Trebuchet MS"/>
              </a:rPr>
              <a:t> </a:t>
            </a:r>
            <a:r>
              <a:rPr dirty="0" sz="1250" spc="55" b="1">
                <a:latin typeface="Trebuchet MS"/>
                <a:cs typeface="Trebuchet MS"/>
              </a:rPr>
              <a:t>7000+SMEs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16000" y="9647656"/>
            <a:ext cx="1519555" cy="208279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200" spc="-10">
                <a:solidFill>
                  <a:srgbClr val="092A3B"/>
                </a:solidFill>
                <a:latin typeface="Trebuchet MS"/>
                <a:cs typeface="Trebuchet MS"/>
                <a:hlinkClick r:id="rId7"/>
              </a:rPr>
              <a:t>www.finanshels.com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2" name="object 22" descr="$PPTXTitle"/>
          <p:cNvSpPr txBox="1">
            <a:spLocks noGrp="1"/>
          </p:cNvSpPr>
          <p:nvPr>
            <p:ph type="title"/>
          </p:nvPr>
        </p:nvSpPr>
        <p:spPr>
          <a:xfrm>
            <a:off x="1067936" y="2558892"/>
            <a:ext cx="5854700" cy="711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Immediate</a:t>
            </a:r>
            <a:r>
              <a:rPr dirty="0" spc="-540"/>
              <a:t> </a:t>
            </a:r>
            <a:r>
              <a:rPr dirty="0" spc="-10"/>
              <a:t>Next</a:t>
            </a:r>
            <a:r>
              <a:rPr dirty="0" spc="-535"/>
              <a:t> </a:t>
            </a:r>
            <a:r>
              <a:rPr dirty="0" spc="170"/>
              <a:t>Steps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016000" y="5947941"/>
            <a:ext cx="3704590" cy="2216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50" spc="65">
                <a:solidFill>
                  <a:srgbClr val="092A3B"/>
                </a:solidFill>
                <a:latin typeface="Trebuchet MS"/>
                <a:cs typeface="Trebuchet MS"/>
              </a:rPr>
              <a:t>Send</a:t>
            </a:r>
            <a:r>
              <a:rPr dirty="0" sz="1250" spc="-6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55">
                <a:solidFill>
                  <a:srgbClr val="092A3B"/>
                </a:solidFill>
                <a:latin typeface="Trebuchet MS"/>
                <a:cs typeface="Trebuchet MS"/>
              </a:rPr>
              <a:t>a</a:t>
            </a:r>
            <a:r>
              <a:rPr dirty="0" sz="1250" spc="-6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welcome</a:t>
            </a:r>
            <a:r>
              <a:rPr dirty="0" sz="1250" spc="-6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35">
                <a:solidFill>
                  <a:srgbClr val="092A3B"/>
                </a:solidFill>
                <a:latin typeface="Trebuchet MS"/>
                <a:cs typeface="Trebuchet MS"/>
              </a:rPr>
              <a:t>email</a:t>
            </a:r>
            <a:r>
              <a:rPr dirty="0" sz="1250" spc="-6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25">
                <a:solidFill>
                  <a:srgbClr val="092A3B"/>
                </a:solidFill>
                <a:latin typeface="Trebuchet MS"/>
                <a:cs typeface="Trebuchet MS"/>
              </a:rPr>
              <a:t>with</a:t>
            </a:r>
            <a:r>
              <a:rPr dirty="0" sz="1250" spc="-6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secure</a:t>
            </a:r>
            <a:r>
              <a:rPr dirty="0" sz="1250" spc="-6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35">
                <a:solidFill>
                  <a:srgbClr val="092A3B"/>
                </a:solidFill>
                <a:latin typeface="Trebuchet MS"/>
                <a:cs typeface="Trebuchet MS"/>
              </a:rPr>
              <a:t>client-</a:t>
            </a:r>
            <a:r>
              <a:rPr dirty="0" sz="1250" spc="-30">
                <a:solidFill>
                  <a:srgbClr val="092A3B"/>
                </a:solidFill>
                <a:latin typeface="Trebuchet MS"/>
                <a:cs typeface="Trebuchet MS"/>
              </a:rPr>
              <a:t>portal</a:t>
            </a:r>
            <a:r>
              <a:rPr dirty="0" sz="1250" spc="-6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link.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16000" y="5132200"/>
            <a:ext cx="1992630" cy="3562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150" spc="50" b="1">
                <a:solidFill>
                  <a:srgbClr val="092A3B"/>
                </a:solidFill>
                <a:latin typeface="Trebuchet MS"/>
                <a:cs typeface="Trebuchet MS"/>
              </a:rPr>
              <a:t>Welcome</a:t>
            </a:r>
            <a:r>
              <a:rPr dirty="0" sz="2150" spc="-270" b="1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2150" spc="-20" b="1">
                <a:solidFill>
                  <a:srgbClr val="092A3B"/>
                </a:solidFill>
                <a:latin typeface="Trebuchet MS"/>
                <a:cs typeface="Trebuchet MS"/>
              </a:rPr>
              <a:t>Email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563534" y="5916350"/>
            <a:ext cx="3885565" cy="4813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9500"/>
              </a:lnSpc>
              <a:spcBef>
                <a:spcPts val="90"/>
              </a:spcBef>
            </a:pPr>
            <a:r>
              <a:rPr dirty="0" sz="1250" spc="-30">
                <a:solidFill>
                  <a:srgbClr val="092A3B"/>
                </a:solidFill>
                <a:latin typeface="Trebuchet MS"/>
                <a:cs typeface="Trebuchet MS"/>
              </a:rPr>
              <a:t>Client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 uploads</a:t>
            </a:r>
            <a:r>
              <a:rPr dirty="0" sz="1250" spc="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20">
                <a:solidFill>
                  <a:srgbClr val="092A3B"/>
                </a:solidFill>
                <a:latin typeface="Trebuchet MS"/>
                <a:cs typeface="Trebuchet MS"/>
              </a:rPr>
              <a:t>required</a:t>
            </a:r>
            <a:r>
              <a:rPr dirty="0" sz="1250" spc="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documents and</a:t>
            </a:r>
            <a:r>
              <a:rPr dirty="0" sz="1250" spc="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grants</a:t>
            </a:r>
            <a:r>
              <a:rPr dirty="0" sz="1250" spc="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system </a:t>
            </a:r>
            <a:r>
              <a:rPr dirty="0" sz="1250" spc="55">
                <a:solidFill>
                  <a:srgbClr val="092A3B"/>
                </a:solidFill>
                <a:latin typeface="Trebuchet MS"/>
                <a:cs typeface="Trebuchet MS"/>
              </a:rPr>
              <a:t>access</a:t>
            </a:r>
            <a:r>
              <a:rPr dirty="0" sz="1250" spc="-11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from</a:t>
            </a:r>
            <a:r>
              <a:rPr dirty="0" sz="1250" spc="-11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the</a:t>
            </a:r>
            <a:r>
              <a:rPr dirty="0" sz="1250" spc="-11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portal.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563535" y="5132200"/>
            <a:ext cx="2326005" cy="3562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150" b="1">
                <a:solidFill>
                  <a:srgbClr val="092A3B"/>
                </a:solidFill>
                <a:latin typeface="Trebuchet MS"/>
                <a:cs typeface="Trebuchet MS"/>
              </a:rPr>
              <a:t>Document</a:t>
            </a:r>
            <a:r>
              <a:rPr dirty="0" sz="2150" spc="-35" b="1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2150" spc="-10" b="1">
                <a:solidFill>
                  <a:srgbClr val="092A3B"/>
                </a:solidFill>
                <a:latin typeface="Trebuchet MS"/>
                <a:cs typeface="Trebuchet MS"/>
              </a:rPr>
              <a:t>Upload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2111068" y="5916350"/>
            <a:ext cx="3077210" cy="4813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9500"/>
              </a:lnSpc>
              <a:spcBef>
                <a:spcPts val="90"/>
              </a:spcBef>
            </a:pP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Start</a:t>
            </a:r>
            <a:r>
              <a:rPr dirty="0" sz="1250" spc="-8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the</a:t>
            </a:r>
            <a:r>
              <a:rPr dirty="0" sz="1250" spc="-8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setup</a:t>
            </a:r>
            <a:r>
              <a:rPr dirty="0" sz="1250" spc="-8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45">
                <a:solidFill>
                  <a:srgbClr val="092A3B"/>
                </a:solidFill>
                <a:latin typeface="Trebuchet MS"/>
                <a:cs typeface="Trebuchet MS"/>
              </a:rPr>
              <a:t>process</a:t>
            </a:r>
            <a:r>
              <a:rPr dirty="0" sz="1250" spc="-8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for</a:t>
            </a:r>
            <a:r>
              <a:rPr dirty="0" sz="1250" spc="-8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accounting</a:t>
            </a:r>
            <a:r>
              <a:rPr dirty="0" sz="1250" spc="-80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25">
                <a:solidFill>
                  <a:srgbClr val="092A3B"/>
                </a:solidFill>
                <a:latin typeface="Trebuchet MS"/>
                <a:cs typeface="Trebuchet MS"/>
              </a:rPr>
              <a:t>and </a:t>
            </a:r>
            <a:r>
              <a:rPr dirty="0" sz="1250">
                <a:solidFill>
                  <a:srgbClr val="092A3B"/>
                </a:solidFill>
                <a:latin typeface="Trebuchet MS"/>
                <a:cs typeface="Trebuchet MS"/>
              </a:rPr>
              <a:t>bookkeeping</a:t>
            </a:r>
            <a:r>
              <a:rPr dirty="0" sz="1250" spc="85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092A3B"/>
                </a:solidFill>
                <a:latin typeface="Trebuchet MS"/>
                <a:cs typeface="Trebuchet MS"/>
              </a:rPr>
              <a:t>services.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2111068" y="5132200"/>
            <a:ext cx="1572895" cy="3562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150" b="1">
                <a:solidFill>
                  <a:srgbClr val="092A3B"/>
                </a:solidFill>
                <a:latin typeface="Trebuchet MS"/>
                <a:cs typeface="Trebuchet MS"/>
              </a:rPr>
              <a:t>Begin</a:t>
            </a:r>
            <a:r>
              <a:rPr dirty="0" sz="2150" spc="-50" b="1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2150" spc="30" b="1">
                <a:solidFill>
                  <a:srgbClr val="092A3B"/>
                </a:solidFill>
                <a:latin typeface="Trebuchet MS"/>
                <a:cs typeface="Trebuchet MS"/>
              </a:rPr>
              <a:t>Setup</a:t>
            </a:r>
            <a:endParaRPr sz="2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7657" y="1556984"/>
            <a:ext cx="1710055" cy="2209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 spc="-30" b="1">
                <a:latin typeface="Trebuchet MS"/>
                <a:cs typeface="Trebuchet MS"/>
              </a:rPr>
              <a:t>Trusted</a:t>
            </a:r>
            <a:r>
              <a:rPr dirty="0" sz="1250" spc="-229" b="1">
                <a:latin typeface="Trebuchet MS"/>
                <a:cs typeface="Trebuchet MS"/>
              </a:rPr>
              <a:t> </a:t>
            </a:r>
            <a:r>
              <a:rPr dirty="0" sz="1250" b="1">
                <a:latin typeface="Trebuchet MS"/>
                <a:cs typeface="Trebuchet MS"/>
              </a:rPr>
              <a:t>By</a:t>
            </a:r>
            <a:r>
              <a:rPr dirty="0" sz="1250" spc="-229" b="1">
                <a:latin typeface="Trebuchet MS"/>
                <a:cs typeface="Trebuchet MS"/>
              </a:rPr>
              <a:t> </a:t>
            </a:r>
            <a:r>
              <a:rPr dirty="0" sz="1250" spc="55" b="1">
                <a:latin typeface="Trebuchet MS"/>
                <a:cs typeface="Trebuchet MS"/>
              </a:rPr>
              <a:t>7000+SMEs</a:t>
            </a:r>
            <a:endParaRPr sz="125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84659" y="9722024"/>
            <a:ext cx="225674" cy="225673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250"/>
              <a:t>Why</a:t>
            </a:r>
            <a:r>
              <a:rPr dirty="0" spc="-575"/>
              <a:t> </a:t>
            </a:r>
            <a:r>
              <a:rPr dirty="0" spc="60"/>
              <a:t>founders</a:t>
            </a:r>
            <a:r>
              <a:rPr dirty="0" spc="-575"/>
              <a:t> </a:t>
            </a:r>
            <a:r>
              <a:rPr dirty="0" spc="140"/>
              <a:t>choose</a:t>
            </a:r>
            <a:r>
              <a:rPr dirty="0" spc="-575"/>
              <a:t> </a:t>
            </a:r>
            <a:r>
              <a:rPr dirty="0" spc="285"/>
              <a:t>us</a:t>
            </a:r>
            <a:r>
              <a:rPr dirty="0" spc="-575"/>
              <a:t> </a:t>
            </a:r>
            <a:r>
              <a:rPr dirty="0" spc="500"/>
              <a:t>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884030" y="7645182"/>
            <a:ext cx="5175250" cy="996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1700" spc="80">
                <a:solidFill>
                  <a:srgbClr val="F1660F"/>
                </a:solidFill>
                <a:latin typeface="Trebuchet MS"/>
                <a:cs typeface="Trebuchet MS"/>
              </a:rPr>
              <a:t>"Over</a:t>
            </a:r>
            <a:r>
              <a:rPr dirty="0" sz="1700" spc="-5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700" spc="100">
                <a:solidFill>
                  <a:srgbClr val="F1660F"/>
                </a:solidFill>
                <a:latin typeface="Trebuchet MS"/>
                <a:cs typeface="Trebuchet MS"/>
              </a:rPr>
              <a:t>7,000+</a:t>
            </a:r>
            <a:r>
              <a:rPr dirty="0" sz="1700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700" spc="60">
                <a:solidFill>
                  <a:srgbClr val="F1660F"/>
                </a:solidFill>
                <a:latin typeface="Trebuchet MS"/>
                <a:cs typeface="Trebuchet MS"/>
              </a:rPr>
              <a:t>Startups</a:t>
            </a:r>
            <a:r>
              <a:rPr dirty="0" sz="1700" spc="-5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700" spc="-120">
                <a:solidFill>
                  <a:srgbClr val="F1660F"/>
                </a:solidFill>
                <a:latin typeface="Trebuchet MS"/>
                <a:cs typeface="Trebuchet MS"/>
              </a:rPr>
              <a:t>&amp;</a:t>
            </a:r>
            <a:r>
              <a:rPr dirty="0" sz="1700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700" spc="225">
                <a:solidFill>
                  <a:srgbClr val="F1660F"/>
                </a:solidFill>
                <a:latin typeface="Trebuchet MS"/>
                <a:cs typeface="Trebuchet MS"/>
              </a:rPr>
              <a:t>SMEs</a:t>
            </a:r>
            <a:r>
              <a:rPr dirty="0" sz="1700">
                <a:solidFill>
                  <a:srgbClr val="F1660F"/>
                </a:solidFill>
                <a:latin typeface="Trebuchet MS"/>
                <a:cs typeface="Trebuchet MS"/>
              </a:rPr>
              <a:t> trust</a:t>
            </a:r>
            <a:r>
              <a:rPr dirty="0" sz="1700" spc="-5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F1660F"/>
                </a:solidFill>
                <a:latin typeface="Trebuchet MS"/>
                <a:cs typeface="Trebuchet MS"/>
              </a:rPr>
              <a:t>us, with </a:t>
            </a:r>
            <a:r>
              <a:rPr dirty="0" sz="1700" spc="-20">
                <a:solidFill>
                  <a:srgbClr val="F1660F"/>
                </a:solidFill>
                <a:latin typeface="Trebuchet MS"/>
                <a:cs typeface="Trebuchet MS"/>
              </a:rPr>
              <a:t>more </a:t>
            </a:r>
            <a:r>
              <a:rPr dirty="0" sz="1700">
                <a:solidFill>
                  <a:srgbClr val="F1660F"/>
                </a:solidFill>
                <a:latin typeface="Trebuchet MS"/>
                <a:cs typeface="Trebuchet MS"/>
              </a:rPr>
              <a:t>than</a:t>
            </a:r>
            <a:r>
              <a:rPr dirty="0" sz="1700" spc="-25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700" spc="195">
                <a:solidFill>
                  <a:srgbClr val="F1660F"/>
                </a:solidFill>
                <a:latin typeface="Trebuchet MS"/>
                <a:cs typeface="Trebuchet MS"/>
              </a:rPr>
              <a:t>USD</a:t>
            </a:r>
            <a:r>
              <a:rPr dirty="0" sz="1700" spc="-25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700" spc="130">
                <a:solidFill>
                  <a:srgbClr val="F1660F"/>
                </a:solidFill>
                <a:latin typeface="Trebuchet MS"/>
                <a:cs typeface="Trebuchet MS"/>
              </a:rPr>
              <a:t>2</a:t>
            </a:r>
            <a:r>
              <a:rPr dirty="0" sz="1700" spc="-25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F1660F"/>
                </a:solidFill>
                <a:latin typeface="Trebuchet MS"/>
                <a:cs typeface="Trebuchet MS"/>
              </a:rPr>
              <a:t>billion</a:t>
            </a:r>
            <a:r>
              <a:rPr dirty="0" sz="1700" spc="-20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F1660F"/>
                </a:solidFill>
                <a:latin typeface="Trebuchet MS"/>
                <a:cs typeface="Trebuchet MS"/>
              </a:rPr>
              <a:t>in</a:t>
            </a:r>
            <a:r>
              <a:rPr dirty="0" sz="1700" spc="-25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700" spc="50">
                <a:solidFill>
                  <a:srgbClr val="F1660F"/>
                </a:solidFill>
                <a:latin typeface="Trebuchet MS"/>
                <a:cs typeface="Trebuchet MS"/>
              </a:rPr>
              <a:t>transactions</a:t>
            </a:r>
            <a:r>
              <a:rPr dirty="0" sz="1700" spc="-25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700" spc="60">
                <a:solidFill>
                  <a:srgbClr val="F1660F"/>
                </a:solidFill>
                <a:latin typeface="Trebuchet MS"/>
                <a:cs typeface="Trebuchet MS"/>
              </a:rPr>
              <a:t>accounted</a:t>
            </a:r>
            <a:r>
              <a:rPr dirty="0" sz="1700" spc="-20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700" spc="75">
                <a:solidFill>
                  <a:srgbClr val="F1660F"/>
                </a:solidFill>
                <a:latin typeface="Trebuchet MS"/>
                <a:cs typeface="Trebuchet MS"/>
              </a:rPr>
              <a:t>and</a:t>
            </a:r>
            <a:r>
              <a:rPr dirty="0" sz="1700" spc="-25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700" spc="80">
                <a:solidFill>
                  <a:srgbClr val="F1660F"/>
                </a:solidFill>
                <a:latin typeface="Trebuchet MS"/>
                <a:cs typeface="Trebuchet MS"/>
              </a:rPr>
              <a:t>2 </a:t>
            </a:r>
            <a:r>
              <a:rPr dirty="0" sz="1700" spc="-20">
                <a:solidFill>
                  <a:srgbClr val="F1660F"/>
                </a:solidFill>
                <a:latin typeface="Trebuchet MS"/>
                <a:cs typeface="Trebuchet MS"/>
              </a:rPr>
              <a:t>million</a:t>
            </a:r>
            <a:r>
              <a:rPr dirty="0" sz="1700" spc="-60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700" spc="50">
                <a:solidFill>
                  <a:srgbClr val="F1660F"/>
                </a:solidFill>
                <a:latin typeface="Trebuchet MS"/>
                <a:cs typeface="Trebuchet MS"/>
              </a:rPr>
              <a:t>transactions</a:t>
            </a:r>
            <a:r>
              <a:rPr dirty="0" sz="1700" spc="-55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700" spc="65">
                <a:solidFill>
                  <a:srgbClr val="F1660F"/>
                </a:solidFill>
                <a:latin typeface="Trebuchet MS"/>
                <a:cs typeface="Trebuchet MS"/>
              </a:rPr>
              <a:t>processed."</a:t>
            </a:r>
            <a:endParaRPr sz="170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84868" y="7047147"/>
            <a:ext cx="476226" cy="8513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1054198" y="7037340"/>
            <a:ext cx="714375" cy="714375"/>
            <a:chOff x="1054198" y="7037340"/>
            <a:chExt cx="714375" cy="71437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3722" y="7046866"/>
              <a:ext cx="699665" cy="69966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063723" y="7046865"/>
              <a:ext cx="695325" cy="695325"/>
            </a:xfrm>
            <a:custGeom>
              <a:avLst/>
              <a:gdLst/>
              <a:ahLst/>
              <a:cxnLst/>
              <a:rect l="l" t="t" r="r" b="b"/>
              <a:pathLst>
                <a:path w="695325" h="695325">
                  <a:moveTo>
                    <a:pt x="402909" y="695299"/>
                  </a:moveTo>
                  <a:lnTo>
                    <a:pt x="442821" y="687171"/>
                  </a:lnTo>
                  <a:lnTo>
                    <a:pt x="485994" y="672177"/>
                  </a:lnTo>
                  <a:lnTo>
                    <a:pt x="526393" y="651906"/>
                  </a:lnTo>
                  <a:lnTo>
                    <a:pt x="563600" y="626776"/>
                  </a:lnTo>
                  <a:lnTo>
                    <a:pt x="597199" y="597203"/>
                  </a:lnTo>
                  <a:lnTo>
                    <a:pt x="626772" y="563605"/>
                  </a:lnTo>
                  <a:lnTo>
                    <a:pt x="651903" y="526398"/>
                  </a:lnTo>
                  <a:lnTo>
                    <a:pt x="672175" y="485999"/>
                  </a:lnTo>
                  <a:lnTo>
                    <a:pt x="687170" y="442826"/>
                  </a:lnTo>
                  <a:lnTo>
                    <a:pt x="695301" y="402912"/>
                  </a:lnTo>
                </a:path>
                <a:path w="695325" h="695325">
                  <a:moveTo>
                    <a:pt x="695302" y="296753"/>
                  </a:moveTo>
                  <a:lnTo>
                    <a:pt x="687165" y="256820"/>
                  </a:lnTo>
                  <a:lnTo>
                    <a:pt x="672168" y="213648"/>
                  </a:lnTo>
                  <a:lnTo>
                    <a:pt x="651895" y="173252"/>
                  </a:lnTo>
                  <a:lnTo>
                    <a:pt x="626763" y="136047"/>
                  </a:lnTo>
                  <a:lnTo>
                    <a:pt x="597190" y="102451"/>
                  </a:lnTo>
                  <a:lnTo>
                    <a:pt x="563591" y="72881"/>
                  </a:lnTo>
                  <a:lnTo>
                    <a:pt x="526385" y="47754"/>
                  </a:lnTo>
                  <a:lnTo>
                    <a:pt x="485988" y="27485"/>
                  </a:lnTo>
                  <a:lnTo>
                    <a:pt x="442817" y="12492"/>
                  </a:lnTo>
                  <a:lnTo>
                    <a:pt x="397288" y="3191"/>
                  </a:lnTo>
                  <a:lnTo>
                    <a:pt x="349819" y="0"/>
                  </a:lnTo>
                  <a:lnTo>
                    <a:pt x="302351" y="3195"/>
                  </a:lnTo>
                  <a:lnTo>
                    <a:pt x="256823" y="12498"/>
                  </a:lnTo>
                  <a:lnTo>
                    <a:pt x="213654" y="27494"/>
                  </a:lnTo>
                  <a:lnTo>
                    <a:pt x="173260" y="47765"/>
                  </a:lnTo>
                  <a:lnTo>
                    <a:pt x="136057" y="72894"/>
                  </a:lnTo>
                  <a:lnTo>
                    <a:pt x="102462" y="102464"/>
                  </a:lnTo>
                  <a:lnTo>
                    <a:pt x="72892" y="136059"/>
                  </a:lnTo>
                  <a:lnTo>
                    <a:pt x="47763" y="173262"/>
                  </a:lnTo>
                  <a:lnTo>
                    <a:pt x="27493" y="213657"/>
                  </a:lnTo>
                  <a:lnTo>
                    <a:pt x="12498" y="256826"/>
                  </a:lnTo>
                  <a:lnTo>
                    <a:pt x="3194" y="302353"/>
                  </a:lnTo>
                  <a:lnTo>
                    <a:pt x="0" y="349821"/>
                  </a:lnTo>
                  <a:lnTo>
                    <a:pt x="3191" y="397289"/>
                  </a:lnTo>
                  <a:lnTo>
                    <a:pt x="12492" y="442817"/>
                  </a:lnTo>
                  <a:lnTo>
                    <a:pt x="27485" y="485988"/>
                  </a:lnTo>
                  <a:lnTo>
                    <a:pt x="47753" y="526385"/>
                  </a:lnTo>
                  <a:lnTo>
                    <a:pt x="72881" y="563591"/>
                  </a:lnTo>
                  <a:lnTo>
                    <a:pt x="102450" y="597188"/>
                  </a:lnTo>
                  <a:lnTo>
                    <a:pt x="136045" y="626762"/>
                  </a:lnTo>
                  <a:lnTo>
                    <a:pt x="173249" y="651893"/>
                  </a:lnTo>
                  <a:lnTo>
                    <a:pt x="213645" y="672166"/>
                  </a:lnTo>
                  <a:lnTo>
                    <a:pt x="256817" y="687164"/>
                  </a:lnTo>
                  <a:lnTo>
                    <a:pt x="296752" y="695307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00152" y="8254647"/>
            <a:ext cx="485750" cy="94471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1054198" y="8244748"/>
            <a:ext cx="714375" cy="714375"/>
            <a:chOff x="1054198" y="8244748"/>
            <a:chExt cx="714375" cy="714375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63722" y="8254274"/>
              <a:ext cx="699665" cy="69966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63723" y="8254273"/>
              <a:ext cx="695325" cy="695325"/>
            </a:xfrm>
            <a:custGeom>
              <a:avLst/>
              <a:gdLst/>
              <a:ahLst/>
              <a:cxnLst/>
              <a:rect l="l" t="t" r="r" b="b"/>
              <a:pathLst>
                <a:path w="695325" h="695325">
                  <a:moveTo>
                    <a:pt x="402909" y="695299"/>
                  </a:moveTo>
                  <a:lnTo>
                    <a:pt x="442821" y="687171"/>
                  </a:lnTo>
                  <a:lnTo>
                    <a:pt x="485994" y="672177"/>
                  </a:lnTo>
                  <a:lnTo>
                    <a:pt x="526393" y="651906"/>
                  </a:lnTo>
                  <a:lnTo>
                    <a:pt x="563600" y="626776"/>
                  </a:lnTo>
                  <a:lnTo>
                    <a:pt x="597199" y="597203"/>
                  </a:lnTo>
                  <a:lnTo>
                    <a:pt x="626772" y="563605"/>
                  </a:lnTo>
                  <a:lnTo>
                    <a:pt x="651903" y="526398"/>
                  </a:lnTo>
                  <a:lnTo>
                    <a:pt x="672175" y="485999"/>
                  </a:lnTo>
                  <a:lnTo>
                    <a:pt x="687170" y="442826"/>
                  </a:lnTo>
                  <a:lnTo>
                    <a:pt x="695301" y="402913"/>
                  </a:lnTo>
                </a:path>
                <a:path w="695325" h="695325">
                  <a:moveTo>
                    <a:pt x="695302" y="296754"/>
                  </a:moveTo>
                  <a:lnTo>
                    <a:pt x="687165" y="256820"/>
                  </a:lnTo>
                  <a:lnTo>
                    <a:pt x="672168" y="213648"/>
                  </a:lnTo>
                  <a:lnTo>
                    <a:pt x="651895" y="173252"/>
                  </a:lnTo>
                  <a:lnTo>
                    <a:pt x="626763" y="136047"/>
                  </a:lnTo>
                  <a:lnTo>
                    <a:pt x="597190" y="102451"/>
                  </a:lnTo>
                  <a:lnTo>
                    <a:pt x="563591" y="72881"/>
                  </a:lnTo>
                  <a:lnTo>
                    <a:pt x="526385" y="47754"/>
                  </a:lnTo>
                  <a:lnTo>
                    <a:pt x="485988" y="27485"/>
                  </a:lnTo>
                  <a:lnTo>
                    <a:pt x="442817" y="12492"/>
                  </a:lnTo>
                  <a:lnTo>
                    <a:pt x="397288" y="3191"/>
                  </a:lnTo>
                  <a:lnTo>
                    <a:pt x="349819" y="0"/>
                  </a:lnTo>
                  <a:lnTo>
                    <a:pt x="302351" y="3195"/>
                  </a:lnTo>
                  <a:lnTo>
                    <a:pt x="256823" y="12498"/>
                  </a:lnTo>
                  <a:lnTo>
                    <a:pt x="213654" y="27494"/>
                  </a:lnTo>
                  <a:lnTo>
                    <a:pt x="173260" y="47765"/>
                  </a:lnTo>
                  <a:lnTo>
                    <a:pt x="136057" y="72894"/>
                  </a:lnTo>
                  <a:lnTo>
                    <a:pt x="102462" y="102464"/>
                  </a:lnTo>
                  <a:lnTo>
                    <a:pt x="72892" y="136059"/>
                  </a:lnTo>
                  <a:lnTo>
                    <a:pt x="47763" y="173262"/>
                  </a:lnTo>
                  <a:lnTo>
                    <a:pt x="27493" y="213657"/>
                  </a:lnTo>
                  <a:lnTo>
                    <a:pt x="12498" y="256826"/>
                  </a:lnTo>
                  <a:lnTo>
                    <a:pt x="3194" y="302353"/>
                  </a:lnTo>
                  <a:lnTo>
                    <a:pt x="0" y="349821"/>
                  </a:lnTo>
                  <a:lnTo>
                    <a:pt x="3191" y="397289"/>
                  </a:lnTo>
                  <a:lnTo>
                    <a:pt x="12492" y="442817"/>
                  </a:lnTo>
                  <a:lnTo>
                    <a:pt x="27485" y="485988"/>
                  </a:lnTo>
                  <a:lnTo>
                    <a:pt x="47753" y="526385"/>
                  </a:lnTo>
                  <a:lnTo>
                    <a:pt x="72881" y="563591"/>
                  </a:lnTo>
                  <a:lnTo>
                    <a:pt x="102450" y="597188"/>
                  </a:lnTo>
                  <a:lnTo>
                    <a:pt x="136045" y="626762"/>
                  </a:lnTo>
                  <a:lnTo>
                    <a:pt x="173249" y="651893"/>
                  </a:lnTo>
                  <a:lnTo>
                    <a:pt x="213645" y="672166"/>
                  </a:lnTo>
                  <a:lnTo>
                    <a:pt x="256816" y="687164"/>
                  </a:lnTo>
                  <a:lnTo>
                    <a:pt x="296752" y="695307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319703" y="7094532"/>
            <a:ext cx="485750" cy="94471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4473749" y="7084634"/>
            <a:ext cx="714375" cy="714375"/>
            <a:chOff x="4473749" y="7084634"/>
            <a:chExt cx="714375" cy="714375"/>
          </a:xfrm>
        </p:grpSpPr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83273" y="7094159"/>
              <a:ext cx="699665" cy="69966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483274" y="7094159"/>
              <a:ext cx="695325" cy="695325"/>
            </a:xfrm>
            <a:custGeom>
              <a:avLst/>
              <a:gdLst/>
              <a:ahLst/>
              <a:cxnLst/>
              <a:rect l="l" t="t" r="r" b="b"/>
              <a:pathLst>
                <a:path w="695325" h="695325">
                  <a:moveTo>
                    <a:pt x="402910" y="695299"/>
                  </a:moveTo>
                  <a:lnTo>
                    <a:pt x="442821" y="687172"/>
                  </a:lnTo>
                  <a:lnTo>
                    <a:pt x="485994" y="672177"/>
                  </a:lnTo>
                  <a:lnTo>
                    <a:pt x="526393" y="651906"/>
                  </a:lnTo>
                  <a:lnTo>
                    <a:pt x="563600" y="626776"/>
                  </a:lnTo>
                  <a:lnTo>
                    <a:pt x="597199" y="597204"/>
                  </a:lnTo>
                  <a:lnTo>
                    <a:pt x="626773" y="563605"/>
                  </a:lnTo>
                  <a:lnTo>
                    <a:pt x="651903" y="526398"/>
                  </a:lnTo>
                  <a:lnTo>
                    <a:pt x="672175" y="486000"/>
                  </a:lnTo>
                  <a:lnTo>
                    <a:pt x="687170" y="442826"/>
                  </a:lnTo>
                  <a:lnTo>
                    <a:pt x="695300" y="402913"/>
                  </a:lnTo>
                </a:path>
                <a:path w="695325" h="695325">
                  <a:moveTo>
                    <a:pt x="695302" y="296753"/>
                  </a:moveTo>
                  <a:lnTo>
                    <a:pt x="687165" y="256820"/>
                  </a:lnTo>
                  <a:lnTo>
                    <a:pt x="672168" y="213648"/>
                  </a:lnTo>
                  <a:lnTo>
                    <a:pt x="651895" y="173252"/>
                  </a:lnTo>
                  <a:lnTo>
                    <a:pt x="626763" y="136047"/>
                  </a:lnTo>
                  <a:lnTo>
                    <a:pt x="597189" y="102451"/>
                  </a:lnTo>
                  <a:lnTo>
                    <a:pt x="563591" y="72881"/>
                  </a:lnTo>
                  <a:lnTo>
                    <a:pt x="526385" y="47754"/>
                  </a:lnTo>
                  <a:lnTo>
                    <a:pt x="485988" y="27485"/>
                  </a:lnTo>
                  <a:lnTo>
                    <a:pt x="442817" y="12492"/>
                  </a:lnTo>
                  <a:lnTo>
                    <a:pt x="397288" y="3191"/>
                  </a:lnTo>
                  <a:lnTo>
                    <a:pt x="349819" y="0"/>
                  </a:lnTo>
                  <a:lnTo>
                    <a:pt x="302351" y="3195"/>
                  </a:lnTo>
                  <a:lnTo>
                    <a:pt x="256823" y="12498"/>
                  </a:lnTo>
                  <a:lnTo>
                    <a:pt x="213654" y="27494"/>
                  </a:lnTo>
                  <a:lnTo>
                    <a:pt x="173260" y="47765"/>
                  </a:lnTo>
                  <a:lnTo>
                    <a:pt x="136057" y="72894"/>
                  </a:lnTo>
                  <a:lnTo>
                    <a:pt x="102462" y="102464"/>
                  </a:lnTo>
                  <a:lnTo>
                    <a:pt x="72892" y="136059"/>
                  </a:lnTo>
                  <a:lnTo>
                    <a:pt x="47763" y="173262"/>
                  </a:lnTo>
                  <a:lnTo>
                    <a:pt x="27493" y="213657"/>
                  </a:lnTo>
                  <a:lnTo>
                    <a:pt x="12498" y="256826"/>
                  </a:lnTo>
                  <a:lnTo>
                    <a:pt x="3194" y="302353"/>
                  </a:lnTo>
                  <a:lnTo>
                    <a:pt x="0" y="349821"/>
                  </a:lnTo>
                  <a:lnTo>
                    <a:pt x="3191" y="397289"/>
                  </a:lnTo>
                  <a:lnTo>
                    <a:pt x="12492" y="442817"/>
                  </a:lnTo>
                  <a:lnTo>
                    <a:pt x="27485" y="485988"/>
                  </a:lnTo>
                  <a:lnTo>
                    <a:pt x="47753" y="526385"/>
                  </a:lnTo>
                  <a:lnTo>
                    <a:pt x="72880" y="563591"/>
                  </a:lnTo>
                  <a:lnTo>
                    <a:pt x="102450" y="597189"/>
                  </a:lnTo>
                  <a:lnTo>
                    <a:pt x="136045" y="626762"/>
                  </a:lnTo>
                  <a:lnTo>
                    <a:pt x="173249" y="651893"/>
                  </a:lnTo>
                  <a:lnTo>
                    <a:pt x="213645" y="672167"/>
                  </a:lnTo>
                  <a:lnTo>
                    <a:pt x="256816" y="687164"/>
                  </a:lnTo>
                  <a:lnTo>
                    <a:pt x="296751" y="695306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19703" y="8265759"/>
            <a:ext cx="485750" cy="94471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4473749" y="8292042"/>
            <a:ext cx="714375" cy="714375"/>
            <a:chOff x="4473749" y="8292042"/>
            <a:chExt cx="714375" cy="714375"/>
          </a:xfrm>
        </p:grpSpPr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83273" y="8301568"/>
              <a:ext cx="699665" cy="69966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483274" y="8301567"/>
              <a:ext cx="695325" cy="695325"/>
            </a:xfrm>
            <a:custGeom>
              <a:avLst/>
              <a:gdLst/>
              <a:ahLst/>
              <a:cxnLst/>
              <a:rect l="l" t="t" r="r" b="b"/>
              <a:pathLst>
                <a:path w="695325" h="695325">
                  <a:moveTo>
                    <a:pt x="402910" y="695299"/>
                  </a:moveTo>
                  <a:lnTo>
                    <a:pt x="442821" y="687172"/>
                  </a:lnTo>
                  <a:lnTo>
                    <a:pt x="485994" y="672177"/>
                  </a:lnTo>
                  <a:lnTo>
                    <a:pt x="526393" y="651906"/>
                  </a:lnTo>
                  <a:lnTo>
                    <a:pt x="563601" y="626776"/>
                  </a:lnTo>
                  <a:lnTo>
                    <a:pt x="597199" y="597204"/>
                  </a:lnTo>
                  <a:lnTo>
                    <a:pt x="626773" y="563605"/>
                  </a:lnTo>
                  <a:lnTo>
                    <a:pt x="651903" y="526398"/>
                  </a:lnTo>
                  <a:lnTo>
                    <a:pt x="672175" y="486000"/>
                  </a:lnTo>
                  <a:lnTo>
                    <a:pt x="687170" y="442826"/>
                  </a:lnTo>
                  <a:lnTo>
                    <a:pt x="695301" y="402913"/>
                  </a:lnTo>
                </a:path>
                <a:path w="695325" h="695325">
                  <a:moveTo>
                    <a:pt x="695302" y="296753"/>
                  </a:moveTo>
                  <a:lnTo>
                    <a:pt x="687165" y="256820"/>
                  </a:lnTo>
                  <a:lnTo>
                    <a:pt x="672168" y="213648"/>
                  </a:lnTo>
                  <a:lnTo>
                    <a:pt x="651895" y="173251"/>
                  </a:lnTo>
                  <a:lnTo>
                    <a:pt x="626763" y="136047"/>
                  </a:lnTo>
                  <a:lnTo>
                    <a:pt x="597190" y="102451"/>
                  </a:lnTo>
                  <a:lnTo>
                    <a:pt x="563591" y="72881"/>
                  </a:lnTo>
                  <a:lnTo>
                    <a:pt x="526385" y="47754"/>
                  </a:lnTo>
                  <a:lnTo>
                    <a:pt x="485988" y="27485"/>
                  </a:lnTo>
                  <a:lnTo>
                    <a:pt x="442817" y="12492"/>
                  </a:lnTo>
                  <a:lnTo>
                    <a:pt x="397288" y="3191"/>
                  </a:lnTo>
                  <a:lnTo>
                    <a:pt x="349819" y="0"/>
                  </a:lnTo>
                  <a:lnTo>
                    <a:pt x="302351" y="3195"/>
                  </a:lnTo>
                  <a:lnTo>
                    <a:pt x="256823" y="12498"/>
                  </a:lnTo>
                  <a:lnTo>
                    <a:pt x="213654" y="27494"/>
                  </a:lnTo>
                  <a:lnTo>
                    <a:pt x="173260" y="47765"/>
                  </a:lnTo>
                  <a:lnTo>
                    <a:pt x="136057" y="72894"/>
                  </a:lnTo>
                  <a:lnTo>
                    <a:pt x="102462" y="102464"/>
                  </a:lnTo>
                  <a:lnTo>
                    <a:pt x="72892" y="136059"/>
                  </a:lnTo>
                  <a:lnTo>
                    <a:pt x="47763" y="173262"/>
                  </a:lnTo>
                  <a:lnTo>
                    <a:pt x="27493" y="213657"/>
                  </a:lnTo>
                  <a:lnTo>
                    <a:pt x="12498" y="256826"/>
                  </a:lnTo>
                  <a:lnTo>
                    <a:pt x="3194" y="302353"/>
                  </a:lnTo>
                  <a:lnTo>
                    <a:pt x="0" y="349821"/>
                  </a:lnTo>
                  <a:lnTo>
                    <a:pt x="3191" y="397289"/>
                  </a:lnTo>
                  <a:lnTo>
                    <a:pt x="12492" y="442817"/>
                  </a:lnTo>
                  <a:lnTo>
                    <a:pt x="27485" y="485988"/>
                  </a:lnTo>
                  <a:lnTo>
                    <a:pt x="47753" y="526385"/>
                  </a:lnTo>
                  <a:lnTo>
                    <a:pt x="72881" y="563591"/>
                  </a:lnTo>
                  <a:lnTo>
                    <a:pt x="102450" y="597189"/>
                  </a:lnTo>
                  <a:lnTo>
                    <a:pt x="136045" y="626762"/>
                  </a:lnTo>
                  <a:lnTo>
                    <a:pt x="173249" y="651893"/>
                  </a:lnTo>
                  <a:lnTo>
                    <a:pt x="213645" y="672167"/>
                  </a:lnTo>
                  <a:lnTo>
                    <a:pt x="256816" y="687164"/>
                  </a:lnTo>
                  <a:lnTo>
                    <a:pt x="296751" y="695306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/>
          <p:nvPr/>
        </p:nvSpPr>
        <p:spPr>
          <a:xfrm>
            <a:off x="1038225" y="6703965"/>
            <a:ext cx="1766570" cy="0"/>
          </a:xfrm>
          <a:custGeom>
            <a:avLst/>
            <a:gdLst/>
            <a:ahLst/>
            <a:cxnLst/>
            <a:rect l="l" t="t" r="r" b="b"/>
            <a:pathLst>
              <a:path w="1766570" h="0">
                <a:moveTo>
                  <a:pt x="0" y="0"/>
                </a:moveTo>
                <a:lnTo>
                  <a:pt x="1766489" y="0"/>
                </a:lnTo>
              </a:path>
            </a:pathLst>
          </a:custGeom>
          <a:ln w="19049">
            <a:solidFill>
              <a:srgbClr val="FFA5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887452" y="7195642"/>
            <a:ext cx="2192020" cy="3543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0600"/>
              </a:lnSpc>
              <a:spcBef>
                <a:spcPts val="100"/>
              </a:spcBef>
            </a:pPr>
            <a:r>
              <a:rPr dirty="0" sz="650">
                <a:latin typeface="Trebuchet MS"/>
                <a:cs typeface="Trebuchet MS"/>
              </a:rPr>
              <a:t>“Fast,</a:t>
            </a:r>
            <a:r>
              <a:rPr dirty="0" sz="650" spc="370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Friendly,</a:t>
            </a:r>
            <a:r>
              <a:rPr dirty="0" sz="650" spc="375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and</a:t>
            </a:r>
            <a:r>
              <a:rPr dirty="0" sz="650" spc="370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very</a:t>
            </a:r>
            <a:r>
              <a:rPr dirty="0" sz="650" spc="375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professional.</a:t>
            </a:r>
            <a:r>
              <a:rPr dirty="0" sz="650" spc="370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I</a:t>
            </a:r>
            <a:r>
              <a:rPr dirty="0" sz="650" spc="375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love</a:t>
            </a:r>
            <a:r>
              <a:rPr dirty="0" sz="650" spc="375">
                <a:latin typeface="Trebuchet MS"/>
                <a:cs typeface="Trebuchet MS"/>
              </a:rPr>
              <a:t> </a:t>
            </a:r>
            <a:r>
              <a:rPr dirty="0" sz="650" spc="-25">
                <a:latin typeface="Trebuchet MS"/>
                <a:cs typeface="Trebuchet MS"/>
              </a:rPr>
              <a:t>how</a:t>
            </a:r>
            <a:r>
              <a:rPr dirty="0" sz="650" spc="500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communicative</a:t>
            </a:r>
            <a:r>
              <a:rPr dirty="0" sz="650" spc="235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they</a:t>
            </a:r>
            <a:r>
              <a:rPr dirty="0" sz="650" spc="240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were</a:t>
            </a:r>
            <a:r>
              <a:rPr dirty="0" sz="650" spc="240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handling</a:t>
            </a:r>
            <a:r>
              <a:rPr dirty="0" sz="650" spc="240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our</a:t>
            </a:r>
            <a:r>
              <a:rPr dirty="0" sz="650" spc="235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Corporate</a:t>
            </a:r>
            <a:r>
              <a:rPr dirty="0" sz="650" spc="240">
                <a:latin typeface="Trebuchet MS"/>
                <a:cs typeface="Trebuchet MS"/>
              </a:rPr>
              <a:t> </a:t>
            </a:r>
            <a:r>
              <a:rPr dirty="0" sz="650" spc="-25">
                <a:latin typeface="Trebuchet MS"/>
                <a:cs typeface="Trebuchet MS"/>
              </a:rPr>
              <a:t>tax</a:t>
            </a:r>
            <a:r>
              <a:rPr dirty="0" sz="650" spc="500">
                <a:latin typeface="Trebuchet MS"/>
                <a:cs typeface="Trebuchet MS"/>
              </a:rPr>
              <a:t> </a:t>
            </a:r>
            <a:r>
              <a:rPr dirty="0" sz="650" spc="-10">
                <a:latin typeface="Trebuchet MS"/>
                <a:cs typeface="Trebuchet MS"/>
              </a:rPr>
              <a:t>registration.”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870631" y="7601370"/>
            <a:ext cx="902969" cy="19685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500" spc="10" b="1">
                <a:latin typeface="Trebuchet MS"/>
                <a:cs typeface="Trebuchet MS"/>
              </a:rPr>
              <a:t>Abdulla</a:t>
            </a:r>
            <a:r>
              <a:rPr dirty="0" sz="500" spc="-10" b="1">
                <a:latin typeface="Trebuchet MS"/>
                <a:cs typeface="Trebuchet MS"/>
              </a:rPr>
              <a:t> </a:t>
            </a:r>
            <a:r>
              <a:rPr dirty="0" sz="500" spc="10" b="1">
                <a:latin typeface="Trebuchet MS"/>
                <a:cs typeface="Trebuchet MS"/>
              </a:rPr>
              <a:t>Al-Ogail</a:t>
            </a:r>
            <a:r>
              <a:rPr dirty="0" sz="500" spc="229" b="1">
                <a:latin typeface="Trebuchet MS"/>
                <a:cs typeface="Trebuchet MS"/>
              </a:rPr>
              <a:t>  </a:t>
            </a:r>
            <a:r>
              <a:rPr dirty="0" baseline="5555" sz="750" spc="-15" b="1">
                <a:latin typeface="Trebuchet MS"/>
                <a:cs typeface="Trebuchet MS"/>
              </a:rPr>
              <a:t>OLYMON</a:t>
            </a:r>
            <a:endParaRPr baseline="5555" sz="750">
              <a:latin typeface="Trebuchet MS"/>
              <a:cs typeface="Trebuchet MS"/>
            </a:endParaRPr>
          </a:p>
          <a:p>
            <a:pPr marL="17780">
              <a:lnSpc>
                <a:spcPct val="100000"/>
              </a:lnSpc>
              <a:spcBef>
                <a:spcPts val="155"/>
              </a:spcBef>
            </a:pPr>
            <a:r>
              <a:rPr dirty="0" sz="350" spc="50">
                <a:latin typeface="Trebuchet MS"/>
                <a:cs typeface="Trebuchet MS"/>
              </a:rPr>
              <a:t>Co-</a:t>
            </a:r>
            <a:r>
              <a:rPr dirty="0" sz="350" spc="20">
                <a:latin typeface="Trebuchet MS"/>
                <a:cs typeface="Trebuchet MS"/>
              </a:rPr>
              <a:t>founder </a:t>
            </a:r>
            <a:r>
              <a:rPr dirty="0" sz="350" spc="10">
                <a:latin typeface="Trebuchet MS"/>
                <a:cs typeface="Trebuchet MS"/>
              </a:rPr>
              <a:t>&amp;</a:t>
            </a:r>
            <a:r>
              <a:rPr dirty="0" sz="350" spc="20">
                <a:latin typeface="Trebuchet MS"/>
                <a:cs typeface="Trebuchet MS"/>
              </a:rPr>
              <a:t> </a:t>
            </a:r>
            <a:r>
              <a:rPr dirty="0" sz="350" spc="25">
                <a:latin typeface="Trebuchet MS"/>
                <a:cs typeface="Trebuchet MS"/>
              </a:rPr>
              <a:t>CEO</a:t>
            </a:r>
            <a:endParaRPr sz="35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41160" y="6195394"/>
            <a:ext cx="287464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092A3B"/>
                </a:solidFill>
                <a:latin typeface="Trebuchet MS"/>
                <a:cs typeface="Trebuchet MS"/>
              </a:rPr>
              <a:t>Loved</a:t>
            </a:r>
            <a:r>
              <a:rPr dirty="0" sz="2000" spc="-210" b="1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2000" spc="85" b="1">
                <a:solidFill>
                  <a:srgbClr val="092A3B"/>
                </a:solidFill>
                <a:latin typeface="Trebuchet MS"/>
                <a:cs typeface="Trebuchet MS"/>
              </a:rPr>
              <a:t>By</a:t>
            </a:r>
            <a:r>
              <a:rPr dirty="0" sz="2000" spc="-204" b="1">
                <a:solidFill>
                  <a:srgbClr val="092A3B"/>
                </a:solidFill>
                <a:latin typeface="Trebuchet MS"/>
                <a:cs typeface="Trebuchet MS"/>
              </a:rPr>
              <a:t> </a:t>
            </a:r>
            <a:r>
              <a:rPr dirty="0" sz="2000" spc="-10" b="1">
                <a:solidFill>
                  <a:srgbClr val="092A3B"/>
                </a:solidFill>
                <a:latin typeface="Trebuchet MS"/>
                <a:cs typeface="Trebuchet MS"/>
              </a:rPr>
              <a:t>Entrepreneurs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887452" y="8403052"/>
            <a:ext cx="2192020" cy="4641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0600"/>
              </a:lnSpc>
              <a:spcBef>
                <a:spcPts val="100"/>
              </a:spcBef>
            </a:pPr>
            <a:r>
              <a:rPr dirty="0" sz="650" spc="10">
                <a:latin typeface="Trebuchet MS"/>
                <a:cs typeface="Trebuchet MS"/>
              </a:rPr>
              <a:t>“Always</a:t>
            </a:r>
            <a:r>
              <a:rPr dirty="0" sz="650" spc="55">
                <a:latin typeface="Trebuchet MS"/>
                <a:cs typeface="Trebuchet MS"/>
              </a:rPr>
              <a:t> </a:t>
            </a:r>
            <a:r>
              <a:rPr dirty="0" sz="650" spc="10">
                <a:latin typeface="Trebuchet MS"/>
                <a:cs typeface="Trebuchet MS"/>
              </a:rPr>
              <a:t>very</a:t>
            </a:r>
            <a:r>
              <a:rPr dirty="0" sz="650" spc="60">
                <a:latin typeface="Trebuchet MS"/>
                <a:cs typeface="Trebuchet MS"/>
              </a:rPr>
              <a:t> </a:t>
            </a:r>
            <a:r>
              <a:rPr dirty="0" sz="650" spc="10">
                <a:latin typeface="Trebuchet MS"/>
                <a:cs typeface="Trebuchet MS"/>
              </a:rPr>
              <a:t>responsive,</a:t>
            </a:r>
            <a:r>
              <a:rPr dirty="0" sz="650" spc="60">
                <a:latin typeface="Trebuchet MS"/>
                <a:cs typeface="Trebuchet MS"/>
              </a:rPr>
              <a:t> </a:t>
            </a:r>
            <a:r>
              <a:rPr dirty="0" sz="650" spc="10">
                <a:latin typeface="Trebuchet MS"/>
                <a:cs typeface="Trebuchet MS"/>
              </a:rPr>
              <a:t>supportive,</a:t>
            </a:r>
            <a:r>
              <a:rPr dirty="0" sz="650" spc="60">
                <a:latin typeface="Trebuchet MS"/>
                <a:cs typeface="Trebuchet MS"/>
              </a:rPr>
              <a:t> </a:t>
            </a:r>
            <a:r>
              <a:rPr dirty="0" sz="650" spc="10">
                <a:latin typeface="Trebuchet MS"/>
                <a:cs typeface="Trebuchet MS"/>
              </a:rPr>
              <a:t>having</a:t>
            </a:r>
            <a:r>
              <a:rPr dirty="0" sz="650" spc="60">
                <a:latin typeface="Trebuchet MS"/>
                <a:cs typeface="Trebuchet MS"/>
              </a:rPr>
              <a:t> </a:t>
            </a:r>
            <a:r>
              <a:rPr dirty="0" sz="650" spc="10">
                <a:latin typeface="Trebuchet MS"/>
                <a:cs typeface="Trebuchet MS"/>
              </a:rPr>
              <a:t>a</a:t>
            </a:r>
            <a:r>
              <a:rPr dirty="0" sz="650" spc="60">
                <a:latin typeface="Trebuchet MS"/>
                <a:cs typeface="Trebuchet MS"/>
              </a:rPr>
              <a:t> </a:t>
            </a:r>
            <a:r>
              <a:rPr dirty="0" sz="650" spc="-10">
                <a:latin typeface="Trebuchet MS"/>
                <a:cs typeface="Trebuchet MS"/>
              </a:rPr>
              <a:t>business</a:t>
            </a:r>
            <a:r>
              <a:rPr dirty="0" sz="650" spc="500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mindset,</a:t>
            </a:r>
            <a:r>
              <a:rPr dirty="0" sz="650" spc="114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providing</a:t>
            </a:r>
            <a:r>
              <a:rPr dirty="0" sz="650" spc="120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visuals</a:t>
            </a:r>
            <a:r>
              <a:rPr dirty="0" sz="650" spc="120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and</a:t>
            </a:r>
            <a:r>
              <a:rPr dirty="0" sz="650" spc="114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on</a:t>
            </a:r>
            <a:r>
              <a:rPr dirty="0" sz="650" spc="120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top</a:t>
            </a:r>
            <a:r>
              <a:rPr dirty="0" sz="650" spc="120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of</a:t>
            </a:r>
            <a:r>
              <a:rPr dirty="0" sz="650" spc="114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all</a:t>
            </a:r>
            <a:r>
              <a:rPr dirty="0" sz="650" spc="120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that,</a:t>
            </a:r>
            <a:r>
              <a:rPr dirty="0" sz="650" spc="120">
                <a:latin typeface="Trebuchet MS"/>
                <a:cs typeface="Trebuchet MS"/>
              </a:rPr>
              <a:t> </a:t>
            </a:r>
            <a:r>
              <a:rPr dirty="0" sz="650" spc="-20">
                <a:latin typeface="Trebuchet MS"/>
                <a:cs typeface="Trebuchet MS"/>
              </a:rPr>
              <a:t>open</a:t>
            </a:r>
            <a:r>
              <a:rPr dirty="0" sz="650" spc="500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for</a:t>
            </a:r>
            <a:r>
              <a:rPr dirty="0" sz="650" spc="150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feedback</a:t>
            </a:r>
            <a:r>
              <a:rPr dirty="0" sz="650" spc="150">
                <a:latin typeface="Trebuchet MS"/>
                <a:cs typeface="Trebuchet MS"/>
              </a:rPr>
              <a:t> </a:t>
            </a:r>
            <a:r>
              <a:rPr dirty="0" sz="650" spc="50">
                <a:latin typeface="Trebuchet MS"/>
                <a:cs typeface="Trebuchet MS"/>
              </a:rPr>
              <a:t>so</a:t>
            </a:r>
            <a:r>
              <a:rPr dirty="0" sz="650" spc="150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they</a:t>
            </a:r>
            <a:r>
              <a:rPr dirty="0" sz="650" spc="155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can</a:t>
            </a:r>
            <a:r>
              <a:rPr dirty="0" sz="650" spc="150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keep</a:t>
            </a:r>
            <a:r>
              <a:rPr dirty="0" sz="650" spc="150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improving.</a:t>
            </a:r>
            <a:r>
              <a:rPr dirty="0" sz="650" spc="155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Very</a:t>
            </a:r>
            <a:r>
              <a:rPr dirty="0" sz="650" spc="150">
                <a:latin typeface="Trebuchet MS"/>
                <a:cs typeface="Trebuchet MS"/>
              </a:rPr>
              <a:t> </a:t>
            </a:r>
            <a:r>
              <a:rPr dirty="0" sz="650" spc="-20">
                <a:latin typeface="Trebuchet MS"/>
                <a:cs typeface="Trebuchet MS"/>
              </a:rPr>
              <a:t>happy</a:t>
            </a:r>
            <a:r>
              <a:rPr dirty="0" sz="650" spc="500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that</a:t>
            </a:r>
            <a:r>
              <a:rPr dirty="0" sz="650" spc="30">
                <a:latin typeface="Trebuchet MS"/>
                <a:cs typeface="Trebuchet MS"/>
              </a:rPr>
              <a:t> </a:t>
            </a:r>
            <a:r>
              <a:rPr dirty="0" sz="650" spc="-40">
                <a:latin typeface="Trebuchet MS"/>
                <a:cs typeface="Trebuchet MS"/>
              </a:rPr>
              <a:t>i</a:t>
            </a:r>
            <a:r>
              <a:rPr dirty="0" sz="650" spc="30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took</a:t>
            </a:r>
            <a:r>
              <a:rPr dirty="0" sz="650" spc="30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the</a:t>
            </a:r>
            <a:r>
              <a:rPr dirty="0" sz="650" spc="30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decision</a:t>
            </a:r>
            <a:r>
              <a:rPr dirty="0" sz="650" spc="30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to</a:t>
            </a:r>
            <a:r>
              <a:rPr dirty="0" sz="650" spc="30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work</a:t>
            </a:r>
            <a:r>
              <a:rPr dirty="0" sz="650" spc="30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with</a:t>
            </a:r>
            <a:r>
              <a:rPr dirty="0" sz="650" spc="30">
                <a:latin typeface="Trebuchet MS"/>
                <a:cs typeface="Trebuchet MS"/>
              </a:rPr>
              <a:t> </a:t>
            </a:r>
            <a:r>
              <a:rPr dirty="0" sz="650" spc="-10">
                <a:latin typeface="Trebuchet MS"/>
                <a:cs typeface="Trebuchet MS"/>
              </a:rPr>
              <a:t>them.”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870631" y="8985653"/>
            <a:ext cx="408305" cy="19685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500" b="1">
                <a:latin typeface="Trebuchet MS"/>
                <a:cs typeface="Trebuchet MS"/>
              </a:rPr>
              <a:t>Szilvia</a:t>
            </a:r>
            <a:r>
              <a:rPr dirty="0" sz="500" spc="70" b="1">
                <a:latin typeface="Trebuchet MS"/>
                <a:cs typeface="Trebuchet MS"/>
              </a:rPr>
              <a:t> </a:t>
            </a:r>
            <a:r>
              <a:rPr dirty="0" sz="500" spc="-10" b="1">
                <a:latin typeface="Trebuchet MS"/>
                <a:cs typeface="Trebuchet MS"/>
              </a:rPr>
              <a:t>Vitos</a:t>
            </a:r>
            <a:endParaRPr sz="500">
              <a:latin typeface="Trebuchet MS"/>
              <a:cs typeface="Trebuchet MS"/>
            </a:endParaRPr>
          </a:p>
          <a:p>
            <a:pPr marL="13970">
              <a:lnSpc>
                <a:spcPct val="100000"/>
              </a:lnSpc>
              <a:spcBef>
                <a:spcPts val="155"/>
              </a:spcBef>
            </a:pPr>
            <a:r>
              <a:rPr dirty="0" sz="350" spc="-10">
                <a:latin typeface="Trebuchet MS"/>
                <a:cs typeface="Trebuchet MS"/>
              </a:rPr>
              <a:t>Founder</a:t>
            </a:r>
            <a:endParaRPr sz="35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460825" y="8992123"/>
            <a:ext cx="280670" cy="10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 spc="-10" b="1">
                <a:latin typeface="Trebuchet MS"/>
                <a:cs typeface="Trebuchet MS"/>
              </a:rPr>
              <a:t>LIVVITY</a:t>
            </a:r>
            <a:endParaRPr sz="50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307003" y="7242936"/>
            <a:ext cx="2192020" cy="5734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0600"/>
              </a:lnSpc>
              <a:spcBef>
                <a:spcPts val="100"/>
              </a:spcBef>
            </a:pPr>
            <a:r>
              <a:rPr dirty="0" sz="650">
                <a:latin typeface="Trebuchet MS"/>
                <a:cs typeface="Trebuchet MS"/>
              </a:rPr>
              <a:t>“I’ve</a:t>
            </a:r>
            <a:r>
              <a:rPr dirty="0" sz="650" spc="204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worked</a:t>
            </a:r>
            <a:r>
              <a:rPr dirty="0" sz="650" spc="210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with</a:t>
            </a:r>
            <a:r>
              <a:rPr dirty="0" sz="650" spc="210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Finanshels</a:t>
            </a:r>
            <a:r>
              <a:rPr dirty="0" sz="650" spc="204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in</a:t>
            </a:r>
            <a:r>
              <a:rPr dirty="0" sz="650" spc="210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auditing</a:t>
            </a:r>
            <a:r>
              <a:rPr dirty="0" sz="650" spc="210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our</a:t>
            </a:r>
            <a:r>
              <a:rPr dirty="0" sz="650" spc="204">
                <a:latin typeface="Trebuchet MS"/>
                <a:cs typeface="Trebuchet MS"/>
              </a:rPr>
              <a:t> </a:t>
            </a:r>
            <a:r>
              <a:rPr dirty="0" sz="650" spc="-10">
                <a:latin typeface="Trebuchet MS"/>
                <a:cs typeface="Trebuchet MS"/>
              </a:rPr>
              <a:t>financial</a:t>
            </a:r>
            <a:r>
              <a:rPr dirty="0" sz="650" spc="500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statements</a:t>
            </a:r>
            <a:r>
              <a:rPr dirty="0" sz="650" spc="70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&amp;</a:t>
            </a:r>
            <a:r>
              <a:rPr dirty="0" sz="650" spc="75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submitting</a:t>
            </a:r>
            <a:r>
              <a:rPr dirty="0" sz="650" spc="70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the</a:t>
            </a:r>
            <a:r>
              <a:rPr dirty="0" sz="650" spc="75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corporate</a:t>
            </a:r>
            <a:r>
              <a:rPr dirty="0" sz="650" spc="75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tax</a:t>
            </a:r>
            <a:r>
              <a:rPr dirty="0" sz="650" spc="70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return.</a:t>
            </a:r>
            <a:r>
              <a:rPr dirty="0" sz="650" spc="75">
                <a:latin typeface="Trebuchet MS"/>
                <a:cs typeface="Trebuchet MS"/>
              </a:rPr>
              <a:t> </a:t>
            </a:r>
            <a:r>
              <a:rPr dirty="0" sz="650" spc="-20">
                <a:latin typeface="Trebuchet MS"/>
                <a:cs typeface="Trebuchet MS"/>
              </a:rPr>
              <a:t>They</a:t>
            </a:r>
            <a:r>
              <a:rPr dirty="0" sz="650" spc="500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were</a:t>
            </a:r>
            <a:r>
              <a:rPr dirty="0" sz="650" spc="415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very</a:t>
            </a:r>
            <a:r>
              <a:rPr dirty="0" sz="650" spc="420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professional</a:t>
            </a:r>
            <a:r>
              <a:rPr dirty="0" sz="650" spc="420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&amp;</a:t>
            </a:r>
            <a:r>
              <a:rPr dirty="0" sz="650" spc="415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finished</a:t>
            </a:r>
            <a:r>
              <a:rPr dirty="0" sz="650" spc="420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on</a:t>
            </a:r>
            <a:r>
              <a:rPr dirty="0" sz="650" spc="420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the</a:t>
            </a:r>
            <a:r>
              <a:rPr dirty="0" sz="650" spc="420">
                <a:latin typeface="Trebuchet MS"/>
                <a:cs typeface="Trebuchet MS"/>
              </a:rPr>
              <a:t> </a:t>
            </a:r>
            <a:r>
              <a:rPr dirty="0" sz="650" spc="-10">
                <a:latin typeface="Trebuchet MS"/>
                <a:cs typeface="Trebuchet MS"/>
              </a:rPr>
              <a:t>agreed</a:t>
            </a:r>
            <a:r>
              <a:rPr dirty="0" sz="650" spc="500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timeline.</a:t>
            </a:r>
            <a:r>
              <a:rPr dirty="0" sz="650" spc="290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Thanks</a:t>
            </a:r>
            <a:r>
              <a:rPr dirty="0" sz="650" spc="290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for</a:t>
            </a:r>
            <a:r>
              <a:rPr dirty="0" sz="650" spc="295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all</a:t>
            </a:r>
            <a:r>
              <a:rPr dirty="0" sz="650" spc="290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team</a:t>
            </a:r>
            <a:r>
              <a:rPr dirty="0" sz="650" spc="295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&amp;</a:t>
            </a:r>
            <a:r>
              <a:rPr dirty="0" sz="650" spc="290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special</a:t>
            </a:r>
            <a:r>
              <a:rPr dirty="0" sz="650" spc="295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thanks</a:t>
            </a:r>
            <a:r>
              <a:rPr dirty="0" sz="650" spc="290">
                <a:latin typeface="Trebuchet MS"/>
                <a:cs typeface="Trebuchet MS"/>
              </a:rPr>
              <a:t> </a:t>
            </a:r>
            <a:r>
              <a:rPr dirty="0" sz="650" spc="-20">
                <a:latin typeface="Trebuchet MS"/>
                <a:cs typeface="Trebuchet MS"/>
              </a:rPr>
              <a:t>for:</a:t>
            </a:r>
            <a:r>
              <a:rPr dirty="0" sz="650" spc="500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Sunaifa,</a:t>
            </a:r>
            <a:r>
              <a:rPr dirty="0" sz="650" spc="55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Afsal,</a:t>
            </a:r>
            <a:r>
              <a:rPr dirty="0" sz="650" spc="55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Ekta</a:t>
            </a:r>
            <a:r>
              <a:rPr dirty="0" sz="650" spc="60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and</a:t>
            </a:r>
            <a:r>
              <a:rPr dirty="0" sz="650" spc="55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Shamil.</a:t>
            </a:r>
            <a:r>
              <a:rPr dirty="0" sz="650" spc="55">
                <a:latin typeface="Trebuchet MS"/>
                <a:cs typeface="Trebuchet MS"/>
              </a:rPr>
              <a:t> </a:t>
            </a:r>
            <a:r>
              <a:rPr dirty="0" sz="650" spc="-50">
                <a:latin typeface="Trebuchet MS"/>
                <a:cs typeface="Trebuchet MS"/>
              </a:rPr>
              <a:t>”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290182" y="7863233"/>
            <a:ext cx="979805" cy="19685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  <a:tabLst>
                <a:tab pos="602615" algn="l"/>
              </a:tabLst>
            </a:pPr>
            <a:r>
              <a:rPr dirty="0" sz="500" spc="20" b="1">
                <a:latin typeface="Trebuchet MS"/>
                <a:cs typeface="Trebuchet MS"/>
              </a:rPr>
              <a:t>Maged</a:t>
            </a:r>
            <a:r>
              <a:rPr dirty="0" sz="500" spc="75" b="1">
                <a:latin typeface="Trebuchet MS"/>
                <a:cs typeface="Trebuchet MS"/>
              </a:rPr>
              <a:t> </a:t>
            </a:r>
            <a:r>
              <a:rPr dirty="0" sz="500" spc="-10" b="1">
                <a:latin typeface="Trebuchet MS"/>
                <a:cs typeface="Trebuchet MS"/>
              </a:rPr>
              <a:t>Yousry</a:t>
            </a:r>
            <a:r>
              <a:rPr dirty="0" sz="500" b="1">
                <a:latin typeface="Trebuchet MS"/>
                <a:cs typeface="Trebuchet MS"/>
              </a:rPr>
              <a:t>	</a:t>
            </a:r>
            <a:r>
              <a:rPr dirty="0" baseline="5555" sz="750" b="1">
                <a:latin typeface="Trebuchet MS"/>
                <a:cs typeface="Trebuchet MS"/>
              </a:rPr>
              <a:t>Estaie</a:t>
            </a:r>
            <a:r>
              <a:rPr dirty="0" baseline="5555" sz="750" spc="89" b="1">
                <a:latin typeface="Trebuchet MS"/>
                <a:cs typeface="Trebuchet MS"/>
              </a:rPr>
              <a:t> </a:t>
            </a:r>
            <a:r>
              <a:rPr dirty="0" baseline="5555" sz="750" spc="-30" b="1">
                <a:latin typeface="Trebuchet MS"/>
                <a:cs typeface="Trebuchet MS"/>
              </a:rPr>
              <a:t>Tech</a:t>
            </a:r>
            <a:endParaRPr baseline="5555" sz="750">
              <a:latin typeface="Trebuchet MS"/>
              <a:cs typeface="Trebuchet MS"/>
            </a:endParaRPr>
          </a:p>
          <a:p>
            <a:pPr marL="17780">
              <a:lnSpc>
                <a:spcPct val="100000"/>
              </a:lnSpc>
              <a:spcBef>
                <a:spcPts val="155"/>
              </a:spcBef>
            </a:pPr>
            <a:r>
              <a:rPr dirty="0" sz="350" spc="-10">
                <a:latin typeface="Trebuchet MS"/>
                <a:cs typeface="Trebuchet MS"/>
              </a:rPr>
              <a:t>Manager</a:t>
            </a:r>
            <a:endParaRPr sz="35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307003" y="8412246"/>
            <a:ext cx="2230755" cy="4641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0600"/>
              </a:lnSpc>
              <a:spcBef>
                <a:spcPts val="100"/>
              </a:spcBef>
            </a:pPr>
            <a:r>
              <a:rPr dirty="0" sz="650" spc="10">
                <a:latin typeface="Trebuchet MS"/>
                <a:cs typeface="Trebuchet MS"/>
              </a:rPr>
              <a:t>“They</a:t>
            </a:r>
            <a:r>
              <a:rPr dirty="0" sz="650" spc="50">
                <a:latin typeface="Trebuchet MS"/>
                <a:cs typeface="Trebuchet MS"/>
              </a:rPr>
              <a:t> </a:t>
            </a:r>
            <a:r>
              <a:rPr dirty="0" sz="650" spc="10">
                <a:latin typeface="Trebuchet MS"/>
                <a:cs typeface="Trebuchet MS"/>
              </a:rPr>
              <a:t>designed</a:t>
            </a:r>
            <a:r>
              <a:rPr dirty="0" sz="650" spc="55">
                <a:latin typeface="Trebuchet MS"/>
                <a:cs typeface="Trebuchet MS"/>
              </a:rPr>
              <a:t> </a:t>
            </a:r>
            <a:r>
              <a:rPr dirty="0" sz="650" spc="10">
                <a:latin typeface="Trebuchet MS"/>
                <a:cs typeface="Trebuchet MS"/>
              </a:rPr>
              <a:t>an</a:t>
            </a:r>
            <a:r>
              <a:rPr dirty="0" sz="650" spc="50">
                <a:latin typeface="Trebuchet MS"/>
                <a:cs typeface="Trebuchet MS"/>
              </a:rPr>
              <a:t> </a:t>
            </a:r>
            <a:r>
              <a:rPr dirty="0" sz="650" spc="10">
                <a:latin typeface="Trebuchet MS"/>
                <a:cs typeface="Trebuchet MS"/>
              </a:rPr>
              <a:t>accounting</a:t>
            </a:r>
            <a:r>
              <a:rPr dirty="0" sz="650" spc="55">
                <a:latin typeface="Trebuchet MS"/>
                <a:cs typeface="Trebuchet MS"/>
              </a:rPr>
              <a:t> </a:t>
            </a:r>
            <a:r>
              <a:rPr dirty="0" sz="650" spc="10">
                <a:latin typeface="Trebuchet MS"/>
                <a:cs typeface="Trebuchet MS"/>
              </a:rPr>
              <a:t>system</a:t>
            </a:r>
            <a:r>
              <a:rPr dirty="0" sz="650" spc="55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tailor</a:t>
            </a:r>
            <a:r>
              <a:rPr dirty="0" sz="650" spc="50">
                <a:latin typeface="Trebuchet MS"/>
                <a:cs typeface="Trebuchet MS"/>
              </a:rPr>
              <a:t> </a:t>
            </a:r>
            <a:r>
              <a:rPr dirty="0" sz="650" spc="10">
                <a:latin typeface="Trebuchet MS"/>
                <a:cs typeface="Trebuchet MS"/>
              </a:rPr>
              <a:t>made</a:t>
            </a:r>
            <a:r>
              <a:rPr dirty="0" sz="650" spc="55">
                <a:latin typeface="Trebuchet MS"/>
                <a:cs typeface="Trebuchet MS"/>
              </a:rPr>
              <a:t> </a:t>
            </a:r>
            <a:r>
              <a:rPr dirty="0" sz="650" spc="10">
                <a:latin typeface="Trebuchet MS"/>
                <a:cs typeface="Trebuchet MS"/>
              </a:rPr>
              <a:t>to</a:t>
            </a:r>
            <a:r>
              <a:rPr dirty="0" sz="650" spc="50">
                <a:latin typeface="Trebuchet MS"/>
                <a:cs typeface="Trebuchet MS"/>
              </a:rPr>
              <a:t> </a:t>
            </a:r>
            <a:r>
              <a:rPr dirty="0" sz="650" spc="-25">
                <a:latin typeface="Trebuchet MS"/>
                <a:cs typeface="Trebuchet MS"/>
              </a:rPr>
              <a:t>our</a:t>
            </a:r>
            <a:r>
              <a:rPr dirty="0" sz="650" spc="500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needs</a:t>
            </a:r>
            <a:r>
              <a:rPr dirty="0" sz="650" spc="204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&amp;</a:t>
            </a:r>
            <a:r>
              <a:rPr dirty="0" sz="650" spc="210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completely</a:t>
            </a:r>
            <a:r>
              <a:rPr dirty="0" sz="650" spc="210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automated</a:t>
            </a:r>
            <a:r>
              <a:rPr dirty="0" sz="650" spc="210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our</a:t>
            </a:r>
            <a:r>
              <a:rPr dirty="0" sz="650" spc="210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finance</a:t>
            </a:r>
            <a:r>
              <a:rPr dirty="0" sz="650" spc="210">
                <a:latin typeface="Trebuchet MS"/>
                <a:cs typeface="Trebuchet MS"/>
              </a:rPr>
              <a:t> </a:t>
            </a:r>
            <a:r>
              <a:rPr dirty="0" sz="650" spc="-10">
                <a:latin typeface="Trebuchet MS"/>
                <a:cs typeface="Trebuchet MS"/>
              </a:rPr>
              <a:t>operations</a:t>
            </a:r>
            <a:r>
              <a:rPr dirty="0" sz="650" spc="500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just</a:t>
            </a:r>
            <a:r>
              <a:rPr dirty="0" sz="650" spc="145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like</a:t>
            </a:r>
            <a:r>
              <a:rPr dirty="0" sz="650" spc="145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they</a:t>
            </a:r>
            <a:r>
              <a:rPr dirty="0" sz="650" spc="145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promised.</a:t>
            </a:r>
            <a:r>
              <a:rPr dirty="0" sz="650" spc="145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They’ve</a:t>
            </a:r>
            <a:r>
              <a:rPr dirty="0" sz="650" spc="150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been</a:t>
            </a:r>
            <a:r>
              <a:rPr dirty="0" sz="650" spc="145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super</a:t>
            </a:r>
            <a:r>
              <a:rPr dirty="0" sz="650" spc="145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helpful</a:t>
            </a:r>
            <a:r>
              <a:rPr dirty="0" sz="650" spc="145">
                <a:latin typeface="Trebuchet MS"/>
                <a:cs typeface="Trebuchet MS"/>
              </a:rPr>
              <a:t> </a:t>
            </a:r>
            <a:r>
              <a:rPr dirty="0" sz="650" spc="-25">
                <a:latin typeface="Trebuchet MS"/>
                <a:cs typeface="Trebuchet MS"/>
              </a:rPr>
              <a:t>for</a:t>
            </a:r>
            <a:r>
              <a:rPr dirty="0" sz="650" spc="500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us</a:t>
            </a:r>
            <a:r>
              <a:rPr dirty="0" sz="650" spc="35">
                <a:latin typeface="Trebuchet MS"/>
                <a:cs typeface="Trebuchet MS"/>
              </a:rPr>
              <a:t> </a:t>
            </a:r>
            <a:r>
              <a:rPr dirty="0" sz="650">
                <a:latin typeface="Trebuchet MS"/>
                <a:cs typeface="Trebuchet MS"/>
              </a:rPr>
              <a:t>to</a:t>
            </a:r>
            <a:r>
              <a:rPr dirty="0" sz="650" spc="35">
                <a:latin typeface="Trebuchet MS"/>
                <a:cs typeface="Trebuchet MS"/>
              </a:rPr>
              <a:t> </a:t>
            </a:r>
            <a:r>
              <a:rPr dirty="0" sz="650" spc="-10">
                <a:latin typeface="Trebuchet MS"/>
                <a:cs typeface="Trebuchet MS"/>
              </a:rPr>
              <a:t>scale.”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290182" y="8994954"/>
            <a:ext cx="484505" cy="19685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500" b="1">
                <a:latin typeface="Trebuchet MS"/>
                <a:cs typeface="Trebuchet MS"/>
              </a:rPr>
              <a:t>Jeremy</a:t>
            </a:r>
            <a:r>
              <a:rPr dirty="0" sz="500" spc="60" b="1">
                <a:latin typeface="Trebuchet MS"/>
                <a:cs typeface="Trebuchet MS"/>
              </a:rPr>
              <a:t> </a:t>
            </a:r>
            <a:r>
              <a:rPr dirty="0" sz="500" spc="-10" b="1">
                <a:latin typeface="Trebuchet MS"/>
                <a:cs typeface="Trebuchet MS"/>
              </a:rPr>
              <a:t>Khatar</a:t>
            </a:r>
            <a:endParaRPr sz="500">
              <a:latin typeface="Trebuchet MS"/>
              <a:cs typeface="Trebuchet MS"/>
            </a:endParaRPr>
          </a:p>
          <a:p>
            <a:pPr marL="17780">
              <a:lnSpc>
                <a:spcPct val="100000"/>
              </a:lnSpc>
              <a:spcBef>
                <a:spcPts val="155"/>
              </a:spcBef>
            </a:pPr>
            <a:r>
              <a:rPr dirty="0" sz="350" spc="25">
                <a:latin typeface="Trebuchet MS"/>
                <a:cs typeface="Trebuchet MS"/>
              </a:rPr>
              <a:t>CEO</a:t>
            </a:r>
            <a:endParaRPr sz="350">
              <a:latin typeface="Trebuchet MS"/>
              <a:cs typeface="Trebuchet M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880377" y="8992123"/>
            <a:ext cx="720725" cy="10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 b="1">
                <a:latin typeface="Trebuchet MS"/>
                <a:cs typeface="Trebuchet MS"/>
              </a:rPr>
              <a:t>Ronin</a:t>
            </a:r>
            <a:r>
              <a:rPr dirty="0" sz="500" spc="25" b="1">
                <a:latin typeface="Trebuchet MS"/>
                <a:cs typeface="Trebuchet MS"/>
              </a:rPr>
              <a:t> </a:t>
            </a:r>
            <a:r>
              <a:rPr dirty="0" sz="500" b="1">
                <a:latin typeface="Trebuchet MS"/>
                <a:cs typeface="Trebuchet MS"/>
              </a:rPr>
              <a:t>Global</a:t>
            </a:r>
            <a:r>
              <a:rPr dirty="0" sz="500" spc="25" b="1">
                <a:latin typeface="Trebuchet MS"/>
                <a:cs typeface="Trebuchet MS"/>
              </a:rPr>
              <a:t> </a:t>
            </a:r>
            <a:r>
              <a:rPr dirty="0" sz="500" b="1">
                <a:latin typeface="Trebuchet MS"/>
                <a:cs typeface="Trebuchet MS"/>
              </a:rPr>
              <a:t>LLC,</a:t>
            </a:r>
            <a:r>
              <a:rPr dirty="0" sz="500" spc="25" b="1">
                <a:latin typeface="Trebuchet MS"/>
                <a:cs typeface="Trebuchet MS"/>
              </a:rPr>
              <a:t> USA</a:t>
            </a:r>
            <a:endParaRPr sz="500">
              <a:latin typeface="Trebuchet MS"/>
              <a:cs typeface="Trebuchet MS"/>
            </a:endParaRPr>
          </a:p>
        </p:txBody>
      </p:sp>
      <p:pic>
        <p:nvPicPr>
          <p:cNvPr id="34" name="object 3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286373" y="4828789"/>
            <a:ext cx="514349" cy="171449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186991" y="4831484"/>
            <a:ext cx="590549" cy="200024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093699" y="4793264"/>
            <a:ext cx="1028699" cy="276224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186991" y="5305664"/>
            <a:ext cx="628649" cy="314324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705446" y="5356469"/>
            <a:ext cx="447674" cy="171449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259054" y="5369233"/>
            <a:ext cx="828674" cy="180974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887735" y="5344607"/>
            <a:ext cx="590549" cy="190499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378443" y="5316930"/>
            <a:ext cx="733424" cy="285749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411622" y="4727345"/>
            <a:ext cx="550230" cy="418327"/>
          </a:xfrm>
          <a:prstGeom prst="rect">
            <a:avLst/>
          </a:prstGeom>
        </p:spPr>
      </p:pic>
      <p:sp>
        <p:nvSpPr>
          <p:cNvPr id="43" name="object 43"/>
          <p:cNvSpPr txBox="1"/>
          <p:nvPr/>
        </p:nvSpPr>
        <p:spPr>
          <a:xfrm>
            <a:off x="1016000" y="3352782"/>
            <a:ext cx="15213965" cy="1957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3999"/>
              </a:lnSpc>
              <a:spcBef>
                <a:spcPts val="100"/>
              </a:spcBef>
            </a:pPr>
            <a:r>
              <a:rPr dirty="0" sz="1700" spc="60">
                <a:solidFill>
                  <a:srgbClr val="052A20"/>
                </a:solidFill>
                <a:latin typeface="Trebuchet MS"/>
                <a:cs typeface="Trebuchet MS"/>
              </a:rPr>
              <a:t>Finanshels</a:t>
            </a:r>
            <a:r>
              <a:rPr dirty="0" sz="1700" spc="50">
                <a:solidFill>
                  <a:srgbClr val="052A20"/>
                </a:solidFill>
                <a:latin typeface="Trebuchet MS"/>
                <a:cs typeface="Trebuchet MS"/>
              </a:rPr>
              <a:t> </a:t>
            </a:r>
            <a:r>
              <a:rPr dirty="0" sz="1700" spc="95">
                <a:solidFill>
                  <a:srgbClr val="052A20"/>
                </a:solidFill>
                <a:latin typeface="Trebuchet MS"/>
                <a:cs typeface="Trebuchet MS"/>
              </a:rPr>
              <a:t>serves</a:t>
            </a:r>
            <a:r>
              <a:rPr dirty="0" sz="1700" spc="55">
                <a:solidFill>
                  <a:srgbClr val="052A20"/>
                </a:solidFill>
                <a:latin typeface="Trebuchet MS"/>
                <a:cs typeface="Trebuchet MS"/>
              </a:rPr>
              <a:t> </a:t>
            </a:r>
            <a:r>
              <a:rPr dirty="0" sz="1700" spc="70">
                <a:solidFill>
                  <a:srgbClr val="052A20"/>
                </a:solidFill>
                <a:latin typeface="Trebuchet MS"/>
                <a:cs typeface="Trebuchet MS"/>
              </a:rPr>
              <a:t>a</a:t>
            </a:r>
            <a:r>
              <a:rPr dirty="0" sz="1700" spc="55">
                <a:solidFill>
                  <a:srgbClr val="052A20"/>
                </a:solidFill>
                <a:latin typeface="Trebuchet MS"/>
                <a:cs typeface="Trebuchet MS"/>
              </a:rPr>
              <a:t> diverse </a:t>
            </a:r>
            <a:r>
              <a:rPr dirty="0" sz="1700" spc="65">
                <a:solidFill>
                  <a:srgbClr val="052A20"/>
                </a:solidFill>
                <a:latin typeface="Trebuchet MS"/>
                <a:cs typeface="Trebuchet MS"/>
              </a:rPr>
              <a:t>range</a:t>
            </a:r>
            <a:r>
              <a:rPr dirty="0" sz="1700" spc="55">
                <a:solidFill>
                  <a:srgbClr val="052A20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052A20"/>
                </a:solidFill>
                <a:latin typeface="Trebuchet MS"/>
                <a:cs typeface="Trebuchet MS"/>
              </a:rPr>
              <a:t>of</a:t>
            </a:r>
            <a:r>
              <a:rPr dirty="0" sz="1700" spc="50">
                <a:solidFill>
                  <a:srgbClr val="052A20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052A20"/>
                </a:solidFill>
                <a:latin typeface="Trebuchet MS"/>
                <a:cs typeface="Trebuchet MS"/>
              </a:rPr>
              <a:t>clients,</a:t>
            </a:r>
            <a:r>
              <a:rPr dirty="0" sz="1700" spc="55">
                <a:solidFill>
                  <a:srgbClr val="052A20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052A20"/>
                </a:solidFill>
                <a:latin typeface="Trebuchet MS"/>
                <a:cs typeface="Trebuchet MS"/>
              </a:rPr>
              <a:t>from</a:t>
            </a:r>
            <a:r>
              <a:rPr dirty="0" sz="1700" spc="55">
                <a:solidFill>
                  <a:srgbClr val="052A20"/>
                </a:solidFill>
                <a:latin typeface="Trebuchet MS"/>
                <a:cs typeface="Trebuchet MS"/>
              </a:rPr>
              <a:t> startups </a:t>
            </a:r>
            <a:r>
              <a:rPr dirty="0" sz="1700">
                <a:solidFill>
                  <a:srgbClr val="052A20"/>
                </a:solidFill>
                <a:latin typeface="Trebuchet MS"/>
                <a:cs typeface="Trebuchet MS"/>
              </a:rPr>
              <a:t>to</a:t>
            </a:r>
            <a:r>
              <a:rPr dirty="0" sz="1700" spc="55">
                <a:solidFill>
                  <a:srgbClr val="052A20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052A20"/>
                </a:solidFill>
                <a:latin typeface="Trebuchet MS"/>
                <a:cs typeface="Trebuchet MS"/>
              </a:rPr>
              <a:t>multinational</a:t>
            </a:r>
            <a:r>
              <a:rPr dirty="0" sz="1700" spc="50">
                <a:solidFill>
                  <a:srgbClr val="052A20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052A20"/>
                </a:solidFill>
                <a:latin typeface="Trebuchet MS"/>
                <a:cs typeface="Trebuchet MS"/>
              </a:rPr>
              <a:t>corporations,</a:t>
            </a:r>
            <a:r>
              <a:rPr dirty="0" sz="1700" spc="55">
                <a:solidFill>
                  <a:srgbClr val="052A20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052A20"/>
                </a:solidFill>
                <a:latin typeface="Trebuchet MS"/>
                <a:cs typeface="Trebuchet MS"/>
              </a:rPr>
              <a:t>built</a:t>
            </a:r>
            <a:r>
              <a:rPr dirty="0" sz="1700" spc="55">
                <a:solidFill>
                  <a:srgbClr val="052A20"/>
                </a:solidFill>
                <a:latin typeface="Trebuchet MS"/>
                <a:cs typeface="Trebuchet MS"/>
              </a:rPr>
              <a:t> </a:t>
            </a:r>
            <a:r>
              <a:rPr dirty="0" sz="1700" spc="80">
                <a:solidFill>
                  <a:srgbClr val="052A20"/>
                </a:solidFill>
                <a:latin typeface="Trebuchet MS"/>
                <a:cs typeface="Trebuchet MS"/>
              </a:rPr>
              <a:t>on</a:t>
            </a:r>
            <a:r>
              <a:rPr dirty="0" sz="1700" spc="55">
                <a:solidFill>
                  <a:srgbClr val="052A20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052A20"/>
                </a:solidFill>
                <a:latin typeface="Trebuchet MS"/>
                <a:cs typeface="Trebuchet MS"/>
              </a:rPr>
              <a:t>trust</a:t>
            </a:r>
            <a:r>
              <a:rPr dirty="0" sz="1700" spc="55">
                <a:solidFill>
                  <a:srgbClr val="052A20"/>
                </a:solidFill>
                <a:latin typeface="Trebuchet MS"/>
                <a:cs typeface="Trebuchet MS"/>
              </a:rPr>
              <a:t> </a:t>
            </a:r>
            <a:r>
              <a:rPr dirty="0" sz="1700" spc="75">
                <a:solidFill>
                  <a:srgbClr val="052A20"/>
                </a:solidFill>
                <a:latin typeface="Trebuchet MS"/>
                <a:cs typeface="Trebuchet MS"/>
              </a:rPr>
              <a:t>and</a:t>
            </a:r>
            <a:r>
              <a:rPr dirty="0" sz="1700" spc="55">
                <a:solidFill>
                  <a:srgbClr val="052A20"/>
                </a:solidFill>
                <a:latin typeface="Trebuchet MS"/>
                <a:cs typeface="Trebuchet MS"/>
              </a:rPr>
              <a:t> </a:t>
            </a:r>
            <a:r>
              <a:rPr dirty="0" sz="1700" spc="70">
                <a:solidFill>
                  <a:srgbClr val="052A20"/>
                </a:solidFill>
                <a:latin typeface="Trebuchet MS"/>
                <a:cs typeface="Trebuchet MS"/>
              </a:rPr>
              <a:t>a</a:t>
            </a:r>
            <a:r>
              <a:rPr dirty="0" sz="1700" spc="50">
                <a:solidFill>
                  <a:srgbClr val="052A20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052A20"/>
                </a:solidFill>
                <a:latin typeface="Trebuchet MS"/>
                <a:cs typeface="Trebuchet MS"/>
              </a:rPr>
              <a:t>reputation</a:t>
            </a:r>
            <a:r>
              <a:rPr dirty="0" sz="1700" spc="55">
                <a:solidFill>
                  <a:srgbClr val="052A20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052A20"/>
                </a:solidFill>
                <a:latin typeface="Trebuchet MS"/>
                <a:cs typeface="Trebuchet MS"/>
              </a:rPr>
              <a:t>for</a:t>
            </a:r>
            <a:r>
              <a:rPr dirty="0" sz="1700" spc="55">
                <a:solidFill>
                  <a:srgbClr val="052A20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052A20"/>
                </a:solidFill>
                <a:latin typeface="Trebuchet MS"/>
                <a:cs typeface="Trebuchet MS"/>
              </a:rPr>
              <a:t>tailored,</a:t>
            </a:r>
            <a:r>
              <a:rPr dirty="0" sz="1700" spc="55">
                <a:solidFill>
                  <a:srgbClr val="052A20"/>
                </a:solidFill>
                <a:latin typeface="Trebuchet MS"/>
                <a:cs typeface="Trebuchet MS"/>
              </a:rPr>
              <a:t> </a:t>
            </a:r>
            <a:r>
              <a:rPr dirty="0" sz="1700" spc="65">
                <a:solidFill>
                  <a:srgbClr val="052A20"/>
                </a:solidFill>
                <a:latin typeface="Trebuchet MS"/>
                <a:cs typeface="Trebuchet MS"/>
              </a:rPr>
              <a:t>top-</a:t>
            </a:r>
            <a:r>
              <a:rPr dirty="0" sz="1700">
                <a:solidFill>
                  <a:srgbClr val="052A20"/>
                </a:solidFill>
                <a:latin typeface="Trebuchet MS"/>
                <a:cs typeface="Trebuchet MS"/>
              </a:rPr>
              <a:t>tier</a:t>
            </a:r>
            <a:r>
              <a:rPr dirty="0" sz="1700" spc="55">
                <a:solidFill>
                  <a:srgbClr val="052A20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052A20"/>
                </a:solidFill>
                <a:latin typeface="Trebuchet MS"/>
                <a:cs typeface="Trebuchet MS"/>
              </a:rPr>
              <a:t>service. </a:t>
            </a:r>
            <a:r>
              <a:rPr dirty="0" sz="1700" b="1">
                <a:solidFill>
                  <a:srgbClr val="F1660F"/>
                </a:solidFill>
                <a:latin typeface="Trebuchet MS"/>
                <a:cs typeface="Trebuchet MS"/>
              </a:rPr>
              <a:t>We’ve</a:t>
            </a:r>
            <a:r>
              <a:rPr dirty="0" sz="1700" spc="-25" b="1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700" b="1">
                <a:solidFill>
                  <a:srgbClr val="F1660F"/>
                </a:solidFill>
                <a:latin typeface="Trebuchet MS"/>
                <a:cs typeface="Trebuchet MS"/>
              </a:rPr>
              <a:t>helped</a:t>
            </a:r>
            <a:r>
              <a:rPr dirty="0" sz="1700" spc="-25" b="1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700" spc="105" b="1">
                <a:solidFill>
                  <a:srgbClr val="F1660F"/>
                </a:solidFill>
                <a:latin typeface="Trebuchet MS"/>
                <a:cs typeface="Trebuchet MS"/>
              </a:rPr>
              <a:t>4,000+</a:t>
            </a:r>
            <a:r>
              <a:rPr dirty="0" sz="1700" spc="-25" b="1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700" spc="100" b="1">
                <a:solidFill>
                  <a:srgbClr val="F1660F"/>
                </a:solidFill>
                <a:latin typeface="Trebuchet MS"/>
                <a:cs typeface="Trebuchet MS"/>
              </a:rPr>
              <a:t>businesses</a:t>
            </a:r>
            <a:r>
              <a:rPr dirty="0" sz="1700" spc="-25" b="1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700" b="1">
                <a:solidFill>
                  <a:srgbClr val="F1660F"/>
                </a:solidFill>
                <a:latin typeface="Trebuchet MS"/>
                <a:cs typeface="Trebuchet MS"/>
              </a:rPr>
              <a:t>in</a:t>
            </a:r>
            <a:r>
              <a:rPr dirty="0" sz="1700" spc="-25" b="1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700" spc="100" b="1">
                <a:solidFill>
                  <a:srgbClr val="F1660F"/>
                </a:solidFill>
                <a:latin typeface="Trebuchet MS"/>
                <a:cs typeface="Trebuchet MS"/>
              </a:rPr>
              <a:t>less</a:t>
            </a:r>
            <a:r>
              <a:rPr dirty="0" sz="1700" spc="-20" b="1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700" b="1">
                <a:solidFill>
                  <a:srgbClr val="F1660F"/>
                </a:solidFill>
                <a:latin typeface="Trebuchet MS"/>
                <a:cs typeface="Trebuchet MS"/>
              </a:rPr>
              <a:t>than</a:t>
            </a:r>
            <a:r>
              <a:rPr dirty="0" sz="1700" spc="-25" b="1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700" spc="120" b="1">
                <a:solidFill>
                  <a:srgbClr val="F1660F"/>
                </a:solidFill>
                <a:latin typeface="Trebuchet MS"/>
                <a:cs typeface="Trebuchet MS"/>
              </a:rPr>
              <a:t>3</a:t>
            </a:r>
            <a:r>
              <a:rPr dirty="0" sz="1700" spc="-25" b="1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700" spc="75" b="1">
                <a:solidFill>
                  <a:srgbClr val="F1660F"/>
                </a:solidFill>
                <a:latin typeface="Trebuchet MS"/>
                <a:cs typeface="Trebuchet MS"/>
              </a:rPr>
              <a:t>years</a:t>
            </a:r>
            <a:r>
              <a:rPr dirty="0" sz="1700" spc="-25" b="1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700" spc="110" b="1">
                <a:solidFill>
                  <a:srgbClr val="F1660F"/>
                </a:solidFill>
                <a:latin typeface="Trebuchet MS"/>
                <a:cs typeface="Trebuchet MS"/>
              </a:rPr>
              <a:t>across</a:t>
            </a:r>
            <a:r>
              <a:rPr dirty="0" sz="1700" spc="-25" b="1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700" b="1">
                <a:solidFill>
                  <a:srgbClr val="F1660F"/>
                </a:solidFill>
                <a:latin typeface="Trebuchet MS"/>
                <a:cs typeface="Trebuchet MS"/>
              </a:rPr>
              <a:t>the</a:t>
            </a:r>
            <a:r>
              <a:rPr dirty="0" sz="1700" spc="-20" b="1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700" spc="55" b="1">
                <a:solidFill>
                  <a:srgbClr val="F1660F"/>
                </a:solidFill>
                <a:latin typeface="Trebuchet MS"/>
                <a:cs typeface="Trebuchet MS"/>
              </a:rPr>
              <a:t>UAE,</a:t>
            </a:r>
            <a:r>
              <a:rPr dirty="0" sz="1700" spc="75" b="1">
                <a:solidFill>
                  <a:srgbClr val="F1660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052A20"/>
                </a:solidFill>
                <a:latin typeface="Trebuchet MS"/>
                <a:cs typeface="Trebuchet MS"/>
              </a:rPr>
              <a:t>catering</a:t>
            </a:r>
            <a:r>
              <a:rPr dirty="0" sz="1700" spc="75">
                <a:solidFill>
                  <a:srgbClr val="052A20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052A20"/>
                </a:solidFill>
                <a:latin typeface="Trebuchet MS"/>
                <a:cs typeface="Trebuchet MS"/>
              </a:rPr>
              <a:t>to</a:t>
            </a:r>
            <a:r>
              <a:rPr dirty="0" sz="1700" spc="80">
                <a:solidFill>
                  <a:srgbClr val="052A20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052A20"/>
                </a:solidFill>
                <a:latin typeface="Trebuchet MS"/>
                <a:cs typeface="Trebuchet MS"/>
              </a:rPr>
              <a:t>industries</a:t>
            </a:r>
            <a:r>
              <a:rPr dirty="0" sz="1700" spc="75">
                <a:solidFill>
                  <a:srgbClr val="052A20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052A20"/>
                </a:solidFill>
                <a:latin typeface="Trebuchet MS"/>
                <a:cs typeface="Trebuchet MS"/>
              </a:rPr>
              <a:t>like</a:t>
            </a:r>
            <a:r>
              <a:rPr dirty="0" sz="1700" spc="75">
                <a:solidFill>
                  <a:srgbClr val="052A20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052A20"/>
                </a:solidFill>
                <a:latin typeface="Trebuchet MS"/>
                <a:cs typeface="Trebuchet MS"/>
              </a:rPr>
              <a:t>real</a:t>
            </a:r>
            <a:r>
              <a:rPr dirty="0" sz="1700" spc="80">
                <a:solidFill>
                  <a:srgbClr val="052A20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052A20"/>
                </a:solidFill>
                <a:latin typeface="Trebuchet MS"/>
                <a:cs typeface="Trebuchet MS"/>
              </a:rPr>
              <a:t>estate,</a:t>
            </a:r>
            <a:r>
              <a:rPr dirty="0" sz="1700" spc="75">
                <a:solidFill>
                  <a:srgbClr val="052A20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052A20"/>
                </a:solidFill>
                <a:latin typeface="Trebuchet MS"/>
                <a:cs typeface="Trebuchet MS"/>
              </a:rPr>
              <a:t>technology,</a:t>
            </a:r>
            <a:r>
              <a:rPr dirty="0" sz="1700" spc="75">
                <a:solidFill>
                  <a:srgbClr val="052A20"/>
                </a:solidFill>
                <a:latin typeface="Trebuchet MS"/>
                <a:cs typeface="Trebuchet MS"/>
              </a:rPr>
              <a:t> </a:t>
            </a:r>
            <a:r>
              <a:rPr dirty="0" sz="1700" spc="-35">
                <a:solidFill>
                  <a:srgbClr val="052A20"/>
                </a:solidFill>
                <a:latin typeface="Trebuchet MS"/>
                <a:cs typeface="Trebuchet MS"/>
              </a:rPr>
              <a:t>retail,</a:t>
            </a:r>
            <a:r>
              <a:rPr dirty="0" sz="1700" spc="75">
                <a:solidFill>
                  <a:srgbClr val="052A20"/>
                </a:solidFill>
                <a:latin typeface="Trebuchet MS"/>
                <a:cs typeface="Trebuchet MS"/>
              </a:rPr>
              <a:t> and</a:t>
            </a:r>
            <a:r>
              <a:rPr dirty="0" sz="1700" spc="80">
                <a:solidFill>
                  <a:srgbClr val="052A20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052A20"/>
                </a:solidFill>
                <a:latin typeface="Trebuchet MS"/>
                <a:cs typeface="Trebuchet MS"/>
              </a:rPr>
              <a:t>more,</a:t>
            </a:r>
            <a:r>
              <a:rPr dirty="0" sz="1700" spc="75">
                <a:solidFill>
                  <a:srgbClr val="052A20"/>
                </a:solidFill>
                <a:latin typeface="Trebuchet MS"/>
                <a:cs typeface="Trebuchet MS"/>
              </a:rPr>
              <a:t> </a:t>
            </a:r>
            <a:r>
              <a:rPr dirty="0" sz="1700" spc="50">
                <a:solidFill>
                  <a:srgbClr val="052A20"/>
                </a:solidFill>
                <a:latin typeface="Trebuchet MS"/>
                <a:cs typeface="Trebuchet MS"/>
              </a:rPr>
              <a:t>ensuring </a:t>
            </a:r>
            <a:r>
              <a:rPr dirty="0" sz="1700">
                <a:solidFill>
                  <a:srgbClr val="052A20"/>
                </a:solidFill>
                <a:latin typeface="Trebuchet MS"/>
                <a:cs typeface="Trebuchet MS"/>
              </a:rPr>
              <a:t>compliance</a:t>
            </a:r>
            <a:r>
              <a:rPr dirty="0" sz="1700" spc="130">
                <a:solidFill>
                  <a:srgbClr val="052A20"/>
                </a:solidFill>
                <a:latin typeface="Trebuchet MS"/>
                <a:cs typeface="Trebuchet MS"/>
              </a:rPr>
              <a:t> </a:t>
            </a:r>
            <a:r>
              <a:rPr dirty="0" sz="1700" spc="75">
                <a:solidFill>
                  <a:srgbClr val="052A20"/>
                </a:solidFill>
                <a:latin typeface="Trebuchet MS"/>
                <a:cs typeface="Trebuchet MS"/>
              </a:rPr>
              <a:t>and</a:t>
            </a:r>
            <a:r>
              <a:rPr dirty="0" sz="1700" spc="135">
                <a:solidFill>
                  <a:srgbClr val="052A20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052A20"/>
                </a:solidFill>
                <a:latin typeface="Trebuchet MS"/>
                <a:cs typeface="Trebuchet MS"/>
              </a:rPr>
              <a:t>optimized</a:t>
            </a:r>
            <a:r>
              <a:rPr dirty="0" sz="1700" spc="135">
                <a:solidFill>
                  <a:srgbClr val="052A20"/>
                </a:solidFill>
                <a:latin typeface="Trebuchet MS"/>
                <a:cs typeface="Trebuchet MS"/>
              </a:rPr>
              <a:t> </a:t>
            </a:r>
            <a:r>
              <a:rPr dirty="0" sz="1700" spc="95">
                <a:solidFill>
                  <a:srgbClr val="052A20"/>
                </a:solidFill>
                <a:latin typeface="Trebuchet MS"/>
                <a:cs typeface="Trebuchet MS"/>
              </a:rPr>
              <a:t>business</a:t>
            </a:r>
            <a:r>
              <a:rPr dirty="0" sz="1700" spc="135">
                <a:solidFill>
                  <a:srgbClr val="052A20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052A20"/>
                </a:solidFill>
                <a:latin typeface="Trebuchet MS"/>
                <a:cs typeface="Trebuchet MS"/>
              </a:rPr>
              <a:t>operations.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700">
              <a:latin typeface="Trebuchet MS"/>
              <a:cs typeface="Trebuchet MS"/>
            </a:endParaRPr>
          </a:p>
          <a:p>
            <a:pPr marL="36830" marR="13907769">
              <a:lnSpc>
                <a:spcPts val="2030"/>
              </a:lnSpc>
            </a:pPr>
            <a:r>
              <a:rPr dirty="0" sz="2000" spc="-10" b="1">
                <a:solidFill>
                  <a:srgbClr val="092A3B"/>
                </a:solidFill>
                <a:latin typeface="Trebuchet MS"/>
                <a:cs typeface="Trebuchet MS"/>
              </a:rPr>
              <a:t>Supported </a:t>
            </a:r>
            <a:r>
              <a:rPr dirty="0" sz="2000" spc="60" b="1">
                <a:solidFill>
                  <a:srgbClr val="092A3B"/>
                </a:solidFill>
                <a:latin typeface="Trebuchet MS"/>
                <a:cs typeface="Trebuchet MS"/>
              </a:rPr>
              <a:t>By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033368" y="5574210"/>
            <a:ext cx="1772285" cy="0"/>
          </a:xfrm>
          <a:custGeom>
            <a:avLst/>
            <a:gdLst/>
            <a:ahLst/>
            <a:cxnLst/>
            <a:rect l="l" t="t" r="r" b="b"/>
            <a:pathLst>
              <a:path w="1772285" h="0">
                <a:moveTo>
                  <a:pt x="0" y="0"/>
                </a:moveTo>
                <a:lnTo>
                  <a:pt x="1772079" y="0"/>
                </a:lnTo>
              </a:path>
            </a:pathLst>
          </a:custGeom>
          <a:ln w="19049">
            <a:solidFill>
              <a:srgbClr val="FFA533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5" name="object 45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2673199" y="5131913"/>
            <a:ext cx="714374" cy="323849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5269985" y="5205785"/>
            <a:ext cx="627387" cy="200024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3476242" y="5131913"/>
            <a:ext cx="714374" cy="295274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0796867" y="5137551"/>
            <a:ext cx="1743074" cy="295274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0796867" y="5679693"/>
            <a:ext cx="714374" cy="219074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1598013" y="5655151"/>
            <a:ext cx="870496" cy="266699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2593858" y="5570749"/>
            <a:ext cx="752474" cy="295274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3473293" y="5679693"/>
            <a:ext cx="533399" cy="219074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5269985" y="5637861"/>
            <a:ext cx="666749" cy="295274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1973504" y="6161266"/>
            <a:ext cx="781574" cy="189864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3037996" y="6155464"/>
            <a:ext cx="771049" cy="237066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4128956" y="6180284"/>
            <a:ext cx="855104" cy="161924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5332073" y="6174686"/>
            <a:ext cx="552659" cy="155697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4332870" y="5165300"/>
            <a:ext cx="802070" cy="264318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0832838" y="6161404"/>
            <a:ext cx="877032" cy="231121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13165849" y="6622868"/>
            <a:ext cx="551346" cy="428624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14065017" y="6788487"/>
            <a:ext cx="764654" cy="152399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14226837" y="5651557"/>
            <a:ext cx="628649" cy="219074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12030985" y="6751576"/>
            <a:ext cx="866775" cy="228599"/>
          </a:xfrm>
          <a:prstGeom prst="rect">
            <a:avLst/>
          </a:prstGeom>
        </p:spPr>
      </p:pic>
      <p:sp>
        <p:nvSpPr>
          <p:cNvPr id="64" name="object 64"/>
          <p:cNvSpPr txBox="1"/>
          <p:nvPr/>
        </p:nvSpPr>
        <p:spPr>
          <a:xfrm>
            <a:off x="1016000" y="9647656"/>
            <a:ext cx="1519555" cy="208279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200" spc="-10">
                <a:solidFill>
                  <a:srgbClr val="092A3B"/>
                </a:solidFill>
                <a:latin typeface="Trebuchet MS"/>
                <a:cs typeface="Trebuchet MS"/>
                <a:hlinkClick r:id="rId38"/>
              </a:rPr>
              <a:t>www.finanshels.com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65" name="object 6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6000" y="6113704"/>
            <a:ext cx="11516995" cy="47053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00" spc="145">
                <a:solidFill>
                  <a:srgbClr val="052A20"/>
                </a:solidFill>
                <a:latin typeface="Trebuchet MS"/>
                <a:cs typeface="Trebuchet MS"/>
              </a:rPr>
              <a:t>Ready</a:t>
            </a:r>
            <a:r>
              <a:rPr dirty="0" sz="2900" spc="40">
                <a:solidFill>
                  <a:srgbClr val="052A20"/>
                </a:solidFill>
                <a:latin typeface="Trebuchet MS"/>
                <a:cs typeface="Trebuchet MS"/>
              </a:rPr>
              <a:t> </a:t>
            </a:r>
            <a:r>
              <a:rPr dirty="0" sz="2900">
                <a:solidFill>
                  <a:srgbClr val="052A20"/>
                </a:solidFill>
                <a:latin typeface="Trebuchet MS"/>
                <a:cs typeface="Trebuchet MS"/>
              </a:rPr>
              <a:t>to</a:t>
            </a:r>
            <a:r>
              <a:rPr dirty="0" sz="2900" spc="40">
                <a:solidFill>
                  <a:srgbClr val="052A20"/>
                </a:solidFill>
                <a:latin typeface="Trebuchet MS"/>
                <a:cs typeface="Trebuchet MS"/>
              </a:rPr>
              <a:t> </a:t>
            </a:r>
            <a:r>
              <a:rPr dirty="0" sz="2900" spc="165">
                <a:solidFill>
                  <a:srgbClr val="052A20"/>
                </a:solidFill>
                <a:latin typeface="Trebuchet MS"/>
                <a:cs typeface="Trebuchet MS"/>
              </a:rPr>
              <a:t>grow</a:t>
            </a:r>
            <a:r>
              <a:rPr dirty="0" sz="2900" spc="45">
                <a:solidFill>
                  <a:srgbClr val="052A20"/>
                </a:solidFill>
                <a:latin typeface="Trebuchet MS"/>
                <a:cs typeface="Trebuchet MS"/>
              </a:rPr>
              <a:t> </a:t>
            </a:r>
            <a:r>
              <a:rPr dirty="0" sz="2900">
                <a:solidFill>
                  <a:srgbClr val="052A20"/>
                </a:solidFill>
                <a:latin typeface="Trebuchet MS"/>
                <a:cs typeface="Trebuchet MS"/>
              </a:rPr>
              <a:t>together.</a:t>
            </a:r>
            <a:r>
              <a:rPr dirty="0" sz="2900" spc="40">
                <a:solidFill>
                  <a:srgbClr val="052A20"/>
                </a:solidFill>
                <a:latin typeface="Trebuchet MS"/>
                <a:cs typeface="Trebuchet MS"/>
              </a:rPr>
              <a:t> </a:t>
            </a:r>
            <a:r>
              <a:rPr dirty="0" sz="2900" spc="135">
                <a:solidFill>
                  <a:srgbClr val="052A20"/>
                </a:solidFill>
                <a:latin typeface="Trebuchet MS"/>
                <a:cs typeface="Trebuchet MS"/>
              </a:rPr>
              <a:t>Let's</a:t>
            </a:r>
            <a:r>
              <a:rPr dirty="0" sz="2900" spc="40">
                <a:solidFill>
                  <a:srgbClr val="052A20"/>
                </a:solidFill>
                <a:latin typeface="Trebuchet MS"/>
                <a:cs typeface="Trebuchet MS"/>
              </a:rPr>
              <a:t> </a:t>
            </a:r>
            <a:r>
              <a:rPr dirty="0" sz="2900" spc="110">
                <a:solidFill>
                  <a:srgbClr val="052A20"/>
                </a:solidFill>
                <a:latin typeface="Trebuchet MS"/>
                <a:cs typeface="Trebuchet MS"/>
              </a:rPr>
              <a:t>begin</a:t>
            </a:r>
            <a:r>
              <a:rPr dirty="0" sz="2900" spc="45">
                <a:solidFill>
                  <a:srgbClr val="052A20"/>
                </a:solidFill>
                <a:latin typeface="Trebuchet MS"/>
                <a:cs typeface="Trebuchet MS"/>
              </a:rPr>
              <a:t> </a:t>
            </a:r>
            <a:r>
              <a:rPr dirty="0" sz="2900" spc="110">
                <a:solidFill>
                  <a:srgbClr val="052A20"/>
                </a:solidFill>
                <a:latin typeface="Trebuchet MS"/>
                <a:cs typeface="Trebuchet MS"/>
              </a:rPr>
              <a:t>your</a:t>
            </a:r>
            <a:r>
              <a:rPr dirty="0" sz="2900" spc="40">
                <a:solidFill>
                  <a:srgbClr val="052A20"/>
                </a:solidFill>
                <a:latin typeface="Trebuchet MS"/>
                <a:cs typeface="Trebuchet MS"/>
              </a:rPr>
              <a:t> </a:t>
            </a:r>
            <a:r>
              <a:rPr dirty="0" sz="2900">
                <a:solidFill>
                  <a:srgbClr val="052A20"/>
                </a:solidFill>
                <a:latin typeface="Trebuchet MS"/>
                <a:cs typeface="Trebuchet MS"/>
              </a:rPr>
              <a:t>journey</a:t>
            </a:r>
            <a:r>
              <a:rPr dirty="0" sz="2900" spc="40">
                <a:solidFill>
                  <a:srgbClr val="052A20"/>
                </a:solidFill>
                <a:latin typeface="Trebuchet MS"/>
                <a:cs typeface="Trebuchet MS"/>
              </a:rPr>
              <a:t> </a:t>
            </a:r>
            <a:r>
              <a:rPr dirty="0" sz="2900">
                <a:solidFill>
                  <a:srgbClr val="052A20"/>
                </a:solidFill>
                <a:latin typeface="Trebuchet MS"/>
                <a:cs typeface="Trebuchet MS"/>
              </a:rPr>
              <a:t>with</a:t>
            </a:r>
            <a:r>
              <a:rPr dirty="0" sz="2900" spc="45">
                <a:solidFill>
                  <a:srgbClr val="052A20"/>
                </a:solidFill>
                <a:latin typeface="Trebuchet MS"/>
                <a:cs typeface="Trebuchet MS"/>
              </a:rPr>
              <a:t> </a:t>
            </a:r>
            <a:r>
              <a:rPr dirty="0" sz="2900" spc="60">
                <a:solidFill>
                  <a:srgbClr val="052A20"/>
                </a:solidFill>
                <a:latin typeface="Trebuchet MS"/>
                <a:cs typeface="Trebuchet MS"/>
              </a:rPr>
              <a:t>Finanshels.</a:t>
            </a:r>
            <a:endParaRPr sz="290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700" spc="110">
                <a:solidFill>
                  <a:srgbClr val="F1660F"/>
                </a:solidFill>
              </a:rPr>
              <a:t>Thank</a:t>
            </a:r>
            <a:r>
              <a:rPr dirty="0" sz="7700" spc="-985">
                <a:solidFill>
                  <a:srgbClr val="F1660F"/>
                </a:solidFill>
              </a:rPr>
              <a:t> </a:t>
            </a:r>
            <a:r>
              <a:rPr dirty="0" sz="7700" spc="-20">
                <a:solidFill>
                  <a:srgbClr val="F1660F"/>
                </a:solidFill>
              </a:rPr>
              <a:t>you!</a:t>
            </a:r>
            <a:endParaRPr sz="7700"/>
          </a:p>
        </p:txBody>
      </p:sp>
      <p:sp>
        <p:nvSpPr>
          <p:cNvPr id="4" name="object 4"/>
          <p:cNvSpPr/>
          <p:nvPr/>
        </p:nvSpPr>
        <p:spPr>
          <a:xfrm>
            <a:off x="1028700" y="700602"/>
            <a:ext cx="179705" cy="1083310"/>
          </a:xfrm>
          <a:custGeom>
            <a:avLst/>
            <a:gdLst/>
            <a:ahLst/>
            <a:cxnLst/>
            <a:rect l="l" t="t" r="r" b="b"/>
            <a:pathLst>
              <a:path w="179705" h="1083310">
                <a:moveTo>
                  <a:pt x="179550" y="1082912"/>
                </a:moveTo>
                <a:lnTo>
                  <a:pt x="0" y="1082912"/>
                </a:lnTo>
                <a:lnTo>
                  <a:pt x="0" y="0"/>
                </a:lnTo>
                <a:lnTo>
                  <a:pt x="179550" y="0"/>
                </a:lnTo>
                <a:lnTo>
                  <a:pt x="179550" y="1082912"/>
                </a:lnTo>
                <a:close/>
              </a:path>
            </a:pathLst>
          </a:custGeom>
          <a:solidFill>
            <a:srgbClr val="F1660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0357" y="840012"/>
            <a:ext cx="2647949" cy="3524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80563" y="1281625"/>
            <a:ext cx="1428749" cy="22859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397657" y="1556984"/>
            <a:ext cx="1710055" cy="2209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 spc="-30" b="1">
                <a:latin typeface="Trebuchet MS"/>
                <a:cs typeface="Trebuchet MS"/>
              </a:rPr>
              <a:t>Trusted</a:t>
            </a:r>
            <a:r>
              <a:rPr dirty="0" sz="1250" spc="-229" b="1">
                <a:latin typeface="Trebuchet MS"/>
                <a:cs typeface="Trebuchet MS"/>
              </a:rPr>
              <a:t> </a:t>
            </a:r>
            <a:r>
              <a:rPr dirty="0" sz="1250" b="1">
                <a:latin typeface="Trebuchet MS"/>
                <a:cs typeface="Trebuchet MS"/>
              </a:rPr>
              <a:t>By</a:t>
            </a:r>
            <a:r>
              <a:rPr dirty="0" sz="1250" spc="-229" b="1">
                <a:latin typeface="Trebuchet MS"/>
                <a:cs typeface="Trebuchet MS"/>
              </a:rPr>
              <a:t> </a:t>
            </a:r>
            <a:r>
              <a:rPr dirty="0" sz="1250" spc="55" b="1">
                <a:latin typeface="Trebuchet MS"/>
                <a:cs typeface="Trebuchet MS"/>
              </a:rPr>
              <a:t>7000+SMEs</a:t>
            </a:r>
            <a:endParaRPr sz="125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0951829" y="0"/>
            <a:ext cx="7336790" cy="3729990"/>
            <a:chOff x="10951829" y="0"/>
            <a:chExt cx="7336790" cy="3729990"/>
          </a:xfrm>
        </p:grpSpPr>
        <p:sp>
          <p:nvSpPr>
            <p:cNvPr id="9" name="object 9"/>
            <p:cNvSpPr/>
            <p:nvPr/>
          </p:nvSpPr>
          <p:spPr>
            <a:xfrm>
              <a:off x="10951829" y="1651878"/>
              <a:ext cx="4156075" cy="2078355"/>
            </a:xfrm>
            <a:custGeom>
              <a:avLst/>
              <a:gdLst/>
              <a:ahLst/>
              <a:cxnLst/>
              <a:rect l="l" t="t" r="r" b="b"/>
              <a:pathLst>
                <a:path w="4156075" h="2078354">
                  <a:moveTo>
                    <a:pt x="2078805" y="2077773"/>
                  </a:moveTo>
                  <a:lnTo>
                    <a:pt x="0" y="2077773"/>
                  </a:lnTo>
                  <a:lnTo>
                    <a:pt x="2078805" y="0"/>
                  </a:lnTo>
                  <a:lnTo>
                    <a:pt x="4156063" y="0"/>
                  </a:lnTo>
                  <a:lnTo>
                    <a:pt x="2078805" y="2077773"/>
                  </a:lnTo>
                  <a:close/>
                </a:path>
              </a:pathLst>
            </a:custGeom>
            <a:solidFill>
              <a:srgbClr val="092A3B">
                <a:alpha val="7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0952117" y="0"/>
              <a:ext cx="3730625" cy="1652270"/>
            </a:xfrm>
            <a:custGeom>
              <a:avLst/>
              <a:gdLst/>
              <a:ahLst/>
              <a:cxnLst/>
              <a:rect l="l" t="t" r="r" b="b"/>
              <a:pathLst>
                <a:path w="3730625" h="1652270">
                  <a:moveTo>
                    <a:pt x="2078584" y="1651907"/>
                  </a:moveTo>
                  <a:lnTo>
                    <a:pt x="0" y="1651907"/>
                  </a:lnTo>
                  <a:lnTo>
                    <a:pt x="1651850" y="0"/>
                  </a:lnTo>
                  <a:lnTo>
                    <a:pt x="3730282" y="0"/>
                  </a:lnTo>
                  <a:lnTo>
                    <a:pt x="2078584" y="1651907"/>
                  </a:lnTo>
                  <a:close/>
                </a:path>
              </a:pathLst>
            </a:custGeom>
            <a:solidFill>
              <a:srgbClr val="ECF0F2">
                <a:alpha val="7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5107783" y="1651877"/>
              <a:ext cx="3180715" cy="2078355"/>
            </a:xfrm>
            <a:custGeom>
              <a:avLst/>
              <a:gdLst/>
              <a:ahLst/>
              <a:cxnLst/>
              <a:rect l="l" t="t" r="r" b="b"/>
              <a:pathLst>
                <a:path w="3180715" h="2078354">
                  <a:moveTo>
                    <a:pt x="2078802" y="2077773"/>
                  </a:moveTo>
                  <a:lnTo>
                    <a:pt x="0" y="2077773"/>
                  </a:lnTo>
                  <a:lnTo>
                    <a:pt x="2077773" y="0"/>
                  </a:lnTo>
                  <a:lnTo>
                    <a:pt x="3180217" y="0"/>
                  </a:lnTo>
                  <a:lnTo>
                    <a:pt x="3180217" y="976354"/>
                  </a:lnTo>
                  <a:lnTo>
                    <a:pt x="2078802" y="2077773"/>
                  </a:lnTo>
                  <a:close/>
                </a:path>
              </a:pathLst>
            </a:custGeom>
            <a:solidFill>
              <a:srgbClr val="092A3B">
                <a:alpha val="7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5107784" y="0"/>
              <a:ext cx="3180715" cy="1652270"/>
            </a:xfrm>
            <a:custGeom>
              <a:avLst/>
              <a:gdLst/>
              <a:ahLst/>
              <a:cxnLst/>
              <a:rect l="l" t="t" r="r" b="b"/>
              <a:pathLst>
                <a:path w="3180715" h="1652270">
                  <a:moveTo>
                    <a:pt x="2078582" y="1651907"/>
                  </a:moveTo>
                  <a:lnTo>
                    <a:pt x="0" y="1651907"/>
                  </a:lnTo>
                  <a:lnTo>
                    <a:pt x="1651848" y="0"/>
                  </a:lnTo>
                  <a:lnTo>
                    <a:pt x="3180217" y="0"/>
                  </a:lnTo>
                  <a:lnTo>
                    <a:pt x="3180217" y="549884"/>
                  </a:lnTo>
                  <a:lnTo>
                    <a:pt x="2078582" y="1651172"/>
                  </a:lnTo>
                  <a:lnTo>
                    <a:pt x="2078582" y="1651907"/>
                  </a:lnTo>
                  <a:close/>
                </a:path>
              </a:pathLst>
            </a:custGeom>
            <a:solidFill>
              <a:srgbClr val="FF741F">
                <a:alpha val="7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/>
          <p:nvPr/>
        </p:nvSpPr>
        <p:spPr>
          <a:xfrm>
            <a:off x="4676395" y="8999087"/>
            <a:ext cx="3366135" cy="1288415"/>
          </a:xfrm>
          <a:custGeom>
            <a:avLst/>
            <a:gdLst/>
            <a:ahLst/>
            <a:cxnLst/>
            <a:rect l="l" t="t" r="r" b="b"/>
            <a:pathLst>
              <a:path w="3366134" h="1288415">
                <a:moveTo>
                  <a:pt x="2078068" y="1287912"/>
                </a:moveTo>
                <a:lnTo>
                  <a:pt x="0" y="1287912"/>
                </a:lnTo>
                <a:lnTo>
                  <a:pt x="1287397" y="514"/>
                </a:lnTo>
                <a:lnTo>
                  <a:pt x="3365980" y="0"/>
                </a:lnTo>
                <a:lnTo>
                  <a:pt x="2078068" y="1287912"/>
                </a:lnTo>
                <a:close/>
              </a:path>
            </a:pathLst>
          </a:custGeom>
          <a:solidFill>
            <a:srgbClr val="FF741F">
              <a:alpha val="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832060" y="8999087"/>
            <a:ext cx="3366135" cy="1288415"/>
          </a:xfrm>
          <a:custGeom>
            <a:avLst/>
            <a:gdLst/>
            <a:ahLst/>
            <a:cxnLst/>
            <a:rect l="l" t="t" r="r" b="b"/>
            <a:pathLst>
              <a:path w="3366134" h="1288415">
                <a:moveTo>
                  <a:pt x="2078070" y="1287912"/>
                </a:moveTo>
                <a:lnTo>
                  <a:pt x="0" y="1287912"/>
                </a:lnTo>
                <a:lnTo>
                  <a:pt x="1287396" y="514"/>
                </a:lnTo>
                <a:lnTo>
                  <a:pt x="3365986" y="0"/>
                </a:lnTo>
                <a:lnTo>
                  <a:pt x="2078070" y="1287912"/>
                </a:lnTo>
                <a:close/>
              </a:path>
            </a:pathLst>
          </a:custGeom>
          <a:solidFill>
            <a:srgbClr val="ECF0F2">
              <a:alpha val="7998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84659" y="9722024"/>
            <a:ext cx="225674" cy="225673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016000" y="9647656"/>
            <a:ext cx="1519555" cy="208279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200" spc="-10">
                <a:solidFill>
                  <a:srgbClr val="092A3B"/>
                </a:solidFill>
                <a:latin typeface="Trebuchet MS"/>
                <a:cs typeface="Trebuchet MS"/>
                <a:hlinkClick r:id="rId5"/>
              </a:rPr>
              <a:t>www.finanshels.com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92A3B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Finanshels.com</dc:creator>
  <cp:keywords>DAHNZIMMV48,BAGjq_sNnbA,0</cp:keywords>
  <dc:title>WELCOME TO FINANSHELS</dc:title>
  <dcterms:created xsi:type="dcterms:W3CDTF">2026-06-23T18:17:34Z</dcterms:created>
  <dcterms:modified xsi:type="dcterms:W3CDTF">2026-06-23T18:17:34Z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2026-06-23T00:00:00Z</vt:filetime>
  </property>
  <property fmtid="{D5CDD505-2E9C-101B-9397-08002B2CF9AE}" pid="4" name="Creator">
    <vt:lpwstr>Canva</vt:lpwstr>
  </property>
  <property fmtid="{D5CDD505-2E9C-101B-9397-08002B2CF9AE}" pid="5" name="LastSaved">
    <vt:filetime>2026-06-23T00:00:00Z</vt:filetime>
  </property>
  <property fmtid="{D5CDD505-2E9C-101B-9397-08002B2CF9AE}" pid="6" name="Producer">
    <vt:lpwstr>Canva</vt:lpwstr>
  </property>
</Properties>
</file>